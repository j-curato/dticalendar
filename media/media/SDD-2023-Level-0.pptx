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3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Lst>
  <p:sldSz cx="18288000" cy="10287000"/>
  <p:notesSz cx="6858000" cy="9144000"/>
  <p:embeddedFontLst>
    <p:embeddedFont>
      <p:font typeface="Montserrat" panose="020B0604020202020204" charset="0"/>
      <p:bold r:id="rId33"/>
      <p:boldItalic r:id="rId34"/>
    </p:embeddedFont>
    <p:embeddedFont>
      <p:font typeface="Poppins" panose="020B0604020202020204" charset="0"/>
      <p:bold r:id="rId35"/>
      <p:boldItalic r:id="rId36"/>
    </p:embeddedFont>
    <p:embeddedFont>
      <p:font typeface="Calibri" panose="020F0502020204030204" pitchFamily="34" charset="0"/>
      <p:regular r:id="rId37"/>
      <p:bold r:id="rId38"/>
      <p:italic r:id="rId39"/>
      <p:boldItalic r:id="rId40"/>
    </p:embeddedFont>
    <p:embeddedFont>
      <p:font typeface="Century Gothic" panose="020B0502020202020204" pitchFamily="34" charset="0"/>
      <p:regular r:id="rId41"/>
      <p:bold r:id="rId42"/>
      <p:italic r:id="rId43"/>
      <p:boldItalic r:id="rId4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45" roundtripDataSignature="AMtx7mjCr4tbxkCIKb4tKCjMUrtgyxT3+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1" d="100"/>
          <a:sy n="61" d="100"/>
        </p:scale>
        <p:origin x="102" y="246"/>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7.fntdata"/><Relationship Id="rId21" Type="http://schemas.openxmlformats.org/officeDocument/2006/relationships/slide" Target="slides/slide20.xml"/><Relationship Id="rId34" Type="http://schemas.openxmlformats.org/officeDocument/2006/relationships/font" Target="fonts/font2.fntdata"/><Relationship Id="rId42" Type="http://schemas.openxmlformats.org/officeDocument/2006/relationships/font" Target="fonts/font10.fntdata"/><Relationship Id="rId47"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37" Type="http://schemas.openxmlformats.org/officeDocument/2006/relationships/font" Target="fonts/font5.fntdata"/><Relationship Id="rId40" Type="http://schemas.openxmlformats.org/officeDocument/2006/relationships/font" Target="fonts/font8.fntdata"/><Relationship Id="rId45" Type="http://customschemas.google.com/relationships/presentationmetadata" Target="meta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4.fntdata"/><Relationship Id="rId49"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font" Target="fonts/font12.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font" Target="fonts/font3.fntdata"/><Relationship Id="rId43" Type="http://schemas.openxmlformats.org/officeDocument/2006/relationships/font" Target="fonts/font11.fntdata"/><Relationship Id="rId48"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1.fntdata"/><Relationship Id="rId38" Type="http://schemas.openxmlformats.org/officeDocument/2006/relationships/font" Target="fonts/font6.fntdata"/><Relationship Id="rId46"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font" Target="fonts/font9.fntdata"/><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3962400" cy="3429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5180013" y="0"/>
            <a:ext cx="3962400" cy="342900"/>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2857500" y="512763"/>
            <a:ext cx="3429000" cy="25669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914400" y="3251200"/>
            <a:ext cx="7315200" cy="3081338"/>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6502400"/>
            <a:ext cx="3962400" cy="341313"/>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5180013" y="6502400"/>
            <a:ext cx="3962400" cy="341313"/>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GB"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694725136"/>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1:notes"/>
          <p:cNvSpPr txBox="1">
            <a:spLocks noGrp="1"/>
          </p:cNvSpPr>
          <p:nvPr>
            <p:ph type="body" idx="1"/>
          </p:nvPr>
        </p:nvSpPr>
        <p:spPr>
          <a:xfrm>
            <a:off x="914400" y="3251200"/>
            <a:ext cx="7315200" cy="3081338"/>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6" name="Google Shape;86;p1:notes"/>
          <p:cNvSpPr>
            <a:spLocks noGrp="1" noRot="1" noChangeAspect="1"/>
          </p:cNvSpPr>
          <p:nvPr>
            <p:ph type="sldImg" idx="2"/>
          </p:nvPr>
        </p:nvSpPr>
        <p:spPr>
          <a:xfrm>
            <a:off x="2290763" y="512763"/>
            <a:ext cx="4562475" cy="2566987"/>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3062125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p2:notes"/>
          <p:cNvSpPr txBox="1">
            <a:spLocks noGrp="1"/>
          </p:cNvSpPr>
          <p:nvPr>
            <p:ph type="body" idx="1"/>
          </p:nvPr>
        </p:nvSpPr>
        <p:spPr>
          <a:xfrm>
            <a:off x="914400" y="3251200"/>
            <a:ext cx="7315200" cy="3081338"/>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9" name="Google Shape;99;p2:notes"/>
          <p:cNvSpPr>
            <a:spLocks noGrp="1" noRot="1" noChangeAspect="1"/>
          </p:cNvSpPr>
          <p:nvPr>
            <p:ph type="sldImg" idx="2"/>
          </p:nvPr>
        </p:nvSpPr>
        <p:spPr>
          <a:xfrm>
            <a:off x="2290763" y="512763"/>
            <a:ext cx="4562475" cy="2566987"/>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12988145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
        <p:cNvGrpSpPr/>
        <p:nvPr/>
      </p:nvGrpSpPr>
      <p:grpSpPr>
        <a:xfrm>
          <a:off x="0" y="0"/>
          <a:ext cx="0" cy="0"/>
          <a:chOff x="0" y="0"/>
          <a:chExt cx="0" cy="0"/>
        </a:xfrm>
      </p:grpSpPr>
      <p:sp>
        <p:nvSpPr>
          <p:cNvPr id="137" name="Google Shape;137;p3:notes"/>
          <p:cNvSpPr txBox="1">
            <a:spLocks noGrp="1"/>
          </p:cNvSpPr>
          <p:nvPr>
            <p:ph type="hdr" idx="2"/>
          </p:nvPr>
        </p:nvSpPr>
        <p:spPr>
          <a:xfrm>
            <a:off x="0" y="0"/>
            <a:ext cx="3962400" cy="3429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sz="1200" b="0" i="0" u="none" strike="noStrike" cap="none">
              <a:solidFill>
                <a:schemeClr val="dk1"/>
              </a:solidFill>
              <a:latin typeface="Calibri"/>
              <a:ea typeface="Calibri"/>
              <a:cs typeface="Calibri"/>
              <a:sym typeface="Calibri"/>
            </a:endParaRPr>
          </a:p>
        </p:txBody>
      </p:sp>
      <p:sp>
        <p:nvSpPr>
          <p:cNvPr id="138" name="Google Shape;138;p3:notes"/>
          <p:cNvSpPr txBox="1">
            <a:spLocks noGrp="1"/>
          </p:cNvSpPr>
          <p:nvPr>
            <p:ph type="dt" idx="10"/>
          </p:nvPr>
        </p:nvSpPr>
        <p:spPr>
          <a:xfrm>
            <a:off x="5180013" y="0"/>
            <a:ext cx="3962400" cy="34290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r>
              <a:rPr lang="en-GB" sz="1200" b="0" i="0" u="none" strike="noStrike" cap="none">
                <a:solidFill>
                  <a:schemeClr val="dk1"/>
                </a:solidFill>
                <a:latin typeface="Calibri"/>
                <a:ea typeface="Calibri"/>
                <a:cs typeface="Calibri"/>
                <a:sym typeface="Calibri"/>
              </a:rPr>
              <a:t>1.7.2013</a:t>
            </a:r>
            <a:endParaRPr/>
          </a:p>
        </p:txBody>
      </p:sp>
      <p:sp>
        <p:nvSpPr>
          <p:cNvPr id="139" name="Google Shape;139;p3:notes"/>
          <p:cNvSpPr>
            <a:spLocks noGrp="1" noRot="1" noChangeAspect="1"/>
          </p:cNvSpPr>
          <p:nvPr>
            <p:ph type="sldImg" idx="3"/>
          </p:nvPr>
        </p:nvSpPr>
        <p:spPr>
          <a:xfrm>
            <a:off x="2290763" y="512763"/>
            <a:ext cx="4562475" cy="25669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0" name="Google Shape;140;p3:notes"/>
          <p:cNvSpPr txBox="1">
            <a:spLocks noGrp="1"/>
          </p:cNvSpPr>
          <p:nvPr>
            <p:ph type="body" idx="1"/>
          </p:nvPr>
        </p:nvSpPr>
        <p:spPr>
          <a:xfrm>
            <a:off x="914400" y="3251200"/>
            <a:ext cx="7315200" cy="3081338"/>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GB"/>
              <a:t>Show video</a:t>
            </a:r>
            <a:endParaRPr/>
          </a:p>
        </p:txBody>
      </p:sp>
      <p:sp>
        <p:nvSpPr>
          <p:cNvPr id="141" name="Google Shape;141;p3:notes"/>
          <p:cNvSpPr txBox="1">
            <a:spLocks noGrp="1"/>
          </p:cNvSpPr>
          <p:nvPr>
            <p:ph type="ftr" idx="11"/>
          </p:nvPr>
        </p:nvSpPr>
        <p:spPr>
          <a:xfrm>
            <a:off x="0" y="6502400"/>
            <a:ext cx="3962400" cy="341313"/>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None/>
            </a:pPr>
            <a:endParaRPr sz="1200" b="0" i="0" u="none" strike="noStrike" cap="none">
              <a:solidFill>
                <a:schemeClr val="dk1"/>
              </a:solidFill>
              <a:latin typeface="Calibri"/>
              <a:ea typeface="Calibri"/>
              <a:cs typeface="Calibri"/>
              <a:sym typeface="Calibri"/>
            </a:endParaRPr>
          </a:p>
        </p:txBody>
      </p:sp>
      <p:sp>
        <p:nvSpPr>
          <p:cNvPr id="142" name="Google Shape;142;p3:notes"/>
          <p:cNvSpPr txBox="1">
            <a:spLocks noGrp="1"/>
          </p:cNvSpPr>
          <p:nvPr>
            <p:ph type="sldNum" idx="12"/>
          </p:nvPr>
        </p:nvSpPr>
        <p:spPr>
          <a:xfrm>
            <a:off x="5180013" y="6502400"/>
            <a:ext cx="3962400" cy="341313"/>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r>
              <a:rPr lang="en-GB" sz="1200" b="0" i="0" u="none" strike="noStrike" cap="none">
                <a:solidFill>
                  <a:schemeClr val="dk1"/>
                </a:solidFill>
                <a:latin typeface="Calibri"/>
                <a:ea typeface="Calibri"/>
                <a:cs typeface="Calibri"/>
                <a:sym typeface="Calibri"/>
              </a:rPr>
              <a:t>‹#›</a:t>
            </a:r>
            <a:endParaRPr/>
          </a:p>
        </p:txBody>
      </p:sp>
    </p:spTree>
    <p:extLst>
      <p:ext uri="{BB962C8B-B14F-4D97-AF65-F5344CB8AC3E}">
        <p14:creationId xmlns:p14="http://schemas.microsoft.com/office/powerpoint/2010/main" val="175093525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1"/>
        <p:cNvGrpSpPr/>
        <p:nvPr/>
      </p:nvGrpSpPr>
      <p:grpSpPr>
        <a:xfrm>
          <a:off x="0" y="0"/>
          <a:ext cx="0" cy="0"/>
          <a:chOff x="0" y="0"/>
          <a:chExt cx="0" cy="0"/>
        </a:xfrm>
      </p:grpSpPr>
      <p:sp>
        <p:nvSpPr>
          <p:cNvPr id="152" name="Google Shape;152;p4:notes"/>
          <p:cNvSpPr txBox="1">
            <a:spLocks noGrp="1"/>
          </p:cNvSpPr>
          <p:nvPr>
            <p:ph type="hdr" idx="2"/>
          </p:nvPr>
        </p:nvSpPr>
        <p:spPr>
          <a:xfrm>
            <a:off x="0" y="0"/>
            <a:ext cx="3962400" cy="3429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sz="1200" b="0" i="0" u="none" strike="noStrike" cap="none">
              <a:solidFill>
                <a:schemeClr val="dk1"/>
              </a:solidFill>
              <a:latin typeface="Calibri"/>
              <a:ea typeface="Calibri"/>
              <a:cs typeface="Calibri"/>
              <a:sym typeface="Calibri"/>
            </a:endParaRPr>
          </a:p>
        </p:txBody>
      </p:sp>
      <p:sp>
        <p:nvSpPr>
          <p:cNvPr id="153" name="Google Shape;153;p4:notes"/>
          <p:cNvSpPr txBox="1">
            <a:spLocks noGrp="1"/>
          </p:cNvSpPr>
          <p:nvPr>
            <p:ph type="dt" idx="10"/>
          </p:nvPr>
        </p:nvSpPr>
        <p:spPr>
          <a:xfrm>
            <a:off x="5180013" y="0"/>
            <a:ext cx="3962400" cy="34290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r>
              <a:rPr lang="en-GB" sz="1200" b="0" i="0" u="none" strike="noStrike" cap="none">
                <a:solidFill>
                  <a:schemeClr val="dk1"/>
                </a:solidFill>
                <a:latin typeface="Calibri"/>
                <a:ea typeface="Calibri"/>
                <a:cs typeface="Calibri"/>
                <a:sym typeface="Calibri"/>
              </a:rPr>
              <a:t>1.7.2013</a:t>
            </a:r>
            <a:endParaRPr/>
          </a:p>
        </p:txBody>
      </p:sp>
      <p:sp>
        <p:nvSpPr>
          <p:cNvPr id="154" name="Google Shape;154;p4:notes"/>
          <p:cNvSpPr>
            <a:spLocks noGrp="1" noRot="1" noChangeAspect="1"/>
          </p:cNvSpPr>
          <p:nvPr>
            <p:ph type="sldImg" idx="3"/>
          </p:nvPr>
        </p:nvSpPr>
        <p:spPr>
          <a:xfrm>
            <a:off x="2290763" y="512763"/>
            <a:ext cx="4562475" cy="25669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5" name="Google Shape;155;p4:notes"/>
          <p:cNvSpPr txBox="1">
            <a:spLocks noGrp="1"/>
          </p:cNvSpPr>
          <p:nvPr>
            <p:ph type="body" idx="1"/>
          </p:nvPr>
        </p:nvSpPr>
        <p:spPr>
          <a:xfrm>
            <a:off x="914400" y="3251200"/>
            <a:ext cx="7315200" cy="3081338"/>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GB"/>
              <a:t>Show video</a:t>
            </a:r>
            <a:endParaRPr/>
          </a:p>
        </p:txBody>
      </p:sp>
      <p:sp>
        <p:nvSpPr>
          <p:cNvPr id="156" name="Google Shape;156;p4:notes"/>
          <p:cNvSpPr txBox="1">
            <a:spLocks noGrp="1"/>
          </p:cNvSpPr>
          <p:nvPr>
            <p:ph type="ftr" idx="11"/>
          </p:nvPr>
        </p:nvSpPr>
        <p:spPr>
          <a:xfrm>
            <a:off x="0" y="6502400"/>
            <a:ext cx="3962400" cy="341313"/>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None/>
            </a:pPr>
            <a:endParaRPr sz="1200" b="0" i="0" u="none" strike="noStrike" cap="none">
              <a:solidFill>
                <a:schemeClr val="dk1"/>
              </a:solidFill>
              <a:latin typeface="Calibri"/>
              <a:ea typeface="Calibri"/>
              <a:cs typeface="Calibri"/>
              <a:sym typeface="Calibri"/>
            </a:endParaRPr>
          </a:p>
        </p:txBody>
      </p:sp>
      <p:sp>
        <p:nvSpPr>
          <p:cNvPr id="157" name="Google Shape;157;p4:notes"/>
          <p:cNvSpPr txBox="1">
            <a:spLocks noGrp="1"/>
          </p:cNvSpPr>
          <p:nvPr>
            <p:ph type="sldNum" idx="12"/>
          </p:nvPr>
        </p:nvSpPr>
        <p:spPr>
          <a:xfrm>
            <a:off x="5180013" y="6502400"/>
            <a:ext cx="3962400" cy="341313"/>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r>
              <a:rPr lang="en-GB" sz="1200" b="0" i="0" u="none" strike="noStrike" cap="none">
                <a:solidFill>
                  <a:schemeClr val="dk1"/>
                </a:solidFill>
                <a:latin typeface="Calibri"/>
                <a:ea typeface="Calibri"/>
                <a:cs typeface="Calibri"/>
                <a:sym typeface="Calibri"/>
              </a:rPr>
              <a:t>‹#›</a:t>
            </a:r>
            <a:endParaRPr/>
          </a:p>
        </p:txBody>
      </p:sp>
    </p:spTree>
    <p:extLst>
      <p:ext uri="{BB962C8B-B14F-4D97-AF65-F5344CB8AC3E}">
        <p14:creationId xmlns:p14="http://schemas.microsoft.com/office/powerpoint/2010/main" val="422502873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7"/>
        <p:cNvGrpSpPr/>
        <p:nvPr/>
      </p:nvGrpSpPr>
      <p:grpSpPr>
        <a:xfrm>
          <a:off x="0" y="0"/>
          <a:ext cx="0" cy="0"/>
          <a:chOff x="0" y="0"/>
          <a:chExt cx="0" cy="0"/>
        </a:xfrm>
      </p:grpSpPr>
      <p:sp>
        <p:nvSpPr>
          <p:cNvPr id="178" name="Google Shape;178;p5:notes"/>
          <p:cNvSpPr txBox="1">
            <a:spLocks noGrp="1"/>
          </p:cNvSpPr>
          <p:nvPr>
            <p:ph type="hdr" idx="2"/>
          </p:nvPr>
        </p:nvSpPr>
        <p:spPr>
          <a:xfrm>
            <a:off x="0" y="0"/>
            <a:ext cx="3962400" cy="3429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179" name="Google Shape;179;p5:notes"/>
          <p:cNvSpPr txBox="1">
            <a:spLocks noGrp="1"/>
          </p:cNvSpPr>
          <p:nvPr>
            <p:ph type="dt" idx="10"/>
          </p:nvPr>
        </p:nvSpPr>
        <p:spPr>
          <a:xfrm>
            <a:off x="5180013" y="0"/>
            <a:ext cx="3962400" cy="34290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r>
              <a:rPr lang="en-GB" sz="1200">
                <a:solidFill>
                  <a:schemeClr val="dk1"/>
                </a:solidFill>
                <a:latin typeface="Calibri"/>
                <a:ea typeface="Calibri"/>
                <a:cs typeface="Calibri"/>
                <a:sym typeface="Calibri"/>
              </a:rPr>
              <a:t>1.7.2013</a:t>
            </a:r>
            <a:endParaRPr/>
          </a:p>
        </p:txBody>
      </p:sp>
      <p:sp>
        <p:nvSpPr>
          <p:cNvPr id="180" name="Google Shape;180;p5:notes"/>
          <p:cNvSpPr>
            <a:spLocks noGrp="1" noRot="1" noChangeAspect="1"/>
          </p:cNvSpPr>
          <p:nvPr>
            <p:ph type="sldImg" idx="3"/>
          </p:nvPr>
        </p:nvSpPr>
        <p:spPr>
          <a:xfrm>
            <a:off x="2290763" y="512763"/>
            <a:ext cx="4562475" cy="25669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1" name="Google Shape;181;p5:notes"/>
          <p:cNvSpPr txBox="1">
            <a:spLocks noGrp="1"/>
          </p:cNvSpPr>
          <p:nvPr>
            <p:ph type="body" idx="1"/>
          </p:nvPr>
        </p:nvSpPr>
        <p:spPr>
          <a:xfrm>
            <a:off x="914400" y="3251200"/>
            <a:ext cx="7315200" cy="3081338"/>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GB"/>
              <a:t>Show video</a:t>
            </a:r>
            <a:endParaRPr/>
          </a:p>
        </p:txBody>
      </p:sp>
      <p:sp>
        <p:nvSpPr>
          <p:cNvPr id="182" name="Google Shape;182;p5:notes"/>
          <p:cNvSpPr txBox="1">
            <a:spLocks noGrp="1"/>
          </p:cNvSpPr>
          <p:nvPr>
            <p:ph type="ftr" idx="11"/>
          </p:nvPr>
        </p:nvSpPr>
        <p:spPr>
          <a:xfrm>
            <a:off x="0" y="6502400"/>
            <a:ext cx="3962400" cy="341313"/>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183" name="Google Shape;183;p5:notes"/>
          <p:cNvSpPr txBox="1">
            <a:spLocks noGrp="1"/>
          </p:cNvSpPr>
          <p:nvPr>
            <p:ph type="sldNum" idx="12"/>
          </p:nvPr>
        </p:nvSpPr>
        <p:spPr>
          <a:xfrm>
            <a:off x="5180013" y="6502400"/>
            <a:ext cx="3962400" cy="341313"/>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r>
              <a:rPr lang="en-GB" sz="1200">
                <a:solidFill>
                  <a:schemeClr val="dk1"/>
                </a:solidFill>
                <a:latin typeface="Calibri"/>
                <a:ea typeface="Calibri"/>
                <a:cs typeface="Calibri"/>
                <a:sym typeface="Calibri"/>
              </a:rPr>
              <a:t>‹#›</a:t>
            </a:r>
            <a:endParaRPr/>
          </a:p>
        </p:txBody>
      </p:sp>
    </p:spTree>
    <p:extLst>
      <p:ext uri="{BB962C8B-B14F-4D97-AF65-F5344CB8AC3E}">
        <p14:creationId xmlns:p14="http://schemas.microsoft.com/office/powerpoint/2010/main" val="156583316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3"/>
        <p:cNvGrpSpPr/>
        <p:nvPr/>
      </p:nvGrpSpPr>
      <p:grpSpPr>
        <a:xfrm>
          <a:off x="0" y="0"/>
          <a:ext cx="0" cy="0"/>
          <a:chOff x="0" y="0"/>
          <a:chExt cx="0" cy="0"/>
        </a:xfrm>
      </p:grpSpPr>
      <p:sp>
        <p:nvSpPr>
          <p:cNvPr id="204" name="Google Shape;204;p6:notes"/>
          <p:cNvSpPr txBox="1">
            <a:spLocks noGrp="1"/>
          </p:cNvSpPr>
          <p:nvPr>
            <p:ph type="hdr" idx="2"/>
          </p:nvPr>
        </p:nvSpPr>
        <p:spPr>
          <a:xfrm>
            <a:off x="0" y="0"/>
            <a:ext cx="3962400" cy="3429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205" name="Google Shape;205;p6:notes"/>
          <p:cNvSpPr txBox="1">
            <a:spLocks noGrp="1"/>
          </p:cNvSpPr>
          <p:nvPr>
            <p:ph type="dt" idx="10"/>
          </p:nvPr>
        </p:nvSpPr>
        <p:spPr>
          <a:xfrm>
            <a:off x="5180013" y="0"/>
            <a:ext cx="3962400" cy="34290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r>
              <a:rPr lang="en-GB" sz="1200">
                <a:solidFill>
                  <a:schemeClr val="dk1"/>
                </a:solidFill>
                <a:latin typeface="Calibri"/>
                <a:ea typeface="Calibri"/>
                <a:cs typeface="Calibri"/>
                <a:sym typeface="Calibri"/>
              </a:rPr>
              <a:t>1.7.2013</a:t>
            </a:r>
            <a:endParaRPr/>
          </a:p>
        </p:txBody>
      </p:sp>
      <p:sp>
        <p:nvSpPr>
          <p:cNvPr id="206" name="Google Shape;206;p6:notes"/>
          <p:cNvSpPr>
            <a:spLocks noGrp="1" noRot="1" noChangeAspect="1"/>
          </p:cNvSpPr>
          <p:nvPr>
            <p:ph type="sldImg" idx="3"/>
          </p:nvPr>
        </p:nvSpPr>
        <p:spPr>
          <a:xfrm>
            <a:off x="2290763" y="512763"/>
            <a:ext cx="4562475" cy="25669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07" name="Google Shape;207;p6:notes"/>
          <p:cNvSpPr txBox="1">
            <a:spLocks noGrp="1"/>
          </p:cNvSpPr>
          <p:nvPr>
            <p:ph type="body" idx="1"/>
          </p:nvPr>
        </p:nvSpPr>
        <p:spPr>
          <a:xfrm>
            <a:off x="914400" y="3251200"/>
            <a:ext cx="7315200" cy="3081338"/>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GB"/>
              <a:t>Show video</a:t>
            </a:r>
            <a:endParaRPr/>
          </a:p>
        </p:txBody>
      </p:sp>
      <p:sp>
        <p:nvSpPr>
          <p:cNvPr id="208" name="Google Shape;208;p6:notes"/>
          <p:cNvSpPr txBox="1">
            <a:spLocks noGrp="1"/>
          </p:cNvSpPr>
          <p:nvPr>
            <p:ph type="ftr" idx="11"/>
          </p:nvPr>
        </p:nvSpPr>
        <p:spPr>
          <a:xfrm>
            <a:off x="0" y="6502400"/>
            <a:ext cx="3962400" cy="341313"/>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209" name="Google Shape;209;p6:notes"/>
          <p:cNvSpPr txBox="1">
            <a:spLocks noGrp="1"/>
          </p:cNvSpPr>
          <p:nvPr>
            <p:ph type="sldNum" idx="12"/>
          </p:nvPr>
        </p:nvSpPr>
        <p:spPr>
          <a:xfrm>
            <a:off x="5180013" y="6502400"/>
            <a:ext cx="3962400" cy="341313"/>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r>
              <a:rPr lang="en-GB" sz="1200">
                <a:solidFill>
                  <a:schemeClr val="dk1"/>
                </a:solidFill>
                <a:latin typeface="Calibri"/>
                <a:ea typeface="Calibri"/>
                <a:cs typeface="Calibri"/>
                <a:sym typeface="Calibri"/>
              </a:rPr>
              <a:t>‹#›</a:t>
            </a:r>
            <a:endParaRPr/>
          </a:p>
        </p:txBody>
      </p:sp>
    </p:spTree>
    <p:extLst>
      <p:ext uri="{BB962C8B-B14F-4D97-AF65-F5344CB8AC3E}">
        <p14:creationId xmlns:p14="http://schemas.microsoft.com/office/powerpoint/2010/main" val="55072675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5"/>
        <p:cNvGrpSpPr/>
        <p:nvPr/>
      </p:nvGrpSpPr>
      <p:grpSpPr>
        <a:xfrm>
          <a:off x="0" y="0"/>
          <a:ext cx="0" cy="0"/>
          <a:chOff x="0" y="0"/>
          <a:chExt cx="0" cy="0"/>
        </a:xfrm>
      </p:grpSpPr>
      <p:sp>
        <p:nvSpPr>
          <p:cNvPr id="236" name="Google Shape;236;p7:notes"/>
          <p:cNvSpPr txBox="1">
            <a:spLocks noGrp="1"/>
          </p:cNvSpPr>
          <p:nvPr>
            <p:ph type="body" idx="1"/>
          </p:nvPr>
        </p:nvSpPr>
        <p:spPr>
          <a:xfrm>
            <a:off x="914400" y="3251200"/>
            <a:ext cx="7315200" cy="3081338"/>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37" name="Google Shape;237;p7:notes"/>
          <p:cNvSpPr>
            <a:spLocks noGrp="1" noRot="1" noChangeAspect="1"/>
          </p:cNvSpPr>
          <p:nvPr>
            <p:ph type="sldImg" idx="2"/>
          </p:nvPr>
        </p:nvSpPr>
        <p:spPr>
          <a:xfrm>
            <a:off x="2290763" y="512763"/>
            <a:ext cx="4562475" cy="2566987"/>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7330350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1"/>
        <p:cNvGrpSpPr/>
        <p:nvPr/>
      </p:nvGrpSpPr>
      <p:grpSpPr>
        <a:xfrm>
          <a:off x="0" y="0"/>
          <a:ext cx="0" cy="0"/>
          <a:chOff x="0" y="0"/>
          <a:chExt cx="0" cy="0"/>
        </a:xfrm>
      </p:grpSpPr>
      <p:sp>
        <p:nvSpPr>
          <p:cNvPr id="262" name="Google Shape;262;p8:notes"/>
          <p:cNvSpPr txBox="1">
            <a:spLocks noGrp="1"/>
          </p:cNvSpPr>
          <p:nvPr>
            <p:ph type="hdr" idx="2"/>
          </p:nvPr>
        </p:nvSpPr>
        <p:spPr>
          <a:xfrm>
            <a:off x="0" y="0"/>
            <a:ext cx="3962400" cy="3429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263" name="Google Shape;263;p8:notes"/>
          <p:cNvSpPr txBox="1">
            <a:spLocks noGrp="1"/>
          </p:cNvSpPr>
          <p:nvPr>
            <p:ph type="dt" idx="10"/>
          </p:nvPr>
        </p:nvSpPr>
        <p:spPr>
          <a:xfrm>
            <a:off x="5180013" y="0"/>
            <a:ext cx="3962400" cy="34290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r>
              <a:rPr lang="en-GB" sz="1200">
                <a:solidFill>
                  <a:schemeClr val="dk1"/>
                </a:solidFill>
                <a:latin typeface="Calibri"/>
                <a:ea typeface="Calibri"/>
                <a:cs typeface="Calibri"/>
                <a:sym typeface="Calibri"/>
              </a:rPr>
              <a:t>1.7.2013</a:t>
            </a:r>
            <a:endParaRPr/>
          </a:p>
        </p:txBody>
      </p:sp>
      <p:sp>
        <p:nvSpPr>
          <p:cNvPr id="264" name="Google Shape;264;p8:notes"/>
          <p:cNvSpPr>
            <a:spLocks noGrp="1" noRot="1" noChangeAspect="1"/>
          </p:cNvSpPr>
          <p:nvPr>
            <p:ph type="sldImg" idx="3"/>
          </p:nvPr>
        </p:nvSpPr>
        <p:spPr>
          <a:xfrm>
            <a:off x="2290763" y="512763"/>
            <a:ext cx="4562475" cy="25669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65" name="Google Shape;265;p8:notes"/>
          <p:cNvSpPr txBox="1">
            <a:spLocks noGrp="1"/>
          </p:cNvSpPr>
          <p:nvPr>
            <p:ph type="body" idx="1"/>
          </p:nvPr>
        </p:nvSpPr>
        <p:spPr>
          <a:xfrm>
            <a:off x="914400" y="3251200"/>
            <a:ext cx="7315200" cy="3081338"/>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GB"/>
              <a:t>Show video</a:t>
            </a:r>
            <a:endParaRPr/>
          </a:p>
        </p:txBody>
      </p:sp>
      <p:sp>
        <p:nvSpPr>
          <p:cNvPr id="266" name="Google Shape;266;p8:notes"/>
          <p:cNvSpPr txBox="1">
            <a:spLocks noGrp="1"/>
          </p:cNvSpPr>
          <p:nvPr>
            <p:ph type="ftr" idx="11"/>
          </p:nvPr>
        </p:nvSpPr>
        <p:spPr>
          <a:xfrm>
            <a:off x="0" y="6502400"/>
            <a:ext cx="3962400" cy="341313"/>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267" name="Google Shape;267;p8:notes"/>
          <p:cNvSpPr txBox="1">
            <a:spLocks noGrp="1"/>
          </p:cNvSpPr>
          <p:nvPr>
            <p:ph type="sldNum" idx="12"/>
          </p:nvPr>
        </p:nvSpPr>
        <p:spPr>
          <a:xfrm>
            <a:off x="5180013" y="6502400"/>
            <a:ext cx="3962400" cy="341313"/>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r>
              <a:rPr lang="en-GB" sz="1200">
                <a:solidFill>
                  <a:schemeClr val="dk1"/>
                </a:solidFill>
                <a:latin typeface="Calibri"/>
                <a:ea typeface="Calibri"/>
                <a:cs typeface="Calibri"/>
                <a:sym typeface="Calibri"/>
              </a:rPr>
              <a:t>‹#›</a:t>
            </a:r>
            <a:endParaRPr/>
          </a:p>
        </p:txBody>
      </p:sp>
    </p:spTree>
    <p:extLst>
      <p:ext uri="{BB962C8B-B14F-4D97-AF65-F5344CB8AC3E}">
        <p14:creationId xmlns:p14="http://schemas.microsoft.com/office/powerpoint/2010/main" val="341831896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0"/>
        <p:cNvGrpSpPr/>
        <p:nvPr/>
      </p:nvGrpSpPr>
      <p:grpSpPr>
        <a:xfrm>
          <a:off x="0" y="0"/>
          <a:ext cx="0" cy="0"/>
          <a:chOff x="0" y="0"/>
          <a:chExt cx="0" cy="0"/>
        </a:xfrm>
      </p:grpSpPr>
      <p:sp>
        <p:nvSpPr>
          <p:cNvPr id="291" name="Google Shape;291;p9:notes"/>
          <p:cNvSpPr txBox="1">
            <a:spLocks noGrp="1"/>
          </p:cNvSpPr>
          <p:nvPr>
            <p:ph type="body" idx="1"/>
          </p:nvPr>
        </p:nvSpPr>
        <p:spPr>
          <a:xfrm>
            <a:off x="914400" y="3251200"/>
            <a:ext cx="7315200" cy="3081338"/>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92" name="Google Shape;292;p9:notes"/>
          <p:cNvSpPr>
            <a:spLocks noGrp="1" noRot="1" noChangeAspect="1"/>
          </p:cNvSpPr>
          <p:nvPr>
            <p:ph type="sldImg" idx="2"/>
          </p:nvPr>
        </p:nvSpPr>
        <p:spPr>
          <a:xfrm>
            <a:off x="2290763" y="512763"/>
            <a:ext cx="4562475" cy="2566987"/>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75868953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1"/>
        <p:cNvGrpSpPr/>
        <p:nvPr/>
      </p:nvGrpSpPr>
      <p:grpSpPr>
        <a:xfrm>
          <a:off x="0" y="0"/>
          <a:ext cx="0" cy="0"/>
          <a:chOff x="0" y="0"/>
          <a:chExt cx="0" cy="0"/>
        </a:xfrm>
      </p:grpSpPr>
      <p:sp>
        <p:nvSpPr>
          <p:cNvPr id="302" name="Google Shape;302;p10:notes"/>
          <p:cNvSpPr txBox="1">
            <a:spLocks noGrp="1"/>
          </p:cNvSpPr>
          <p:nvPr>
            <p:ph type="hdr" idx="2"/>
          </p:nvPr>
        </p:nvSpPr>
        <p:spPr>
          <a:xfrm>
            <a:off x="0" y="0"/>
            <a:ext cx="3962400" cy="3429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303" name="Google Shape;303;p10:notes"/>
          <p:cNvSpPr txBox="1">
            <a:spLocks noGrp="1"/>
          </p:cNvSpPr>
          <p:nvPr>
            <p:ph type="dt" idx="10"/>
          </p:nvPr>
        </p:nvSpPr>
        <p:spPr>
          <a:xfrm>
            <a:off x="5180013" y="0"/>
            <a:ext cx="3962400" cy="34290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r>
              <a:rPr lang="en-GB" sz="1200">
                <a:solidFill>
                  <a:schemeClr val="dk1"/>
                </a:solidFill>
                <a:latin typeface="Calibri"/>
                <a:ea typeface="Calibri"/>
                <a:cs typeface="Calibri"/>
                <a:sym typeface="Calibri"/>
              </a:rPr>
              <a:t>1.7.2013</a:t>
            </a:r>
            <a:endParaRPr/>
          </a:p>
        </p:txBody>
      </p:sp>
      <p:sp>
        <p:nvSpPr>
          <p:cNvPr id="304" name="Google Shape;304;p10:notes"/>
          <p:cNvSpPr>
            <a:spLocks noGrp="1" noRot="1" noChangeAspect="1"/>
          </p:cNvSpPr>
          <p:nvPr>
            <p:ph type="sldImg" idx="3"/>
          </p:nvPr>
        </p:nvSpPr>
        <p:spPr>
          <a:xfrm>
            <a:off x="2290763" y="512763"/>
            <a:ext cx="4562475" cy="25669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05" name="Google Shape;305;p10:notes"/>
          <p:cNvSpPr txBox="1">
            <a:spLocks noGrp="1"/>
          </p:cNvSpPr>
          <p:nvPr>
            <p:ph type="body" idx="1"/>
          </p:nvPr>
        </p:nvSpPr>
        <p:spPr>
          <a:xfrm>
            <a:off x="914400" y="3251200"/>
            <a:ext cx="7315200" cy="3081338"/>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GB"/>
              <a:t>Show video</a:t>
            </a:r>
            <a:endParaRPr/>
          </a:p>
        </p:txBody>
      </p:sp>
      <p:sp>
        <p:nvSpPr>
          <p:cNvPr id="306" name="Google Shape;306;p10:notes"/>
          <p:cNvSpPr txBox="1">
            <a:spLocks noGrp="1"/>
          </p:cNvSpPr>
          <p:nvPr>
            <p:ph type="ftr" idx="11"/>
          </p:nvPr>
        </p:nvSpPr>
        <p:spPr>
          <a:xfrm>
            <a:off x="0" y="6502400"/>
            <a:ext cx="3962400" cy="341313"/>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307" name="Google Shape;307;p10:notes"/>
          <p:cNvSpPr txBox="1">
            <a:spLocks noGrp="1"/>
          </p:cNvSpPr>
          <p:nvPr>
            <p:ph type="sldNum" idx="12"/>
          </p:nvPr>
        </p:nvSpPr>
        <p:spPr>
          <a:xfrm>
            <a:off x="5180013" y="6502400"/>
            <a:ext cx="3962400" cy="341313"/>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r>
              <a:rPr lang="en-GB" sz="1200">
                <a:solidFill>
                  <a:schemeClr val="dk1"/>
                </a:solidFill>
                <a:latin typeface="Calibri"/>
                <a:ea typeface="Calibri"/>
                <a:cs typeface="Calibri"/>
                <a:sym typeface="Calibri"/>
              </a:rPr>
              <a:t>‹#›</a:t>
            </a:r>
            <a:endParaRPr/>
          </a:p>
        </p:txBody>
      </p:sp>
    </p:spTree>
    <p:extLst>
      <p:ext uri="{BB962C8B-B14F-4D97-AF65-F5344CB8AC3E}">
        <p14:creationId xmlns:p14="http://schemas.microsoft.com/office/powerpoint/2010/main" val="81829066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7"/>
        <p:cNvGrpSpPr/>
        <p:nvPr/>
      </p:nvGrpSpPr>
      <p:grpSpPr>
        <a:xfrm>
          <a:off x="0" y="0"/>
          <a:ext cx="0" cy="0"/>
          <a:chOff x="0" y="0"/>
          <a:chExt cx="0" cy="0"/>
        </a:xfrm>
      </p:grpSpPr>
      <p:sp>
        <p:nvSpPr>
          <p:cNvPr id="328" name="Google Shape;328;g263844f09a0_0_0:notes"/>
          <p:cNvSpPr txBox="1">
            <a:spLocks noGrp="1"/>
          </p:cNvSpPr>
          <p:nvPr>
            <p:ph type="hdr" idx="2"/>
          </p:nvPr>
        </p:nvSpPr>
        <p:spPr>
          <a:xfrm>
            <a:off x="0" y="0"/>
            <a:ext cx="3962400" cy="3429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329" name="Google Shape;329;g263844f09a0_0_0:notes"/>
          <p:cNvSpPr txBox="1">
            <a:spLocks noGrp="1"/>
          </p:cNvSpPr>
          <p:nvPr>
            <p:ph type="dt" idx="10"/>
          </p:nvPr>
        </p:nvSpPr>
        <p:spPr>
          <a:xfrm>
            <a:off x="5180013" y="0"/>
            <a:ext cx="3962400" cy="34290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r>
              <a:rPr lang="en-GB" sz="1200">
                <a:solidFill>
                  <a:schemeClr val="dk1"/>
                </a:solidFill>
                <a:latin typeface="Calibri"/>
                <a:ea typeface="Calibri"/>
                <a:cs typeface="Calibri"/>
                <a:sym typeface="Calibri"/>
              </a:rPr>
              <a:t>1.7.2013</a:t>
            </a:r>
            <a:endParaRPr/>
          </a:p>
        </p:txBody>
      </p:sp>
      <p:sp>
        <p:nvSpPr>
          <p:cNvPr id="330" name="Google Shape;330;g263844f09a0_0_0:notes"/>
          <p:cNvSpPr>
            <a:spLocks noGrp="1" noRot="1" noChangeAspect="1"/>
          </p:cNvSpPr>
          <p:nvPr>
            <p:ph type="sldImg" idx="3"/>
          </p:nvPr>
        </p:nvSpPr>
        <p:spPr>
          <a:xfrm>
            <a:off x="2290763" y="512763"/>
            <a:ext cx="4562475" cy="25669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1" name="Google Shape;331;g263844f09a0_0_0:notes"/>
          <p:cNvSpPr txBox="1">
            <a:spLocks noGrp="1"/>
          </p:cNvSpPr>
          <p:nvPr>
            <p:ph type="body" idx="1"/>
          </p:nvPr>
        </p:nvSpPr>
        <p:spPr>
          <a:xfrm>
            <a:off x="914400" y="3251200"/>
            <a:ext cx="7315200" cy="30813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GB"/>
              <a:t>Show video</a:t>
            </a:r>
            <a:endParaRPr/>
          </a:p>
        </p:txBody>
      </p:sp>
      <p:sp>
        <p:nvSpPr>
          <p:cNvPr id="332" name="Google Shape;332;g263844f09a0_0_0:notes"/>
          <p:cNvSpPr txBox="1">
            <a:spLocks noGrp="1"/>
          </p:cNvSpPr>
          <p:nvPr>
            <p:ph type="ftr" idx="11"/>
          </p:nvPr>
        </p:nvSpPr>
        <p:spPr>
          <a:xfrm>
            <a:off x="0" y="6502400"/>
            <a:ext cx="3962400" cy="341400"/>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333" name="Google Shape;333;g263844f09a0_0_0:notes"/>
          <p:cNvSpPr txBox="1">
            <a:spLocks noGrp="1"/>
          </p:cNvSpPr>
          <p:nvPr>
            <p:ph type="sldNum" idx="12"/>
          </p:nvPr>
        </p:nvSpPr>
        <p:spPr>
          <a:xfrm>
            <a:off x="5180013" y="6502400"/>
            <a:ext cx="3962400" cy="3414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r>
              <a:rPr lang="en-GB" sz="1200">
                <a:solidFill>
                  <a:schemeClr val="dk1"/>
                </a:solidFill>
                <a:latin typeface="Calibri"/>
                <a:ea typeface="Calibri"/>
                <a:cs typeface="Calibri"/>
                <a:sym typeface="Calibri"/>
              </a:rPr>
              <a:t>‹#›</a:t>
            </a:r>
            <a:endParaRPr/>
          </a:p>
        </p:txBody>
      </p:sp>
    </p:spTree>
    <p:extLst>
      <p:ext uri="{BB962C8B-B14F-4D97-AF65-F5344CB8AC3E}">
        <p14:creationId xmlns:p14="http://schemas.microsoft.com/office/powerpoint/2010/main" val="248461386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0"/>
        <p:cNvGrpSpPr/>
        <p:nvPr/>
      </p:nvGrpSpPr>
      <p:grpSpPr>
        <a:xfrm>
          <a:off x="0" y="0"/>
          <a:ext cx="0" cy="0"/>
          <a:chOff x="0" y="0"/>
          <a:chExt cx="0" cy="0"/>
        </a:xfrm>
      </p:grpSpPr>
      <p:sp>
        <p:nvSpPr>
          <p:cNvPr id="351" name="Google Shape;351;p11:notes"/>
          <p:cNvSpPr txBox="1">
            <a:spLocks noGrp="1"/>
          </p:cNvSpPr>
          <p:nvPr>
            <p:ph type="hdr" idx="2"/>
          </p:nvPr>
        </p:nvSpPr>
        <p:spPr>
          <a:xfrm>
            <a:off x="0" y="0"/>
            <a:ext cx="3962400" cy="3429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352" name="Google Shape;352;p11:notes"/>
          <p:cNvSpPr txBox="1">
            <a:spLocks noGrp="1"/>
          </p:cNvSpPr>
          <p:nvPr>
            <p:ph type="dt" idx="10"/>
          </p:nvPr>
        </p:nvSpPr>
        <p:spPr>
          <a:xfrm>
            <a:off x="5180013" y="0"/>
            <a:ext cx="3962400" cy="34290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r>
              <a:rPr lang="en-GB" sz="1200">
                <a:solidFill>
                  <a:schemeClr val="dk1"/>
                </a:solidFill>
                <a:latin typeface="Calibri"/>
                <a:ea typeface="Calibri"/>
                <a:cs typeface="Calibri"/>
                <a:sym typeface="Calibri"/>
              </a:rPr>
              <a:t>1.7.2013</a:t>
            </a:r>
            <a:endParaRPr/>
          </a:p>
        </p:txBody>
      </p:sp>
      <p:sp>
        <p:nvSpPr>
          <p:cNvPr id="353" name="Google Shape;353;p11:notes"/>
          <p:cNvSpPr>
            <a:spLocks noGrp="1" noRot="1" noChangeAspect="1"/>
          </p:cNvSpPr>
          <p:nvPr>
            <p:ph type="sldImg" idx="3"/>
          </p:nvPr>
        </p:nvSpPr>
        <p:spPr>
          <a:xfrm>
            <a:off x="2290763" y="512763"/>
            <a:ext cx="4562475" cy="25669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54" name="Google Shape;354;p11:notes"/>
          <p:cNvSpPr txBox="1">
            <a:spLocks noGrp="1"/>
          </p:cNvSpPr>
          <p:nvPr>
            <p:ph type="body" idx="1"/>
          </p:nvPr>
        </p:nvSpPr>
        <p:spPr>
          <a:xfrm>
            <a:off x="914400" y="3251200"/>
            <a:ext cx="7315200" cy="3081338"/>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GB"/>
              <a:t>Show video</a:t>
            </a:r>
            <a:endParaRPr/>
          </a:p>
        </p:txBody>
      </p:sp>
      <p:sp>
        <p:nvSpPr>
          <p:cNvPr id="355" name="Google Shape;355;p11:notes"/>
          <p:cNvSpPr txBox="1">
            <a:spLocks noGrp="1"/>
          </p:cNvSpPr>
          <p:nvPr>
            <p:ph type="ftr" idx="11"/>
          </p:nvPr>
        </p:nvSpPr>
        <p:spPr>
          <a:xfrm>
            <a:off x="0" y="6502400"/>
            <a:ext cx="3962400" cy="341313"/>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356" name="Google Shape;356;p11:notes"/>
          <p:cNvSpPr txBox="1">
            <a:spLocks noGrp="1"/>
          </p:cNvSpPr>
          <p:nvPr>
            <p:ph type="sldNum" idx="12"/>
          </p:nvPr>
        </p:nvSpPr>
        <p:spPr>
          <a:xfrm>
            <a:off x="5180013" y="6502400"/>
            <a:ext cx="3962400" cy="341313"/>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r>
              <a:rPr lang="en-GB" sz="1200">
                <a:solidFill>
                  <a:schemeClr val="dk1"/>
                </a:solidFill>
                <a:latin typeface="Calibri"/>
                <a:ea typeface="Calibri"/>
                <a:cs typeface="Calibri"/>
                <a:sym typeface="Calibri"/>
              </a:rPr>
              <a:t>‹#›</a:t>
            </a:r>
            <a:endParaRPr/>
          </a:p>
        </p:txBody>
      </p:sp>
    </p:spTree>
    <p:extLst>
      <p:ext uri="{BB962C8B-B14F-4D97-AF65-F5344CB8AC3E}">
        <p14:creationId xmlns:p14="http://schemas.microsoft.com/office/powerpoint/2010/main" val="326769984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3"/>
        <p:cNvGrpSpPr/>
        <p:nvPr/>
      </p:nvGrpSpPr>
      <p:grpSpPr>
        <a:xfrm>
          <a:off x="0" y="0"/>
          <a:ext cx="0" cy="0"/>
          <a:chOff x="0" y="0"/>
          <a:chExt cx="0" cy="0"/>
        </a:xfrm>
      </p:grpSpPr>
      <p:sp>
        <p:nvSpPr>
          <p:cNvPr id="374" name="Google Shape;374;p12:notes"/>
          <p:cNvSpPr txBox="1">
            <a:spLocks noGrp="1"/>
          </p:cNvSpPr>
          <p:nvPr>
            <p:ph type="body" idx="1"/>
          </p:nvPr>
        </p:nvSpPr>
        <p:spPr>
          <a:xfrm>
            <a:off x="914400" y="3251200"/>
            <a:ext cx="7315200" cy="3081338"/>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75" name="Google Shape;375;p12:notes"/>
          <p:cNvSpPr>
            <a:spLocks noGrp="1" noRot="1" noChangeAspect="1"/>
          </p:cNvSpPr>
          <p:nvPr>
            <p:ph type="sldImg" idx="2"/>
          </p:nvPr>
        </p:nvSpPr>
        <p:spPr>
          <a:xfrm>
            <a:off x="2290763" y="512763"/>
            <a:ext cx="4562475" cy="2566987"/>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8492133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4"/>
        <p:cNvGrpSpPr/>
        <p:nvPr/>
      </p:nvGrpSpPr>
      <p:grpSpPr>
        <a:xfrm>
          <a:off x="0" y="0"/>
          <a:ext cx="0" cy="0"/>
          <a:chOff x="0" y="0"/>
          <a:chExt cx="0" cy="0"/>
        </a:xfrm>
      </p:grpSpPr>
      <p:sp>
        <p:nvSpPr>
          <p:cNvPr id="395" name="Google Shape;395;p13:notes"/>
          <p:cNvSpPr txBox="1">
            <a:spLocks noGrp="1"/>
          </p:cNvSpPr>
          <p:nvPr>
            <p:ph type="hdr" idx="2"/>
          </p:nvPr>
        </p:nvSpPr>
        <p:spPr>
          <a:xfrm>
            <a:off x="0" y="0"/>
            <a:ext cx="3962400" cy="3429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396" name="Google Shape;396;p13:notes"/>
          <p:cNvSpPr txBox="1">
            <a:spLocks noGrp="1"/>
          </p:cNvSpPr>
          <p:nvPr>
            <p:ph type="dt" idx="10"/>
          </p:nvPr>
        </p:nvSpPr>
        <p:spPr>
          <a:xfrm>
            <a:off x="5180013" y="0"/>
            <a:ext cx="3962400" cy="34290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r>
              <a:rPr lang="en-GB" sz="1200">
                <a:solidFill>
                  <a:schemeClr val="dk1"/>
                </a:solidFill>
                <a:latin typeface="Calibri"/>
                <a:ea typeface="Calibri"/>
                <a:cs typeface="Calibri"/>
                <a:sym typeface="Calibri"/>
              </a:rPr>
              <a:t>1.7.2013</a:t>
            </a:r>
            <a:endParaRPr/>
          </a:p>
        </p:txBody>
      </p:sp>
      <p:sp>
        <p:nvSpPr>
          <p:cNvPr id="397" name="Google Shape;397;p13:notes"/>
          <p:cNvSpPr>
            <a:spLocks noGrp="1" noRot="1" noChangeAspect="1"/>
          </p:cNvSpPr>
          <p:nvPr>
            <p:ph type="sldImg" idx="3"/>
          </p:nvPr>
        </p:nvSpPr>
        <p:spPr>
          <a:xfrm>
            <a:off x="2290763" y="512763"/>
            <a:ext cx="4562475" cy="25669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98" name="Google Shape;398;p13:notes"/>
          <p:cNvSpPr txBox="1">
            <a:spLocks noGrp="1"/>
          </p:cNvSpPr>
          <p:nvPr>
            <p:ph type="body" idx="1"/>
          </p:nvPr>
        </p:nvSpPr>
        <p:spPr>
          <a:xfrm>
            <a:off x="914400" y="3251200"/>
            <a:ext cx="7315200" cy="3081338"/>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GB"/>
              <a:t>Show video</a:t>
            </a:r>
            <a:endParaRPr/>
          </a:p>
        </p:txBody>
      </p:sp>
      <p:sp>
        <p:nvSpPr>
          <p:cNvPr id="399" name="Google Shape;399;p13:notes"/>
          <p:cNvSpPr txBox="1">
            <a:spLocks noGrp="1"/>
          </p:cNvSpPr>
          <p:nvPr>
            <p:ph type="ftr" idx="11"/>
          </p:nvPr>
        </p:nvSpPr>
        <p:spPr>
          <a:xfrm>
            <a:off x="0" y="6502400"/>
            <a:ext cx="3962400" cy="341313"/>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400" name="Google Shape;400;p13:notes"/>
          <p:cNvSpPr txBox="1">
            <a:spLocks noGrp="1"/>
          </p:cNvSpPr>
          <p:nvPr>
            <p:ph type="sldNum" idx="12"/>
          </p:nvPr>
        </p:nvSpPr>
        <p:spPr>
          <a:xfrm>
            <a:off x="5180013" y="6502400"/>
            <a:ext cx="3962400" cy="341313"/>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r>
              <a:rPr lang="en-GB" sz="1200">
                <a:solidFill>
                  <a:schemeClr val="dk1"/>
                </a:solidFill>
                <a:latin typeface="Calibri"/>
                <a:ea typeface="Calibri"/>
                <a:cs typeface="Calibri"/>
                <a:sym typeface="Calibri"/>
              </a:rPr>
              <a:t>‹#›</a:t>
            </a:r>
            <a:endParaRPr/>
          </a:p>
        </p:txBody>
      </p:sp>
    </p:spTree>
    <p:extLst>
      <p:ext uri="{BB962C8B-B14F-4D97-AF65-F5344CB8AC3E}">
        <p14:creationId xmlns:p14="http://schemas.microsoft.com/office/powerpoint/2010/main" val="24313613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8"/>
        <p:cNvGrpSpPr/>
        <p:nvPr/>
      </p:nvGrpSpPr>
      <p:grpSpPr>
        <a:xfrm>
          <a:off x="0" y="0"/>
          <a:ext cx="0" cy="0"/>
          <a:chOff x="0" y="0"/>
          <a:chExt cx="0" cy="0"/>
        </a:xfrm>
      </p:grpSpPr>
      <p:sp>
        <p:nvSpPr>
          <p:cNvPr id="419" name="Google Shape;419;p14:notes"/>
          <p:cNvSpPr txBox="1">
            <a:spLocks noGrp="1"/>
          </p:cNvSpPr>
          <p:nvPr>
            <p:ph type="body" idx="1"/>
          </p:nvPr>
        </p:nvSpPr>
        <p:spPr>
          <a:xfrm>
            <a:off x="914400" y="3251200"/>
            <a:ext cx="7315200" cy="3081338"/>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20" name="Google Shape;420;p14:notes"/>
          <p:cNvSpPr>
            <a:spLocks noGrp="1" noRot="1" noChangeAspect="1"/>
          </p:cNvSpPr>
          <p:nvPr>
            <p:ph type="sldImg" idx="2"/>
          </p:nvPr>
        </p:nvSpPr>
        <p:spPr>
          <a:xfrm>
            <a:off x="2290763" y="512763"/>
            <a:ext cx="4562475" cy="2566987"/>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89091835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0"/>
        <p:cNvGrpSpPr/>
        <p:nvPr/>
      </p:nvGrpSpPr>
      <p:grpSpPr>
        <a:xfrm>
          <a:off x="0" y="0"/>
          <a:ext cx="0" cy="0"/>
          <a:chOff x="0" y="0"/>
          <a:chExt cx="0" cy="0"/>
        </a:xfrm>
      </p:grpSpPr>
      <p:sp>
        <p:nvSpPr>
          <p:cNvPr id="431" name="Google Shape;431;p15:notes"/>
          <p:cNvSpPr txBox="1">
            <a:spLocks noGrp="1"/>
          </p:cNvSpPr>
          <p:nvPr>
            <p:ph type="hdr" idx="2"/>
          </p:nvPr>
        </p:nvSpPr>
        <p:spPr>
          <a:xfrm>
            <a:off x="0" y="0"/>
            <a:ext cx="3962400" cy="3429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432" name="Google Shape;432;p15:notes"/>
          <p:cNvSpPr txBox="1">
            <a:spLocks noGrp="1"/>
          </p:cNvSpPr>
          <p:nvPr>
            <p:ph type="dt" idx="10"/>
          </p:nvPr>
        </p:nvSpPr>
        <p:spPr>
          <a:xfrm>
            <a:off x="5180013" y="0"/>
            <a:ext cx="3962400" cy="34290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r>
              <a:rPr lang="en-GB" sz="1200">
                <a:solidFill>
                  <a:schemeClr val="dk1"/>
                </a:solidFill>
                <a:latin typeface="Calibri"/>
                <a:ea typeface="Calibri"/>
                <a:cs typeface="Calibri"/>
                <a:sym typeface="Calibri"/>
              </a:rPr>
              <a:t>1.7.2013</a:t>
            </a:r>
            <a:endParaRPr/>
          </a:p>
        </p:txBody>
      </p:sp>
      <p:sp>
        <p:nvSpPr>
          <p:cNvPr id="433" name="Google Shape;433;p15:notes"/>
          <p:cNvSpPr>
            <a:spLocks noGrp="1" noRot="1" noChangeAspect="1"/>
          </p:cNvSpPr>
          <p:nvPr>
            <p:ph type="sldImg" idx="3"/>
          </p:nvPr>
        </p:nvSpPr>
        <p:spPr>
          <a:xfrm>
            <a:off x="2290763" y="512763"/>
            <a:ext cx="4562475" cy="25669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34" name="Google Shape;434;p15:notes"/>
          <p:cNvSpPr txBox="1">
            <a:spLocks noGrp="1"/>
          </p:cNvSpPr>
          <p:nvPr>
            <p:ph type="body" idx="1"/>
          </p:nvPr>
        </p:nvSpPr>
        <p:spPr>
          <a:xfrm>
            <a:off x="914400" y="3251200"/>
            <a:ext cx="7315200" cy="3081338"/>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GB"/>
              <a:t>Show video</a:t>
            </a:r>
            <a:endParaRPr/>
          </a:p>
        </p:txBody>
      </p:sp>
      <p:sp>
        <p:nvSpPr>
          <p:cNvPr id="435" name="Google Shape;435;p15:notes"/>
          <p:cNvSpPr txBox="1">
            <a:spLocks noGrp="1"/>
          </p:cNvSpPr>
          <p:nvPr>
            <p:ph type="ftr" idx="11"/>
          </p:nvPr>
        </p:nvSpPr>
        <p:spPr>
          <a:xfrm>
            <a:off x="0" y="6502400"/>
            <a:ext cx="3962400" cy="341313"/>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436" name="Google Shape;436;p15:notes"/>
          <p:cNvSpPr txBox="1">
            <a:spLocks noGrp="1"/>
          </p:cNvSpPr>
          <p:nvPr>
            <p:ph type="sldNum" idx="12"/>
          </p:nvPr>
        </p:nvSpPr>
        <p:spPr>
          <a:xfrm>
            <a:off x="5180013" y="6502400"/>
            <a:ext cx="3962400" cy="341313"/>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r>
              <a:rPr lang="en-GB" sz="1200">
                <a:solidFill>
                  <a:schemeClr val="dk1"/>
                </a:solidFill>
                <a:latin typeface="Calibri"/>
                <a:ea typeface="Calibri"/>
                <a:cs typeface="Calibri"/>
                <a:sym typeface="Calibri"/>
              </a:rPr>
              <a:t>‹#›</a:t>
            </a:r>
            <a:endParaRPr/>
          </a:p>
        </p:txBody>
      </p:sp>
    </p:spTree>
    <p:extLst>
      <p:ext uri="{BB962C8B-B14F-4D97-AF65-F5344CB8AC3E}">
        <p14:creationId xmlns:p14="http://schemas.microsoft.com/office/powerpoint/2010/main" val="316621310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6"/>
        <p:cNvGrpSpPr/>
        <p:nvPr/>
      </p:nvGrpSpPr>
      <p:grpSpPr>
        <a:xfrm>
          <a:off x="0" y="0"/>
          <a:ext cx="0" cy="0"/>
          <a:chOff x="0" y="0"/>
          <a:chExt cx="0" cy="0"/>
        </a:xfrm>
      </p:grpSpPr>
      <p:sp>
        <p:nvSpPr>
          <p:cNvPr id="457" name="Google Shape;457;p16:notes"/>
          <p:cNvSpPr txBox="1">
            <a:spLocks noGrp="1"/>
          </p:cNvSpPr>
          <p:nvPr>
            <p:ph type="hdr" idx="2"/>
          </p:nvPr>
        </p:nvSpPr>
        <p:spPr>
          <a:xfrm>
            <a:off x="0" y="0"/>
            <a:ext cx="3962400" cy="3429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458" name="Google Shape;458;p16:notes"/>
          <p:cNvSpPr txBox="1">
            <a:spLocks noGrp="1"/>
          </p:cNvSpPr>
          <p:nvPr>
            <p:ph type="dt" idx="10"/>
          </p:nvPr>
        </p:nvSpPr>
        <p:spPr>
          <a:xfrm>
            <a:off x="5180013" y="0"/>
            <a:ext cx="3962400" cy="34290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r>
              <a:rPr lang="en-GB" sz="1200">
                <a:solidFill>
                  <a:schemeClr val="dk1"/>
                </a:solidFill>
                <a:latin typeface="Calibri"/>
                <a:ea typeface="Calibri"/>
                <a:cs typeface="Calibri"/>
                <a:sym typeface="Calibri"/>
              </a:rPr>
              <a:t>1.7.2013</a:t>
            </a:r>
            <a:endParaRPr/>
          </a:p>
        </p:txBody>
      </p:sp>
      <p:sp>
        <p:nvSpPr>
          <p:cNvPr id="459" name="Google Shape;459;p16:notes"/>
          <p:cNvSpPr>
            <a:spLocks noGrp="1" noRot="1" noChangeAspect="1"/>
          </p:cNvSpPr>
          <p:nvPr>
            <p:ph type="sldImg" idx="3"/>
          </p:nvPr>
        </p:nvSpPr>
        <p:spPr>
          <a:xfrm>
            <a:off x="2290763" y="512763"/>
            <a:ext cx="4562475" cy="25669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60" name="Google Shape;460;p16:notes"/>
          <p:cNvSpPr txBox="1">
            <a:spLocks noGrp="1"/>
          </p:cNvSpPr>
          <p:nvPr>
            <p:ph type="body" idx="1"/>
          </p:nvPr>
        </p:nvSpPr>
        <p:spPr>
          <a:xfrm>
            <a:off x="914400" y="3251200"/>
            <a:ext cx="7315200" cy="3081338"/>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GB"/>
              <a:t>Show video</a:t>
            </a:r>
            <a:endParaRPr/>
          </a:p>
        </p:txBody>
      </p:sp>
      <p:sp>
        <p:nvSpPr>
          <p:cNvPr id="461" name="Google Shape;461;p16:notes"/>
          <p:cNvSpPr txBox="1">
            <a:spLocks noGrp="1"/>
          </p:cNvSpPr>
          <p:nvPr>
            <p:ph type="ftr" idx="11"/>
          </p:nvPr>
        </p:nvSpPr>
        <p:spPr>
          <a:xfrm>
            <a:off x="0" y="6502400"/>
            <a:ext cx="3962400" cy="341313"/>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462" name="Google Shape;462;p16:notes"/>
          <p:cNvSpPr txBox="1">
            <a:spLocks noGrp="1"/>
          </p:cNvSpPr>
          <p:nvPr>
            <p:ph type="sldNum" idx="12"/>
          </p:nvPr>
        </p:nvSpPr>
        <p:spPr>
          <a:xfrm>
            <a:off x="5180013" y="6502400"/>
            <a:ext cx="3962400" cy="341313"/>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r>
              <a:rPr lang="en-GB" sz="1200">
                <a:solidFill>
                  <a:schemeClr val="dk1"/>
                </a:solidFill>
                <a:latin typeface="Calibri"/>
                <a:ea typeface="Calibri"/>
                <a:cs typeface="Calibri"/>
                <a:sym typeface="Calibri"/>
              </a:rPr>
              <a:t>‹#›</a:t>
            </a:r>
            <a:endParaRPr/>
          </a:p>
        </p:txBody>
      </p:sp>
    </p:spTree>
    <p:extLst>
      <p:ext uri="{BB962C8B-B14F-4D97-AF65-F5344CB8AC3E}">
        <p14:creationId xmlns:p14="http://schemas.microsoft.com/office/powerpoint/2010/main" val="148436045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9"/>
        <p:cNvGrpSpPr/>
        <p:nvPr/>
      </p:nvGrpSpPr>
      <p:grpSpPr>
        <a:xfrm>
          <a:off x="0" y="0"/>
          <a:ext cx="0" cy="0"/>
          <a:chOff x="0" y="0"/>
          <a:chExt cx="0" cy="0"/>
        </a:xfrm>
      </p:grpSpPr>
      <p:sp>
        <p:nvSpPr>
          <p:cNvPr id="480" name="Google Shape;480;p17:notes"/>
          <p:cNvSpPr txBox="1">
            <a:spLocks noGrp="1"/>
          </p:cNvSpPr>
          <p:nvPr>
            <p:ph type="body" idx="1"/>
          </p:nvPr>
        </p:nvSpPr>
        <p:spPr>
          <a:xfrm>
            <a:off x="914400" y="3251200"/>
            <a:ext cx="7315200" cy="3081338"/>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81" name="Google Shape;481;p17:notes"/>
          <p:cNvSpPr>
            <a:spLocks noGrp="1" noRot="1" noChangeAspect="1"/>
          </p:cNvSpPr>
          <p:nvPr>
            <p:ph type="sldImg" idx="2"/>
          </p:nvPr>
        </p:nvSpPr>
        <p:spPr>
          <a:xfrm>
            <a:off x="2290763" y="512763"/>
            <a:ext cx="4562475" cy="2566987"/>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5396451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0"/>
        <p:cNvGrpSpPr/>
        <p:nvPr/>
      </p:nvGrpSpPr>
      <p:grpSpPr>
        <a:xfrm>
          <a:off x="0" y="0"/>
          <a:ext cx="0" cy="0"/>
          <a:chOff x="0" y="0"/>
          <a:chExt cx="0" cy="0"/>
        </a:xfrm>
      </p:grpSpPr>
      <p:sp>
        <p:nvSpPr>
          <p:cNvPr id="511" name="Google Shape;511;p18:notes"/>
          <p:cNvSpPr txBox="1">
            <a:spLocks noGrp="1"/>
          </p:cNvSpPr>
          <p:nvPr>
            <p:ph type="body" idx="1"/>
          </p:nvPr>
        </p:nvSpPr>
        <p:spPr>
          <a:xfrm>
            <a:off x="914400" y="3251200"/>
            <a:ext cx="7315200" cy="3081338"/>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12" name="Google Shape;512;p18:notes"/>
          <p:cNvSpPr>
            <a:spLocks noGrp="1" noRot="1" noChangeAspect="1"/>
          </p:cNvSpPr>
          <p:nvPr>
            <p:ph type="sldImg" idx="2"/>
          </p:nvPr>
        </p:nvSpPr>
        <p:spPr>
          <a:xfrm>
            <a:off x="2290763" y="512763"/>
            <a:ext cx="4562475" cy="2566987"/>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08556815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2"/>
        <p:cNvGrpSpPr/>
        <p:nvPr/>
      </p:nvGrpSpPr>
      <p:grpSpPr>
        <a:xfrm>
          <a:off x="0" y="0"/>
          <a:ext cx="0" cy="0"/>
          <a:chOff x="0" y="0"/>
          <a:chExt cx="0" cy="0"/>
        </a:xfrm>
      </p:grpSpPr>
      <p:sp>
        <p:nvSpPr>
          <p:cNvPr id="523" name="Google Shape;523;p19:notes"/>
          <p:cNvSpPr txBox="1">
            <a:spLocks noGrp="1"/>
          </p:cNvSpPr>
          <p:nvPr>
            <p:ph type="hdr" idx="2"/>
          </p:nvPr>
        </p:nvSpPr>
        <p:spPr>
          <a:xfrm>
            <a:off x="0" y="0"/>
            <a:ext cx="3962400" cy="3429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524" name="Google Shape;524;p19:notes"/>
          <p:cNvSpPr txBox="1">
            <a:spLocks noGrp="1"/>
          </p:cNvSpPr>
          <p:nvPr>
            <p:ph type="dt" idx="10"/>
          </p:nvPr>
        </p:nvSpPr>
        <p:spPr>
          <a:xfrm>
            <a:off x="5180013" y="0"/>
            <a:ext cx="3962400" cy="34290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r>
              <a:rPr lang="en-GB" sz="1200">
                <a:solidFill>
                  <a:schemeClr val="dk1"/>
                </a:solidFill>
                <a:latin typeface="Calibri"/>
                <a:ea typeface="Calibri"/>
                <a:cs typeface="Calibri"/>
                <a:sym typeface="Calibri"/>
              </a:rPr>
              <a:t>1.7.2013</a:t>
            </a:r>
            <a:endParaRPr/>
          </a:p>
        </p:txBody>
      </p:sp>
      <p:sp>
        <p:nvSpPr>
          <p:cNvPr id="525" name="Google Shape;525;p19:notes"/>
          <p:cNvSpPr>
            <a:spLocks noGrp="1" noRot="1" noChangeAspect="1"/>
          </p:cNvSpPr>
          <p:nvPr>
            <p:ph type="sldImg" idx="3"/>
          </p:nvPr>
        </p:nvSpPr>
        <p:spPr>
          <a:xfrm>
            <a:off x="2290763" y="512763"/>
            <a:ext cx="4562475" cy="25669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26" name="Google Shape;526;p19:notes"/>
          <p:cNvSpPr txBox="1">
            <a:spLocks noGrp="1"/>
          </p:cNvSpPr>
          <p:nvPr>
            <p:ph type="body" idx="1"/>
          </p:nvPr>
        </p:nvSpPr>
        <p:spPr>
          <a:xfrm>
            <a:off x="914400" y="3251200"/>
            <a:ext cx="7315200" cy="3081338"/>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GB"/>
              <a:t>Show video</a:t>
            </a:r>
            <a:endParaRPr/>
          </a:p>
        </p:txBody>
      </p:sp>
      <p:sp>
        <p:nvSpPr>
          <p:cNvPr id="527" name="Google Shape;527;p19:notes"/>
          <p:cNvSpPr txBox="1">
            <a:spLocks noGrp="1"/>
          </p:cNvSpPr>
          <p:nvPr>
            <p:ph type="ftr" idx="11"/>
          </p:nvPr>
        </p:nvSpPr>
        <p:spPr>
          <a:xfrm>
            <a:off x="0" y="6502400"/>
            <a:ext cx="3962400" cy="341313"/>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528" name="Google Shape;528;p19:notes"/>
          <p:cNvSpPr txBox="1">
            <a:spLocks noGrp="1"/>
          </p:cNvSpPr>
          <p:nvPr>
            <p:ph type="sldNum" idx="12"/>
          </p:nvPr>
        </p:nvSpPr>
        <p:spPr>
          <a:xfrm>
            <a:off x="5180013" y="6502400"/>
            <a:ext cx="3962400" cy="341313"/>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r>
              <a:rPr lang="en-GB" sz="1200">
                <a:solidFill>
                  <a:schemeClr val="dk1"/>
                </a:solidFill>
                <a:latin typeface="Calibri"/>
                <a:ea typeface="Calibri"/>
                <a:cs typeface="Calibri"/>
                <a:sym typeface="Calibri"/>
              </a:rPr>
              <a:t>‹#›</a:t>
            </a:r>
            <a:endParaRPr/>
          </a:p>
        </p:txBody>
      </p:sp>
    </p:spTree>
    <p:extLst>
      <p:ext uri="{BB962C8B-B14F-4D97-AF65-F5344CB8AC3E}">
        <p14:creationId xmlns:p14="http://schemas.microsoft.com/office/powerpoint/2010/main" val="67154359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2"/>
        <p:cNvGrpSpPr/>
        <p:nvPr/>
      </p:nvGrpSpPr>
      <p:grpSpPr>
        <a:xfrm>
          <a:off x="0" y="0"/>
          <a:ext cx="0" cy="0"/>
          <a:chOff x="0" y="0"/>
          <a:chExt cx="0" cy="0"/>
        </a:xfrm>
      </p:grpSpPr>
      <p:sp>
        <p:nvSpPr>
          <p:cNvPr id="553" name="Google Shape;553;p20:notes"/>
          <p:cNvSpPr txBox="1">
            <a:spLocks noGrp="1"/>
          </p:cNvSpPr>
          <p:nvPr>
            <p:ph type="hdr" idx="2"/>
          </p:nvPr>
        </p:nvSpPr>
        <p:spPr>
          <a:xfrm>
            <a:off x="0" y="0"/>
            <a:ext cx="3962400" cy="3429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554" name="Google Shape;554;p20:notes"/>
          <p:cNvSpPr txBox="1">
            <a:spLocks noGrp="1"/>
          </p:cNvSpPr>
          <p:nvPr>
            <p:ph type="dt" idx="10"/>
          </p:nvPr>
        </p:nvSpPr>
        <p:spPr>
          <a:xfrm>
            <a:off x="5180013" y="0"/>
            <a:ext cx="3962400" cy="34290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r>
              <a:rPr lang="en-GB" sz="1200">
                <a:solidFill>
                  <a:schemeClr val="dk1"/>
                </a:solidFill>
                <a:latin typeface="Calibri"/>
                <a:ea typeface="Calibri"/>
                <a:cs typeface="Calibri"/>
                <a:sym typeface="Calibri"/>
              </a:rPr>
              <a:t>1.7.2013</a:t>
            </a:r>
            <a:endParaRPr/>
          </a:p>
        </p:txBody>
      </p:sp>
      <p:sp>
        <p:nvSpPr>
          <p:cNvPr id="555" name="Google Shape;555;p20:notes"/>
          <p:cNvSpPr>
            <a:spLocks noGrp="1" noRot="1" noChangeAspect="1"/>
          </p:cNvSpPr>
          <p:nvPr>
            <p:ph type="sldImg" idx="3"/>
          </p:nvPr>
        </p:nvSpPr>
        <p:spPr>
          <a:xfrm>
            <a:off x="2290763" y="512763"/>
            <a:ext cx="4562475" cy="25669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56" name="Google Shape;556;p20:notes"/>
          <p:cNvSpPr txBox="1">
            <a:spLocks noGrp="1"/>
          </p:cNvSpPr>
          <p:nvPr>
            <p:ph type="body" idx="1"/>
          </p:nvPr>
        </p:nvSpPr>
        <p:spPr>
          <a:xfrm>
            <a:off x="914400" y="3251200"/>
            <a:ext cx="7315200" cy="3081338"/>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GB"/>
              <a:t>Show video</a:t>
            </a:r>
            <a:endParaRPr/>
          </a:p>
        </p:txBody>
      </p:sp>
      <p:sp>
        <p:nvSpPr>
          <p:cNvPr id="557" name="Google Shape;557;p20:notes"/>
          <p:cNvSpPr txBox="1">
            <a:spLocks noGrp="1"/>
          </p:cNvSpPr>
          <p:nvPr>
            <p:ph type="ftr" idx="11"/>
          </p:nvPr>
        </p:nvSpPr>
        <p:spPr>
          <a:xfrm>
            <a:off x="0" y="6502400"/>
            <a:ext cx="3962400" cy="341313"/>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558" name="Google Shape;558;p20:notes"/>
          <p:cNvSpPr txBox="1">
            <a:spLocks noGrp="1"/>
          </p:cNvSpPr>
          <p:nvPr>
            <p:ph type="sldNum" idx="12"/>
          </p:nvPr>
        </p:nvSpPr>
        <p:spPr>
          <a:xfrm>
            <a:off x="5180013" y="6502400"/>
            <a:ext cx="3962400" cy="341313"/>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r>
              <a:rPr lang="en-GB" sz="1200">
                <a:solidFill>
                  <a:schemeClr val="dk1"/>
                </a:solidFill>
                <a:latin typeface="Calibri"/>
                <a:ea typeface="Calibri"/>
                <a:cs typeface="Calibri"/>
                <a:sym typeface="Calibri"/>
              </a:rPr>
              <a:t>‹#›</a:t>
            </a:r>
            <a:endParaRPr/>
          </a:p>
        </p:txBody>
      </p:sp>
    </p:spTree>
    <p:extLst>
      <p:ext uri="{BB962C8B-B14F-4D97-AF65-F5344CB8AC3E}">
        <p14:creationId xmlns:p14="http://schemas.microsoft.com/office/powerpoint/2010/main" val="195118330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5"/>
        <p:cNvGrpSpPr/>
        <p:nvPr/>
      </p:nvGrpSpPr>
      <p:grpSpPr>
        <a:xfrm>
          <a:off x="0" y="0"/>
          <a:ext cx="0" cy="0"/>
          <a:chOff x="0" y="0"/>
          <a:chExt cx="0" cy="0"/>
        </a:xfrm>
      </p:grpSpPr>
      <p:sp>
        <p:nvSpPr>
          <p:cNvPr id="576" name="Google Shape;576;p21:notes"/>
          <p:cNvSpPr txBox="1">
            <a:spLocks noGrp="1"/>
          </p:cNvSpPr>
          <p:nvPr>
            <p:ph type="body" idx="1"/>
          </p:nvPr>
        </p:nvSpPr>
        <p:spPr>
          <a:xfrm>
            <a:off x="914400" y="3251200"/>
            <a:ext cx="7315200" cy="3081338"/>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77" name="Google Shape;577;p21:notes"/>
          <p:cNvSpPr>
            <a:spLocks noGrp="1" noRot="1" noChangeAspect="1"/>
          </p:cNvSpPr>
          <p:nvPr>
            <p:ph type="sldImg" idx="2"/>
          </p:nvPr>
        </p:nvSpPr>
        <p:spPr>
          <a:xfrm>
            <a:off x="2290763" y="512763"/>
            <a:ext cx="4562475" cy="2566987"/>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11195735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7"/>
        <p:cNvGrpSpPr/>
        <p:nvPr/>
      </p:nvGrpSpPr>
      <p:grpSpPr>
        <a:xfrm>
          <a:off x="0" y="0"/>
          <a:ext cx="0" cy="0"/>
          <a:chOff x="0" y="0"/>
          <a:chExt cx="0" cy="0"/>
        </a:xfrm>
      </p:grpSpPr>
      <p:sp>
        <p:nvSpPr>
          <p:cNvPr id="598" name="Google Shape;598;p22:notes"/>
          <p:cNvSpPr txBox="1">
            <a:spLocks noGrp="1"/>
          </p:cNvSpPr>
          <p:nvPr>
            <p:ph type="hdr" idx="2"/>
          </p:nvPr>
        </p:nvSpPr>
        <p:spPr>
          <a:xfrm>
            <a:off x="0" y="0"/>
            <a:ext cx="3962400" cy="3429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599" name="Google Shape;599;p22:notes"/>
          <p:cNvSpPr txBox="1">
            <a:spLocks noGrp="1"/>
          </p:cNvSpPr>
          <p:nvPr>
            <p:ph type="dt" idx="10"/>
          </p:nvPr>
        </p:nvSpPr>
        <p:spPr>
          <a:xfrm>
            <a:off x="5180013" y="0"/>
            <a:ext cx="3962400" cy="34290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r>
              <a:rPr lang="en-GB" sz="1200">
                <a:solidFill>
                  <a:schemeClr val="dk1"/>
                </a:solidFill>
                <a:latin typeface="Calibri"/>
                <a:ea typeface="Calibri"/>
                <a:cs typeface="Calibri"/>
                <a:sym typeface="Calibri"/>
              </a:rPr>
              <a:t>1.7.2013</a:t>
            </a:r>
            <a:endParaRPr/>
          </a:p>
        </p:txBody>
      </p:sp>
      <p:sp>
        <p:nvSpPr>
          <p:cNvPr id="600" name="Google Shape;600;p22:notes"/>
          <p:cNvSpPr>
            <a:spLocks noGrp="1" noRot="1" noChangeAspect="1"/>
          </p:cNvSpPr>
          <p:nvPr>
            <p:ph type="sldImg" idx="3"/>
          </p:nvPr>
        </p:nvSpPr>
        <p:spPr>
          <a:xfrm>
            <a:off x="2290763" y="512763"/>
            <a:ext cx="4562475" cy="25669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01" name="Google Shape;601;p22:notes"/>
          <p:cNvSpPr txBox="1">
            <a:spLocks noGrp="1"/>
          </p:cNvSpPr>
          <p:nvPr>
            <p:ph type="body" idx="1"/>
          </p:nvPr>
        </p:nvSpPr>
        <p:spPr>
          <a:xfrm>
            <a:off x="914400" y="3251200"/>
            <a:ext cx="7315200" cy="3081338"/>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GB"/>
              <a:t>Show video</a:t>
            </a:r>
            <a:endParaRPr/>
          </a:p>
        </p:txBody>
      </p:sp>
      <p:sp>
        <p:nvSpPr>
          <p:cNvPr id="602" name="Google Shape;602;p22:notes"/>
          <p:cNvSpPr txBox="1">
            <a:spLocks noGrp="1"/>
          </p:cNvSpPr>
          <p:nvPr>
            <p:ph type="ftr" idx="11"/>
          </p:nvPr>
        </p:nvSpPr>
        <p:spPr>
          <a:xfrm>
            <a:off x="0" y="6502400"/>
            <a:ext cx="3962400" cy="341313"/>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603" name="Google Shape;603;p22:notes"/>
          <p:cNvSpPr txBox="1">
            <a:spLocks noGrp="1"/>
          </p:cNvSpPr>
          <p:nvPr>
            <p:ph type="sldNum" idx="12"/>
          </p:nvPr>
        </p:nvSpPr>
        <p:spPr>
          <a:xfrm>
            <a:off x="5180013" y="6502400"/>
            <a:ext cx="3962400" cy="341313"/>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r>
              <a:rPr lang="en-GB" sz="1200">
                <a:solidFill>
                  <a:schemeClr val="dk1"/>
                </a:solidFill>
                <a:latin typeface="Calibri"/>
                <a:ea typeface="Calibri"/>
                <a:cs typeface="Calibri"/>
                <a:sym typeface="Calibri"/>
              </a:rPr>
              <a:t>‹#›</a:t>
            </a:r>
            <a:endParaRPr/>
          </a:p>
        </p:txBody>
      </p:sp>
    </p:spTree>
    <p:extLst>
      <p:ext uri="{BB962C8B-B14F-4D97-AF65-F5344CB8AC3E}">
        <p14:creationId xmlns:p14="http://schemas.microsoft.com/office/powerpoint/2010/main" val="124159783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6"/>
        <p:cNvGrpSpPr/>
        <p:nvPr/>
      </p:nvGrpSpPr>
      <p:grpSpPr>
        <a:xfrm>
          <a:off x="0" y="0"/>
          <a:ext cx="0" cy="0"/>
          <a:chOff x="0" y="0"/>
          <a:chExt cx="0" cy="0"/>
        </a:xfrm>
      </p:grpSpPr>
      <p:sp>
        <p:nvSpPr>
          <p:cNvPr id="617" name="Google Shape;617;p23:notes"/>
          <p:cNvSpPr txBox="1">
            <a:spLocks noGrp="1"/>
          </p:cNvSpPr>
          <p:nvPr>
            <p:ph type="body" idx="1"/>
          </p:nvPr>
        </p:nvSpPr>
        <p:spPr>
          <a:xfrm>
            <a:off x="914400" y="3251200"/>
            <a:ext cx="7315200" cy="3081338"/>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18" name="Google Shape;618;p23:notes"/>
          <p:cNvSpPr>
            <a:spLocks noGrp="1" noRot="1" noChangeAspect="1"/>
          </p:cNvSpPr>
          <p:nvPr>
            <p:ph type="sldImg" idx="2"/>
          </p:nvPr>
        </p:nvSpPr>
        <p:spPr>
          <a:xfrm>
            <a:off x="2290763" y="512763"/>
            <a:ext cx="4562475" cy="2566987"/>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11179215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7"/>
        <p:cNvGrpSpPr/>
        <p:nvPr/>
      </p:nvGrpSpPr>
      <p:grpSpPr>
        <a:xfrm>
          <a:off x="0" y="0"/>
          <a:ext cx="0" cy="0"/>
          <a:chOff x="0" y="0"/>
          <a:chExt cx="0" cy="0"/>
        </a:xfrm>
      </p:grpSpPr>
      <p:sp>
        <p:nvSpPr>
          <p:cNvPr id="628" name="Google Shape;628;p24:notes"/>
          <p:cNvSpPr txBox="1">
            <a:spLocks noGrp="1"/>
          </p:cNvSpPr>
          <p:nvPr>
            <p:ph type="hdr" idx="2"/>
          </p:nvPr>
        </p:nvSpPr>
        <p:spPr>
          <a:xfrm>
            <a:off x="0" y="0"/>
            <a:ext cx="3962400" cy="3429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629" name="Google Shape;629;p24:notes"/>
          <p:cNvSpPr txBox="1">
            <a:spLocks noGrp="1"/>
          </p:cNvSpPr>
          <p:nvPr>
            <p:ph type="dt" idx="10"/>
          </p:nvPr>
        </p:nvSpPr>
        <p:spPr>
          <a:xfrm>
            <a:off x="5180013" y="0"/>
            <a:ext cx="3962400" cy="34290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r>
              <a:rPr lang="en-GB" sz="1200">
                <a:solidFill>
                  <a:schemeClr val="dk1"/>
                </a:solidFill>
                <a:latin typeface="Calibri"/>
                <a:ea typeface="Calibri"/>
                <a:cs typeface="Calibri"/>
                <a:sym typeface="Calibri"/>
              </a:rPr>
              <a:t>1.7.2013</a:t>
            </a:r>
            <a:endParaRPr/>
          </a:p>
        </p:txBody>
      </p:sp>
      <p:sp>
        <p:nvSpPr>
          <p:cNvPr id="630" name="Google Shape;630;p24:notes"/>
          <p:cNvSpPr>
            <a:spLocks noGrp="1" noRot="1" noChangeAspect="1"/>
          </p:cNvSpPr>
          <p:nvPr>
            <p:ph type="sldImg" idx="3"/>
          </p:nvPr>
        </p:nvSpPr>
        <p:spPr>
          <a:xfrm>
            <a:off x="2290763" y="512763"/>
            <a:ext cx="4562475" cy="25669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31" name="Google Shape;631;p24:notes"/>
          <p:cNvSpPr txBox="1">
            <a:spLocks noGrp="1"/>
          </p:cNvSpPr>
          <p:nvPr>
            <p:ph type="body" idx="1"/>
          </p:nvPr>
        </p:nvSpPr>
        <p:spPr>
          <a:xfrm>
            <a:off x="914400" y="3251200"/>
            <a:ext cx="7315200" cy="3081338"/>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GB"/>
              <a:t>Show video</a:t>
            </a:r>
            <a:endParaRPr/>
          </a:p>
        </p:txBody>
      </p:sp>
      <p:sp>
        <p:nvSpPr>
          <p:cNvPr id="632" name="Google Shape;632;p24:notes"/>
          <p:cNvSpPr txBox="1">
            <a:spLocks noGrp="1"/>
          </p:cNvSpPr>
          <p:nvPr>
            <p:ph type="ftr" idx="11"/>
          </p:nvPr>
        </p:nvSpPr>
        <p:spPr>
          <a:xfrm>
            <a:off x="0" y="6502400"/>
            <a:ext cx="3962400" cy="341313"/>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633" name="Google Shape;633;p24:notes"/>
          <p:cNvSpPr txBox="1">
            <a:spLocks noGrp="1"/>
          </p:cNvSpPr>
          <p:nvPr>
            <p:ph type="sldNum" idx="12"/>
          </p:nvPr>
        </p:nvSpPr>
        <p:spPr>
          <a:xfrm>
            <a:off x="5180013" y="6502400"/>
            <a:ext cx="3962400" cy="341313"/>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r>
              <a:rPr lang="en-GB" sz="1200">
                <a:solidFill>
                  <a:schemeClr val="dk1"/>
                </a:solidFill>
                <a:latin typeface="Calibri"/>
                <a:ea typeface="Calibri"/>
                <a:cs typeface="Calibri"/>
                <a:sym typeface="Calibri"/>
              </a:rPr>
              <a:t>‹#›</a:t>
            </a:r>
            <a:endParaRPr/>
          </a:p>
        </p:txBody>
      </p:sp>
    </p:spTree>
    <p:extLst>
      <p:ext uri="{BB962C8B-B14F-4D97-AF65-F5344CB8AC3E}">
        <p14:creationId xmlns:p14="http://schemas.microsoft.com/office/powerpoint/2010/main" val="349637155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7"/>
        <p:cNvGrpSpPr/>
        <p:nvPr/>
      </p:nvGrpSpPr>
      <p:grpSpPr>
        <a:xfrm>
          <a:off x="0" y="0"/>
          <a:ext cx="0" cy="0"/>
          <a:chOff x="0" y="0"/>
          <a:chExt cx="0" cy="0"/>
        </a:xfrm>
      </p:grpSpPr>
      <p:sp>
        <p:nvSpPr>
          <p:cNvPr id="668" name="Google Shape;668;p25:notes"/>
          <p:cNvSpPr txBox="1">
            <a:spLocks noGrp="1"/>
          </p:cNvSpPr>
          <p:nvPr>
            <p:ph type="hdr" idx="2"/>
          </p:nvPr>
        </p:nvSpPr>
        <p:spPr>
          <a:xfrm>
            <a:off x="0" y="0"/>
            <a:ext cx="3962400" cy="3429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669" name="Google Shape;669;p25:notes"/>
          <p:cNvSpPr txBox="1">
            <a:spLocks noGrp="1"/>
          </p:cNvSpPr>
          <p:nvPr>
            <p:ph type="dt" idx="10"/>
          </p:nvPr>
        </p:nvSpPr>
        <p:spPr>
          <a:xfrm>
            <a:off x="5180013" y="0"/>
            <a:ext cx="3962400" cy="34290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r>
              <a:rPr lang="en-GB" sz="1200">
                <a:solidFill>
                  <a:schemeClr val="dk1"/>
                </a:solidFill>
                <a:latin typeface="Calibri"/>
                <a:ea typeface="Calibri"/>
                <a:cs typeface="Calibri"/>
                <a:sym typeface="Calibri"/>
              </a:rPr>
              <a:t>1.7.2013</a:t>
            </a:r>
            <a:endParaRPr/>
          </a:p>
        </p:txBody>
      </p:sp>
      <p:sp>
        <p:nvSpPr>
          <p:cNvPr id="670" name="Google Shape;670;p25:notes"/>
          <p:cNvSpPr>
            <a:spLocks noGrp="1" noRot="1" noChangeAspect="1"/>
          </p:cNvSpPr>
          <p:nvPr>
            <p:ph type="sldImg" idx="3"/>
          </p:nvPr>
        </p:nvSpPr>
        <p:spPr>
          <a:xfrm>
            <a:off x="2290763" y="512763"/>
            <a:ext cx="4562475" cy="25669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71" name="Google Shape;671;p25:notes"/>
          <p:cNvSpPr txBox="1">
            <a:spLocks noGrp="1"/>
          </p:cNvSpPr>
          <p:nvPr>
            <p:ph type="body" idx="1"/>
          </p:nvPr>
        </p:nvSpPr>
        <p:spPr>
          <a:xfrm>
            <a:off x="914400" y="3251200"/>
            <a:ext cx="7315200" cy="3081338"/>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GB"/>
              <a:t>Show video</a:t>
            </a:r>
            <a:endParaRPr/>
          </a:p>
        </p:txBody>
      </p:sp>
      <p:sp>
        <p:nvSpPr>
          <p:cNvPr id="672" name="Google Shape;672;p25:notes"/>
          <p:cNvSpPr txBox="1">
            <a:spLocks noGrp="1"/>
          </p:cNvSpPr>
          <p:nvPr>
            <p:ph type="ftr" idx="11"/>
          </p:nvPr>
        </p:nvSpPr>
        <p:spPr>
          <a:xfrm>
            <a:off x="0" y="6502400"/>
            <a:ext cx="3962400" cy="341313"/>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673" name="Google Shape;673;p25:notes"/>
          <p:cNvSpPr txBox="1">
            <a:spLocks noGrp="1"/>
          </p:cNvSpPr>
          <p:nvPr>
            <p:ph type="sldNum" idx="12"/>
          </p:nvPr>
        </p:nvSpPr>
        <p:spPr>
          <a:xfrm>
            <a:off x="5180013" y="6502400"/>
            <a:ext cx="3962400" cy="341313"/>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r>
              <a:rPr lang="en-GB" sz="1200">
                <a:solidFill>
                  <a:schemeClr val="dk1"/>
                </a:solidFill>
                <a:latin typeface="Calibri"/>
                <a:ea typeface="Calibri"/>
                <a:cs typeface="Calibri"/>
                <a:sym typeface="Calibri"/>
              </a:rPr>
              <a:t>‹#›</a:t>
            </a:r>
            <a:endParaRPr/>
          </a:p>
        </p:txBody>
      </p:sp>
    </p:spTree>
    <p:extLst>
      <p:ext uri="{BB962C8B-B14F-4D97-AF65-F5344CB8AC3E}">
        <p14:creationId xmlns:p14="http://schemas.microsoft.com/office/powerpoint/2010/main" val="84756543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1"/>
        <p:cNvGrpSpPr/>
        <p:nvPr/>
      </p:nvGrpSpPr>
      <p:grpSpPr>
        <a:xfrm>
          <a:off x="0" y="0"/>
          <a:ext cx="0" cy="0"/>
          <a:chOff x="0" y="0"/>
          <a:chExt cx="0" cy="0"/>
        </a:xfrm>
      </p:grpSpPr>
      <p:sp>
        <p:nvSpPr>
          <p:cNvPr id="702" name="Google Shape;702;p26:notes"/>
          <p:cNvSpPr txBox="1">
            <a:spLocks noGrp="1"/>
          </p:cNvSpPr>
          <p:nvPr>
            <p:ph type="body" idx="1"/>
          </p:nvPr>
        </p:nvSpPr>
        <p:spPr>
          <a:xfrm>
            <a:off x="914400" y="3251200"/>
            <a:ext cx="7315200" cy="3081338"/>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03" name="Google Shape;703;p26:notes"/>
          <p:cNvSpPr>
            <a:spLocks noGrp="1" noRot="1" noChangeAspect="1"/>
          </p:cNvSpPr>
          <p:nvPr>
            <p:ph type="sldImg" idx="2"/>
          </p:nvPr>
        </p:nvSpPr>
        <p:spPr>
          <a:xfrm>
            <a:off x="2290763" y="512763"/>
            <a:ext cx="4562475" cy="2566987"/>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9988045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6"/>
        <p:cNvGrpSpPr/>
        <p:nvPr/>
      </p:nvGrpSpPr>
      <p:grpSpPr>
        <a:xfrm>
          <a:off x="0" y="0"/>
          <a:ext cx="0" cy="0"/>
          <a:chOff x="0" y="0"/>
          <a:chExt cx="0" cy="0"/>
        </a:xfrm>
      </p:grpSpPr>
      <p:sp>
        <p:nvSpPr>
          <p:cNvPr id="727" name="Google Shape;727;p27:notes"/>
          <p:cNvSpPr txBox="1">
            <a:spLocks noGrp="1"/>
          </p:cNvSpPr>
          <p:nvPr>
            <p:ph type="hdr" idx="2"/>
          </p:nvPr>
        </p:nvSpPr>
        <p:spPr>
          <a:xfrm>
            <a:off x="0" y="0"/>
            <a:ext cx="3962400" cy="3429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728" name="Google Shape;728;p27:notes"/>
          <p:cNvSpPr txBox="1">
            <a:spLocks noGrp="1"/>
          </p:cNvSpPr>
          <p:nvPr>
            <p:ph type="dt" idx="10"/>
          </p:nvPr>
        </p:nvSpPr>
        <p:spPr>
          <a:xfrm>
            <a:off x="5180013" y="0"/>
            <a:ext cx="3962400" cy="34290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r>
              <a:rPr lang="en-GB" sz="1200">
                <a:solidFill>
                  <a:schemeClr val="dk1"/>
                </a:solidFill>
                <a:latin typeface="Calibri"/>
                <a:ea typeface="Calibri"/>
                <a:cs typeface="Calibri"/>
                <a:sym typeface="Calibri"/>
              </a:rPr>
              <a:t>1.7.2013</a:t>
            </a:r>
            <a:endParaRPr/>
          </a:p>
        </p:txBody>
      </p:sp>
      <p:sp>
        <p:nvSpPr>
          <p:cNvPr id="729" name="Google Shape;729;p27:notes"/>
          <p:cNvSpPr>
            <a:spLocks noGrp="1" noRot="1" noChangeAspect="1"/>
          </p:cNvSpPr>
          <p:nvPr>
            <p:ph type="sldImg" idx="3"/>
          </p:nvPr>
        </p:nvSpPr>
        <p:spPr>
          <a:xfrm>
            <a:off x="2290763" y="512763"/>
            <a:ext cx="4562475" cy="25669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30" name="Google Shape;730;p27:notes"/>
          <p:cNvSpPr txBox="1">
            <a:spLocks noGrp="1"/>
          </p:cNvSpPr>
          <p:nvPr>
            <p:ph type="body" idx="1"/>
          </p:nvPr>
        </p:nvSpPr>
        <p:spPr>
          <a:xfrm>
            <a:off x="914400" y="3251200"/>
            <a:ext cx="7315200" cy="3081338"/>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GB"/>
              <a:t>Show video</a:t>
            </a:r>
            <a:endParaRPr/>
          </a:p>
        </p:txBody>
      </p:sp>
      <p:sp>
        <p:nvSpPr>
          <p:cNvPr id="731" name="Google Shape;731;p27:notes"/>
          <p:cNvSpPr txBox="1">
            <a:spLocks noGrp="1"/>
          </p:cNvSpPr>
          <p:nvPr>
            <p:ph type="ftr" idx="11"/>
          </p:nvPr>
        </p:nvSpPr>
        <p:spPr>
          <a:xfrm>
            <a:off x="0" y="6502400"/>
            <a:ext cx="3962400" cy="341313"/>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732" name="Google Shape;732;p27:notes"/>
          <p:cNvSpPr txBox="1">
            <a:spLocks noGrp="1"/>
          </p:cNvSpPr>
          <p:nvPr>
            <p:ph type="sldNum" idx="12"/>
          </p:nvPr>
        </p:nvSpPr>
        <p:spPr>
          <a:xfrm>
            <a:off x="5180013" y="6502400"/>
            <a:ext cx="3962400" cy="341313"/>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r>
              <a:rPr lang="en-GB" sz="1200">
                <a:solidFill>
                  <a:schemeClr val="dk1"/>
                </a:solidFill>
                <a:latin typeface="Calibri"/>
                <a:ea typeface="Calibri"/>
                <a:cs typeface="Calibri"/>
                <a:sym typeface="Calibri"/>
              </a:rPr>
              <a:t>‹#›</a:t>
            </a:r>
            <a:endParaRPr/>
          </a:p>
        </p:txBody>
      </p:sp>
    </p:spTree>
    <p:extLst>
      <p:ext uri="{BB962C8B-B14F-4D97-AF65-F5344CB8AC3E}">
        <p14:creationId xmlns:p14="http://schemas.microsoft.com/office/powerpoint/2010/main" val="117319856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4"/>
        <p:cNvGrpSpPr/>
        <p:nvPr/>
      </p:nvGrpSpPr>
      <p:grpSpPr>
        <a:xfrm>
          <a:off x="0" y="0"/>
          <a:ext cx="0" cy="0"/>
          <a:chOff x="0" y="0"/>
          <a:chExt cx="0" cy="0"/>
        </a:xfrm>
      </p:grpSpPr>
      <p:sp>
        <p:nvSpPr>
          <p:cNvPr id="765" name="Google Shape;765;p28:notes"/>
          <p:cNvSpPr txBox="1">
            <a:spLocks noGrp="1"/>
          </p:cNvSpPr>
          <p:nvPr>
            <p:ph type="body" idx="1"/>
          </p:nvPr>
        </p:nvSpPr>
        <p:spPr>
          <a:xfrm>
            <a:off x="914400" y="3251200"/>
            <a:ext cx="7315200" cy="3081338"/>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66" name="Google Shape;766;p28:notes"/>
          <p:cNvSpPr>
            <a:spLocks noGrp="1" noRot="1" noChangeAspect="1"/>
          </p:cNvSpPr>
          <p:nvPr>
            <p:ph type="sldImg" idx="2"/>
          </p:nvPr>
        </p:nvSpPr>
        <p:spPr>
          <a:xfrm>
            <a:off x="2290763" y="512763"/>
            <a:ext cx="4562475" cy="2566987"/>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16346467"/>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5"/>
        <p:cNvGrpSpPr/>
        <p:nvPr/>
      </p:nvGrpSpPr>
      <p:grpSpPr>
        <a:xfrm>
          <a:off x="0" y="0"/>
          <a:ext cx="0" cy="0"/>
          <a:chOff x="0" y="0"/>
          <a:chExt cx="0" cy="0"/>
        </a:xfrm>
      </p:grpSpPr>
      <p:sp>
        <p:nvSpPr>
          <p:cNvPr id="776" name="Google Shape;776;p29:notes"/>
          <p:cNvSpPr txBox="1">
            <a:spLocks noGrp="1"/>
          </p:cNvSpPr>
          <p:nvPr>
            <p:ph type="body" idx="1"/>
          </p:nvPr>
        </p:nvSpPr>
        <p:spPr>
          <a:xfrm>
            <a:off x="914400" y="3251200"/>
            <a:ext cx="7315200" cy="3081338"/>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77" name="Google Shape;777;p29:notes"/>
          <p:cNvSpPr>
            <a:spLocks noGrp="1" noRot="1" noChangeAspect="1"/>
          </p:cNvSpPr>
          <p:nvPr>
            <p:ph type="sldImg" idx="2"/>
          </p:nvPr>
        </p:nvSpPr>
        <p:spPr>
          <a:xfrm>
            <a:off x="2290763" y="512763"/>
            <a:ext cx="4562475" cy="2566987"/>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9443833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5"/>
        <p:cNvGrpSpPr/>
        <p:nvPr/>
      </p:nvGrpSpPr>
      <p:grpSpPr>
        <a:xfrm>
          <a:off x="0" y="0"/>
          <a:ext cx="0" cy="0"/>
          <a:chOff x="0" y="0"/>
          <a:chExt cx="0" cy="0"/>
        </a:xfrm>
      </p:grpSpPr>
      <p:sp>
        <p:nvSpPr>
          <p:cNvPr id="16" name="Google Shape;16;p3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7" name="Google Shape;17;p3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8" name="Google Shape;18;p3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9"/>
        <p:cNvGrpSpPr/>
        <p:nvPr/>
      </p:nvGrpSpPr>
      <p:grpSpPr>
        <a:xfrm>
          <a:off x="0" y="0"/>
          <a:ext cx="0" cy="0"/>
          <a:chOff x="0" y="0"/>
          <a:chExt cx="0" cy="0"/>
        </a:xfrm>
      </p:grpSpPr>
      <p:sp>
        <p:nvSpPr>
          <p:cNvPr id="20" name="Google Shape;20;p32"/>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1" name="Google Shape;21;p32"/>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a:endParaRPr/>
          </a:p>
        </p:txBody>
      </p:sp>
      <p:sp>
        <p:nvSpPr>
          <p:cNvPr id="22" name="Google Shape;22;p3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3" name="Google Shape;23;p3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4" name="Google Shape;24;p3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5"/>
        <p:cNvGrpSpPr/>
        <p:nvPr/>
      </p:nvGrpSpPr>
      <p:grpSpPr>
        <a:xfrm>
          <a:off x="0" y="0"/>
          <a:ext cx="0" cy="0"/>
          <a:chOff x="0" y="0"/>
          <a:chExt cx="0" cy="0"/>
        </a:xfrm>
      </p:grpSpPr>
      <p:sp>
        <p:nvSpPr>
          <p:cNvPr id="26" name="Google Shape;26;p33"/>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7" name="Google Shape;27;p33"/>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8" name="Google Shape;28;p3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9" name="Google Shape;29;p3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0" name="Google Shape;30;p3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31"/>
        <p:cNvGrpSpPr/>
        <p:nvPr/>
      </p:nvGrpSpPr>
      <p:grpSpPr>
        <a:xfrm>
          <a:off x="0" y="0"/>
          <a:ext cx="0" cy="0"/>
          <a:chOff x="0" y="0"/>
          <a:chExt cx="0" cy="0"/>
        </a:xfrm>
      </p:grpSpPr>
      <p:sp>
        <p:nvSpPr>
          <p:cNvPr id="32" name="Google Shape;32;p34"/>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dk1"/>
              </a:buClr>
              <a:buSzPts val="4000"/>
              <a:buFont typeface="Calibri"/>
              <a:buNone/>
              <a:defRPr sz="40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3" name="Google Shape;33;p34"/>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rmAutofit/>
          </a:bodyPr>
          <a:lstStyle>
            <a:lvl1pPr marL="457200" lvl="0" indent="-228600" algn="l">
              <a:spcBef>
                <a:spcPts val="400"/>
              </a:spcBef>
              <a:spcAft>
                <a:spcPts val="0"/>
              </a:spcAft>
              <a:buClr>
                <a:srgbClr val="888888"/>
              </a:buClr>
              <a:buSzPts val="2000"/>
              <a:buNone/>
              <a:defRPr sz="2000">
                <a:solidFill>
                  <a:srgbClr val="888888"/>
                </a:solidFill>
              </a:defRPr>
            </a:lvl1pPr>
            <a:lvl2pPr marL="914400" lvl="1" indent="-228600" algn="l">
              <a:spcBef>
                <a:spcPts val="360"/>
              </a:spcBef>
              <a:spcAft>
                <a:spcPts val="0"/>
              </a:spcAft>
              <a:buClr>
                <a:srgbClr val="888888"/>
              </a:buClr>
              <a:buSzPts val="1800"/>
              <a:buNone/>
              <a:defRPr sz="1800">
                <a:solidFill>
                  <a:srgbClr val="888888"/>
                </a:solidFill>
              </a:defRPr>
            </a:lvl2pPr>
            <a:lvl3pPr marL="1371600" lvl="2" indent="-228600" algn="l">
              <a:spcBef>
                <a:spcPts val="320"/>
              </a:spcBef>
              <a:spcAft>
                <a:spcPts val="0"/>
              </a:spcAft>
              <a:buClr>
                <a:srgbClr val="888888"/>
              </a:buClr>
              <a:buSzPts val="1600"/>
              <a:buNone/>
              <a:defRPr sz="1600">
                <a:solidFill>
                  <a:srgbClr val="888888"/>
                </a:solidFill>
              </a:defRPr>
            </a:lvl3pPr>
            <a:lvl4pPr marL="1828800" lvl="3" indent="-228600" algn="l">
              <a:spcBef>
                <a:spcPts val="280"/>
              </a:spcBef>
              <a:spcAft>
                <a:spcPts val="0"/>
              </a:spcAft>
              <a:buClr>
                <a:srgbClr val="888888"/>
              </a:buClr>
              <a:buSzPts val="1400"/>
              <a:buNone/>
              <a:defRPr sz="1400">
                <a:solidFill>
                  <a:srgbClr val="888888"/>
                </a:solidFill>
              </a:defRPr>
            </a:lvl4pPr>
            <a:lvl5pPr marL="2286000" lvl="4" indent="-228600" algn="l">
              <a:spcBef>
                <a:spcPts val="280"/>
              </a:spcBef>
              <a:spcAft>
                <a:spcPts val="0"/>
              </a:spcAft>
              <a:buClr>
                <a:srgbClr val="888888"/>
              </a:buClr>
              <a:buSzPts val="1400"/>
              <a:buNone/>
              <a:defRPr sz="1400">
                <a:solidFill>
                  <a:srgbClr val="888888"/>
                </a:solidFill>
              </a:defRPr>
            </a:lvl5pPr>
            <a:lvl6pPr marL="2743200" lvl="5" indent="-228600" algn="l">
              <a:spcBef>
                <a:spcPts val="280"/>
              </a:spcBef>
              <a:spcAft>
                <a:spcPts val="0"/>
              </a:spcAft>
              <a:buClr>
                <a:srgbClr val="888888"/>
              </a:buClr>
              <a:buSzPts val="1400"/>
              <a:buNone/>
              <a:defRPr sz="1400">
                <a:solidFill>
                  <a:srgbClr val="888888"/>
                </a:solidFill>
              </a:defRPr>
            </a:lvl6pPr>
            <a:lvl7pPr marL="3200400" lvl="6" indent="-228600" algn="l">
              <a:spcBef>
                <a:spcPts val="280"/>
              </a:spcBef>
              <a:spcAft>
                <a:spcPts val="0"/>
              </a:spcAft>
              <a:buClr>
                <a:srgbClr val="888888"/>
              </a:buClr>
              <a:buSzPts val="1400"/>
              <a:buNone/>
              <a:defRPr sz="1400">
                <a:solidFill>
                  <a:srgbClr val="888888"/>
                </a:solidFill>
              </a:defRPr>
            </a:lvl7pPr>
            <a:lvl8pPr marL="3657600" lvl="7" indent="-228600" algn="l">
              <a:spcBef>
                <a:spcPts val="280"/>
              </a:spcBef>
              <a:spcAft>
                <a:spcPts val="0"/>
              </a:spcAft>
              <a:buClr>
                <a:srgbClr val="888888"/>
              </a:buClr>
              <a:buSzPts val="1400"/>
              <a:buNone/>
              <a:defRPr sz="1400">
                <a:solidFill>
                  <a:srgbClr val="888888"/>
                </a:solidFill>
              </a:defRPr>
            </a:lvl8pPr>
            <a:lvl9pPr marL="4114800" lvl="8" indent="-228600" algn="l">
              <a:spcBef>
                <a:spcPts val="280"/>
              </a:spcBef>
              <a:spcAft>
                <a:spcPts val="0"/>
              </a:spcAft>
              <a:buClr>
                <a:srgbClr val="888888"/>
              </a:buClr>
              <a:buSzPts val="1400"/>
              <a:buNone/>
              <a:defRPr sz="1400">
                <a:solidFill>
                  <a:srgbClr val="888888"/>
                </a:solidFill>
              </a:defRPr>
            </a:lvl9pPr>
          </a:lstStyle>
          <a:p>
            <a:endParaRPr/>
          </a:p>
        </p:txBody>
      </p:sp>
      <p:sp>
        <p:nvSpPr>
          <p:cNvPr id="34" name="Google Shape;34;p3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3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6" name="Google Shape;36;p3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7"/>
        <p:cNvGrpSpPr/>
        <p:nvPr/>
      </p:nvGrpSpPr>
      <p:grpSpPr>
        <a:xfrm>
          <a:off x="0" y="0"/>
          <a:ext cx="0" cy="0"/>
          <a:chOff x="0" y="0"/>
          <a:chExt cx="0" cy="0"/>
        </a:xfrm>
      </p:grpSpPr>
      <p:sp>
        <p:nvSpPr>
          <p:cNvPr id="38" name="Google Shape;38;p35"/>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9" name="Google Shape;39;p35"/>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40" name="Google Shape;40;p35"/>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41" name="Google Shape;41;p3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2" name="Google Shape;42;p3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3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4"/>
        <p:cNvGrpSpPr/>
        <p:nvPr/>
      </p:nvGrpSpPr>
      <p:grpSpPr>
        <a:xfrm>
          <a:off x="0" y="0"/>
          <a:ext cx="0" cy="0"/>
          <a:chOff x="0" y="0"/>
          <a:chExt cx="0" cy="0"/>
        </a:xfrm>
      </p:grpSpPr>
      <p:sp>
        <p:nvSpPr>
          <p:cNvPr id="45" name="Google Shape;45;p3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6" name="Google Shape;46;p36"/>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7" name="Google Shape;47;p36"/>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8" name="Google Shape;48;p36"/>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9" name="Google Shape;49;p36"/>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50" name="Google Shape;50;p3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1" name="Google Shape;51;p3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3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3"/>
        <p:cNvGrpSpPr/>
        <p:nvPr/>
      </p:nvGrpSpPr>
      <p:grpSpPr>
        <a:xfrm>
          <a:off x="0" y="0"/>
          <a:ext cx="0" cy="0"/>
          <a:chOff x="0" y="0"/>
          <a:chExt cx="0" cy="0"/>
        </a:xfrm>
      </p:grpSpPr>
      <p:sp>
        <p:nvSpPr>
          <p:cNvPr id="54" name="Google Shape;54;p3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5" name="Google Shape;55;p3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6" name="Google Shape;56;p3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7" name="Google Shape;57;p3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8"/>
        <p:cNvGrpSpPr/>
        <p:nvPr/>
      </p:nvGrpSpPr>
      <p:grpSpPr>
        <a:xfrm>
          <a:off x="0" y="0"/>
          <a:ext cx="0" cy="0"/>
          <a:chOff x="0" y="0"/>
          <a:chExt cx="0" cy="0"/>
        </a:xfrm>
      </p:grpSpPr>
      <p:sp>
        <p:nvSpPr>
          <p:cNvPr id="59" name="Google Shape;59;p38"/>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0" name="Google Shape;60;p38"/>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rm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a:endParaRPr/>
          </a:p>
        </p:txBody>
      </p:sp>
      <p:sp>
        <p:nvSpPr>
          <p:cNvPr id="61" name="Google Shape;61;p38"/>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62" name="Google Shape;62;p3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3" name="Google Shape;63;p3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4" name="Google Shape;64;p3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5"/>
        <p:cNvGrpSpPr/>
        <p:nvPr/>
      </p:nvGrpSpPr>
      <p:grpSpPr>
        <a:xfrm>
          <a:off x="0" y="0"/>
          <a:ext cx="0" cy="0"/>
          <a:chOff x="0" y="0"/>
          <a:chExt cx="0" cy="0"/>
        </a:xfrm>
      </p:grpSpPr>
      <p:sp>
        <p:nvSpPr>
          <p:cNvPr id="66" name="Google Shape;66;p39"/>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7" name="Google Shape;67;p39"/>
          <p:cNvSpPr>
            <a:spLocks noGrp="1"/>
          </p:cNvSpPr>
          <p:nvPr>
            <p:ph type="pic" idx="2"/>
          </p:nvPr>
        </p:nvSpPr>
        <p:spPr>
          <a:xfrm>
            <a:off x="1792288" y="612775"/>
            <a:ext cx="5486400" cy="4114800"/>
          </a:xfrm>
          <a:prstGeom prst="rect">
            <a:avLst/>
          </a:prstGeom>
          <a:noFill/>
          <a:ln>
            <a:noFill/>
          </a:ln>
        </p:spPr>
      </p:sp>
      <p:sp>
        <p:nvSpPr>
          <p:cNvPr id="68" name="Google Shape;68;p39"/>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69" name="Google Shape;69;p3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0" name="Google Shape;70;p3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1" name="Google Shape;71;p3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2"/>
        <p:cNvGrpSpPr/>
        <p:nvPr/>
      </p:nvGrpSpPr>
      <p:grpSpPr>
        <a:xfrm>
          <a:off x="0" y="0"/>
          <a:ext cx="0" cy="0"/>
          <a:chOff x="0" y="0"/>
          <a:chExt cx="0" cy="0"/>
        </a:xfrm>
      </p:grpSpPr>
      <p:sp>
        <p:nvSpPr>
          <p:cNvPr id="73" name="Google Shape;73;p40"/>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4" name="Google Shape;74;p40"/>
          <p:cNvSpPr txBox="1">
            <a:spLocks noGrp="1"/>
          </p:cNvSpPr>
          <p:nvPr>
            <p:ph type="body" idx="1"/>
          </p:nvPr>
        </p:nvSpPr>
        <p:spPr>
          <a:xfrm rot="5400000">
            <a:off x="2309019" y="-251618"/>
            <a:ext cx="4525963" cy="82296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5" name="Google Shape;75;p4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6" name="Google Shape;76;p4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7" name="Google Shape;77;p4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8"/>
        <p:cNvGrpSpPr/>
        <p:nvPr/>
      </p:nvGrpSpPr>
      <p:grpSpPr>
        <a:xfrm>
          <a:off x="0" y="0"/>
          <a:ext cx="0" cy="0"/>
          <a:chOff x="0" y="0"/>
          <a:chExt cx="0" cy="0"/>
        </a:xfrm>
      </p:grpSpPr>
      <p:sp>
        <p:nvSpPr>
          <p:cNvPr id="79" name="Google Shape;79;p41"/>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0" name="Google Shape;80;p41"/>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81" name="Google Shape;81;p4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2" name="Google Shape;82;p4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3" name="Google Shape;83;p4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30"/>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marR="0" lvl="0" algn="ctr" rtl="0">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30"/>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12" name="Google Shape;12;p3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3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3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GB"/>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xml"/><Relationship Id="rId5" Type="http://schemas.openxmlformats.org/officeDocument/2006/relationships/image" Target="../media/image8.png"/><Relationship Id="rId4" Type="http://schemas.openxmlformats.org/officeDocument/2006/relationships/image" Target="../media/image2.png"/></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2.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3.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5.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6.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2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7.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2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8.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2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Shape 87"/>
        <p:cNvGrpSpPr/>
        <p:nvPr/>
      </p:nvGrpSpPr>
      <p:grpSpPr>
        <a:xfrm>
          <a:off x="0" y="0"/>
          <a:ext cx="0" cy="0"/>
          <a:chOff x="0" y="0"/>
          <a:chExt cx="0" cy="0"/>
        </a:xfrm>
      </p:grpSpPr>
      <p:sp>
        <p:nvSpPr>
          <p:cNvPr id="88" name="Google Shape;88;p1"/>
          <p:cNvSpPr txBox="1"/>
          <p:nvPr/>
        </p:nvSpPr>
        <p:spPr>
          <a:xfrm>
            <a:off x="2167318" y="2218103"/>
            <a:ext cx="13953361" cy="2539157"/>
          </a:xfrm>
          <a:prstGeom prst="rect">
            <a:avLst/>
          </a:prstGeom>
          <a:noFill/>
          <a:ln>
            <a:noFill/>
          </a:ln>
        </p:spPr>
        <p:txBody>
          <a:bodyPr spcFirstLastPara="1" wrap="square" lIns="0" tIns="0" rIns="0" bIns="0" anchor="t" anchorCtr="0">
            <a:spAutoFit/>
          </a:bodyPr>
          <a:lstStyle/>
          <a:p>
            <a:pPr marL="0" marR="0" lvl="0" indent="0" algn="ctr" rtl="0">
              <a:lnSpc>
                <a:spcPct val="110001"/>
              </a:lnSpc>
              <a:spcBef>
                <a:spcPts val="0"/>
              </a:spcBef>
              <a:spcAft>
                <a:spcPts val="0"/>
              </a:spcAft>
              <a:buNone/>
            </a:pPr>
            <a:r>
              <a:rPr lang="en-GB" sz="8999" b="1" i="0" u="none" strike="noStrike" cap="none">
                <a:solidFill>
                  <a:srgbClr val="1C2120"/>
                </a:solidFill>
                <a:latin typeface="Montserrat"/>
                <a:ea typeface="Montserrat"/>
                <a:cs typeface="Montserrat"/>
                <a:sym typeface="Montserrat"/>
              </a:rPr>
              <a:t>SME Development Division</a:t>
            </a:r>
            <a:endParaRPr/>
          </a:p>
        </p:txBody>
      </p:sp>
      <p:sp>
        <p:nvSpPr>
          <p:cNvPr id="89" name="Google Shape;89;p1"/>
          <p:cNvSpPr txBox="1"/>
          <p:nvPr/>
        </p:nvSpPr>
        <p:spPr>
          <a:xfrm>
            <a:off x="2872169" y="4869707"/>
            <a:ext cx="14096999" cy="1269578"/>
          </a:xfrm>
          <a:prstGeom prst="rect">
            <a:avLst/>
          </a:prstGeom>
          <a:noFill/>
          <a:ln>
            <a:noFill/>
          </a:ln>
        </p:spPr>
        <p:txBody>
          <a:bodyPr spcFirstLastPara="1" wrap="square" lIns="0" tIns="0" rIns="0" bIns="0" anchor="t" anchorCtr="0">
            <a:spAutoFit/>
          </a:bodyPr>
          <a:lstStyle/>
          <a:p>
            <a:pPr marL="0" marR="0" lvl="0" indent="0" algn="l" rtl="0">
              <a:lnSpc>
                <a:spcPct val="110001"/>
              </a:lnSpc>
              <a:spcBef>
                <a:spcPts val="0"/>
              </a:spcBef>
              <a:spcAft>
                <a:spcPts val="0"/>
              </a:spcAft>
              <a:buNone/>
            </a:pPr>
            <a:r>
              <a:rPr lang="en-GB" sz="8999" b="1" i="0" u="none" strike="noStrike" cap="none">
                <a:solidFill>
                  <a:srgbClr val="1C2120"/>
                </a:solidFill>
                <a:latin typeface="Montserrat"/>
                <a:ea typeface="Montserrat"/>
                <a:cs typeface="Montserrat"/>
                <a:sym typeface="Montserrat"/>
              </a:rPr>
              <a:t>2023 Accomplishments</a:t>
            </a:r>
            <a:endParaRPr sz="8999" b="1" i="0" u="none" strike="noStrike" cap="none">
              <a:solidFill>
                <a:srgbClr val="1C2120"/>
              </a:solidFill>
              <a:latin typeface="Montserrat"/>
              <a:ea typeface="Montserrat"/>
              <a:cs typeface="Montserrat"/>
              <a:sym typeface="Montserrat"/>
            </a:endParaRPr>
          </a:p>
        </p:txBody>
      </p:sp>
      <p:sp>
        <p:nvSpPr>
          <p:cNvPr id="90" name="Google Shape;90;p1"/>
          <p:cNvSpPr txBox="1"/>
          <p:nvPr/>
        </p:nvSpPr>
        <p:spPr>
          <a:xfrm>
            <a:off x="3614526" y="6057900"/>
            <a:ext cx="11058944" cy="521361"/>
          </a:xfrm>
          <a:prstGeom prst="rect">
            <a:avLst/>
          </a:prstGeom>
          <a:noFill/>
          <a:ln>
            <a:noFill/>
          </a:ln>
        </p:spPr>
        <p:txBody>
          <a:bodyPr spcFirstLastPara="1" wrap="square" lIns="0" tIns="0" rIns="0" bIns="0" anchor="t" anchorCtr="0">
            <a:spAutoFit/>
          </a:bodyPr>
          <a:lstStyle/>
          <a:p>
            <a:pPr marL="0" marR="0" lvl="0" indent="0" algn="ctr" rtl="0">
              <a:lnSpc>
                <a:spcPct val="198040"/>
              </a:lnSpc>
              <a:spcBef>
                <a:spcPts val="0"/>
              </a:spcBef>
              <a:spcAft>
                <a:spcPts val="0"/>
              </a:spcAft>
              <a:buNone/>
            </a:pPr>
            <a:r>
              <a:rPr lang="en-GB" sz="2399" b="0" i="0" u="none" strike="noStrike" cap="none">
                <a:solidFill>
                  <a:srgbClr val="1C2120"/>
                </a:solidFill>
                <a:latin typeface="Montserrat"/>
                <a:ea typeface="Montserrat"/>
                <a:cs typeface="Montserrat"/>
                <a:sym typeface="Montserrat"/>
              </a:rPr>
              <a:t>Level 0 Planning </a:t>
            </a:r>
            <a:endParaRPr sz="2399" b="0" i="0" u="none" strike="noStrike" cap="none">
              <a:solidFill>
                <a:srgbClr val="1C2120"/>
              </a:solidFill>
              <a:latin typeface="Montserrat"/>
              <a:ea typeface="Montserrat"/>
              <a:cs typeface="Montserrat"/>
              <a:sym typeface="Montserrat"/>
            </a:endParaRPr>
          </a:p>
        </p:txBody>
      </p:sp>
      <p:sp>
        <p:nvSpPr>
          <p:cNvPr id="91" name="Google Shape;91;p1"/>
          <p:cNvSpPr/>
          <p:nvPr/>
        </p:nvSpPr>
        <p:spPr>
          <a:xfrm>
            <a:off x="1028700" y="453061"/>
            <a:ext cx="1553339" cy="1518126"/>
          </a:xfrm>
          <a:custGeom>
            <a:avLst/>
            <a:gdLst/>
            <a:ahLst/>
            <a:cxnLst/>
            <a:rect l="l" t="t" r="r" b="b"/>
            <a:pathLst>
              <a:path w="1553339" h="1518126" extrusionOk="0">
                <a:moveTo>
                  <a:pt x="0" y="0"/>
                </a:moveTo>
                <a:lnTo>
                  <a:pt x="1553339" y="0"/>
                </a:lnTo>
                <a:lnTo>
                  <a:pt x="1553339" y="1518126"/>
                </a:lnTo>
                <a:lnTo>
                  <a:pt x="0" y="1518126"/>
                </a:lnTo>
                <a:lnTo>
                  <a:pt x="0" y="0"/>
                </a:lnTo>
                <a:close/>
              </a:path>
            </a:pathLst>
          </a:custGeom>
          <a:blipFill rotWithShape="1">
            <a:blip r:embed="rId3">
              <a:alphaModFix/>
            </a:blip>
            <a:stretch>
              <a:fillRect l="-31436" t="-10272" r="-26916" b="-57554"/>
            </a:stretch>
          </a:blipFill>
          <a:ln>
            <a:noFill/>
          </a:ln>
        </p:spPr>
      </p:sp>
      <p:sp>
        <p:nvSpPr>
          <p:cNvPr id="92" name="Google Shape;92;p1"/>
          <p:cNvSpPr/>
          <p:nvPr/>
        </p:nvSpPr>
        <p:spPr>
          <a:xfrm>
            <a:off x="1028700" y="8215694"/>
            <a:ext cx="8115300" cy="1042606"/>
          </a:xfrm>
          <a:prstGeom prst="rect">
            <a:avLst/>
          </a:prstGeom>
          <a:solidFill>
            <a:srgbClr val="1C212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 name="Google Shape;93;p1"/>
          <p:cNvSpPr txBox="1"/>
          <p:nvPr/>
        </p:nvSpPr>
        <p:spPr>
          <a:xfrm>
            <a:off x="1276632" y="8336312"/>
            <a:ext cx="7619436" cy="763269"/>
          </a:xfrm>
          <a:prstGeom prst="rect">
            <a:avLst/>
          </a:prstGeom>
          <a:noFill/>
          <a:ln>
            <a:noFill/>
          </a:ln>
        </p:spPr>
        <p:txBody>
          <a:bodyPr spcFirstLastPara="1" wrap="square" lIns="0" tIns="0" rIns="0" bIns="0" anchor="t" anchorCtr="0">
            <a:spAutoFit/>
          </a:bodyPr>
          <a:lstStyle/>
          <a:p>
            <a:pPr marL="474984" marR="0" lvl="1" indent="-237492" algn="just" rtl="0">
              <a:lnSpc>
                <a:spcPct val="140000"/>
              </a:lnSpc>
              <a:spcBef>
                <a:spcPts val="0"/>
              </a:spcBef>
              <a:spcAft>
                <a:spcPts val="0"/>
              </a:spcAft>
              <a:buClr>
                <a:srgbClr val="FDFDFD"/>
              </a:buClr>
              <a:buSzPts val="2200"/>
              <a:buFont typeface="Arial"/>
              <a:buChar char="•"/>
            </a:pPr>
            <a:r>
              <a:rPr lang="en-GB" sz="2200" b="0" i="0" u="none" strike="noStrike" cap="none">
                <a:solidFill>
                  <a:srgbClr val="FDFDFD"/>
                </a:solidFill>
                <a:latin typeface="Montserrat"/>
                <a:ea typeface="Montserrat"/>
                <a:cs typeface="Montserrat"/>
                <a:sym typeface="Montserrat"/>
              </a:rPr>
              <a:t>NEGOSYO CENTER</a:t>
            </a:r>
            <a:endParaRPr/>
          </a:p>
          <a:p>
            <a:pPr marL="474984" marR="0" lvl="1" indent="-237492" algn="just" rtl="0">
              <a:lnSpc>
                <a:spcPct val="140000"/>
              </a:lnSpc>
              <a:spcBef>
                <a:spcPts val="0"/>
              </a:spcBef>
              <a:spcAft>
                <a:spcPts val="0"/>
              </a:spcAft>
              <a:buClr>
                <a:srgbClr val="FDFDFD"/>
              </a:buClr>
              <a:buSzPts val="2200"/>
              <a:buFont typeface="Arial"/>
              <a:buChar char="•"/>
            </a:pPr>
            <a:r>
              <a:rPr lang="en-GB" sz="2200" b="0" i="0" u="none" strike="noStrike" cap="none">
                <a:solidFill>
                  <a:srgbClr val="FDFDFD"/>
                </a:solidFill>
                <a:latin typeface="Montserrat"/>
                <a:ea typeface="Montserrat"/>
                <a:cs typeface="Montserrat"/>
                <a:sym typeface="Montserrat"/>
              </a:rPr>
              <a:t>COMPREHENSIVE AGRARIAN REFORM PROGRAM</a:t>
            </a:r>
            <a:endParaRPr/>
          </a:p>
        </p:txBody>
      </p:sp>
      <p:sp>
        <p:nvSpPr>
          <p:cNvPr id="94" name="Google Shape;94;p1"/>
          <p:cNvSpPr/>
          <p:nvPr/>
        </p:nvSpPr>
        <p:spPr>
          <a:xfrm>
            <a:off x="9144006" y="8215694"/>
            <a:ext cx="8115300" cy="1042606"/>
          </a:xfrm>
          <a:prstGeom prst="rect">
            <a:avLst/>
          </a:prstGeom>
          <a:solidFill>
            <a:srgbClr val="E6E7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 name="Google Shape;95;p1"/>
          <p:cNvSpPr txBox="1"/>
          <p:nvPr/>
        </p:nvSpPr>
        <p:spPr>
          <a:xfrm>
            <a:off x="9699444" y="8336312"/>
            <a:ext cx="5629658" cy="763269"/>
          </a:xfrm>
          <a:prstGeom prst="rect">
            <a:avLst/>
          </a:prstGeom>
          <a:noFill/>
          <a:ln>
            <a:noFill/>
          </a:ln>
        </p:spPr>
        <p:txBody>
          <a:bodyPr spcFirstLastPara="1" wrap="square" lIns="0" tIns="0" rIns="0" bIns="0" anchor="t" anchorCtr="0">
            <a:spAutoFit/>
          </a:bodyPr>
          <a:lstStyle/>
          <a:p>
            <a:pPr marL="474984" marR="0" lvl="1" indent="-237492" algn="l" rtl="0">
              <a:lnSpc>
                <a:spcPct val="140000"/>
              </a:lnSpc>
              <a:spcBef>
                <a:spcPts val="0"/>
              </a:spcBef>
              <a:spcAft>
                <a:spcPts val="0"/>
              </a:spcAft>
              <a:buClr>
                <a:srgbClr val="1C2120"/>
              </a:buClr>
              <a:buSzPts val="2200"/>
              <a:buFont typeface="Arial"/>
              <a:buChar char="•"/>
            </a:pPr>
            <a:r>
              <a:rPr lang="en-GB" sz="2200" b="0" i="0" u="none" strike="noStrike" cap="none">
                <a:solidFill>
                  <a:srgbClr val="1C2120"/>
                </a:solidFill>
                <a:latin typeface="Montserrat"/>
                <a:ea typeface="Montserrat"/>
                <a:cs typeface="Montserrat"/>
                <a:sym typeface="Montserrat"/>
              </a:rPr>
              <a:t>TRADE PROMOTION UNIT</a:t>
            </a:r>
            <a:endParaRPr/>
          </a:p>
          <a:p>
            <a:pPr marL="474984" marR="0" lvl="1" indent="-237492" algn="l" rtl="0">
              <a:lnSpc>
                <a:spcPct val="140000"/>
              </a:lnSpc>
              <a:spcBef>
                <a:spcPts val="0"/>
              </a:spcBef>
              <a:spcAft>
                <a:spcPts val="0"/>
              </a:spcAft>
              <a:buClr>
                <a:srgbClr val="1C2120"/>
              </a:buClr>
              <a:buSzPts val="2200"/>
              <a:buFont typeface="Arial"/>
              <a:buChar char="•"/>
            </a:pPr>
            <a:r>
              <a:rPr lang="en-GB" sz="2200" b="0" i="0" u="none" strike="noStrike" cap="none">
                <a:solidFill>
                  <a:srgbClr val="1C2120"/>
                </a:solidFill>
                <a:latin typeface="Montserrat"/>
                <a:ea typeface="Montserrat"/>
                <a:cs typeface="Montserrat"/>
                <a:sym typeface="Montserrat"/>
              </a:rPr>
              <a:t>ENTERPRISE DEVELOPMENT UNIT</a:t>
            </a:r>
            <a:endParaRPr/>
          </a:p>
        </p:txBody>
      </p:sp>
      <p:cxnSp>
        <p:nvCxnSpPr>
          <p:cNvPr id="96" name="Google Shape;96;p1"/>
          <p:cNvCxnSpPr/>
          <p:nvPr/>
        </p:nvCxnSpPr>
        <p:spPr>
          <a:xfrm>
            <a:off x="2582039" y="1019175"/>
            <a:ext cx="14677261" cy="9525"/>
          </a:xfrm>
          <a:prstGeom prst="straightConnector1">
            <a:avLst/>
          </a:prstGeom>
          <a:noFill/>
          <a:ln w="19050" cap="flat" cmpd="sng">
            <a:solidFill>
              <a:srgbClr val="1C2120"/>
            </a:solidFill>
            <a:prstDash val="solid"/>
            <a:round/>
            <a:headEnd type="none" w="sm" len="sm"/>
            <a:tailEnd type="none" w="sm" len="sm"/>
          </a:ln>
        </p:spPr>
      </p:cxn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Shape 100"/>
        <p:cNvGrpSpPr/>
        <p:nvPr/>
      </p:nvGrpSpPr>
      <p:grpSpPr>
        <a:xfrm>
          <a:off x="0" y="0"/>
          <a:ext cx="0" cy="0"/>
          <a:chOff x="0" y="0"/>
          <a:chExt cx="0" cy="0"/>
        </a:xfrm>
      </p:grpSpPr>
      <p:sp>
        <p:nvSpPr>
          <p:cNvPr id="101" name="Google Shape;101;p2"/>
          <p:cNvSpPr txBox="1"/>
          <p:nvPr/>
        </p:nvSpPr>
        <p:spPr>
          <a:xfrm>
            <a:off x="7277895" y="2467927"/>
            <a:ext cx="4382026" cy="846386"/>
          </a:xfrm>
          <a:prstGeom prst="rect">
            <a:avLst/>
          </a:prstGeom>
          <a:noFill/>
          <a:ln>
            <a:noFill/>
          </a:ln>
        </p:spPr>
        <p:txBody>
          <a:bodyPr spcFirstLastPara="1" wrap="square" lIns="0" tIns="0" rIns="0" bIns="0" anchor="t" anchorCtr="0">
            <a:spAutoFit/>
          </a:bodyPr>
          <a:lstStyle/>
          <a:p>
            <a:pPr marL="0" marR="0" lvl="0" indent="0" algn="ctr" rtl="0">
              <a:lnSpc>
                <a:spcPct val="110000"/>
              </a:lnSpc>
              <a:spcBef>
                <a:spcPts val="0"/>
              </a:spcBef>
              <a:spcAft>
                <a:spcPts val="0"/>
              </a:spcAft>
              <a:buNone/>
            </a:pPr>
            <a:r>
              <a:rPr lang="en-GB" sz="5000" b="1" i="0" u="none" strike="noStrike" cap="none" dirty="0">
                <a:solidFill>
                  <a:srgbClr val="1C2120"/>
                </a:solidFill>
                <a:latin typeface="Montserrat"/>
                <a:ea typeface="Montserrat"/>
                <a:cs typeface="Montserrat"/>
                <a:sym typeface="Montserrat"/>
              </a:rPr>
              <a:t>OVERVIEW</a:t>
            </a:r>
            <a:endParaRPr dirty="0"/>
          </a:p>
        </p:txBody>
      </p:sp>
      <p:sp>
        <p:nvSpPr>
          <p:cNvPr id="102" name="Google Shape;102;p2"/>
          <p:cNvSpPr/>
          <p:nvPr/>
        </p:nvSpPr>
        <p:spPr>
          <a:xfrm>
            <a:off x="1028700" y="453061"/>
            <a:ext cx="1553339" cy="1518126"/>
          </a:xfrm>
          <a:custGeom>
            <a:avLst/>
            <a:gdLst/>
            <a:ahLst/>
            <a:cxnLst/>
            <a:rect l="l" t="t" r="r" b="b"/>
            <a:pathLst>
              <a:path w="1553339" h="1518126" extrusionOk="0">
                <a:moveTo>
                  <a:pt x="0" y="0"/>
                </a:moveTo>
                <a:lnTo>
                  <a:pt x="1553339" y="0"/>
                </a:lnTo>
                <a:lnTo>
                  <a:pt x="1553339" y="1518126"/>
                </a:lnTo>
                <a:lnTo>
                  <a:pt x="0" y="1518126"/>
                </a:lnTo>
                <a:lnTo>
                  <a:pt x="0" y="0"/>
                </a:lnTo>
                <a:close/>
              </a:path>
            </a:pathLst>
          </a:custGeom>
          <a:blipFill rotWithShape="1">
            <a:blip r:embed="rId3">
              <a:alphaModFix/>
            </a:blip>
            <a:stretch>
              <a:fillRect l="-31436" t="-10272" r="-26916" b="-57554"/>
            </a:stretch>
          </a:blipFill>
          <a:ln>
            <a:noFill/>
          </a:ln>
        </p:spPr>
      </p:sp>
      <p:cxnSp>
        <p:nvCxnSpPr>
          <p:cNvPr id="103" name="Google Shape;103;p2"/>
          <p:cNvCxnSpPr/>
          <p:nvPr/>
        </p:nvCxnSpPr>
        <p:spPr>
          <a:xfrm>
            <a:off x="2582039" y="1019175"/>
            <a:ext cx="14677261" cy="9525"/>
          </a:xfrm>
          <a:prstGeom prst="straightConnector1">
            <a:avLst/>
          </a:prstGeom>
          <a:noFill/>
          <a:ln w="19050" cap="flat" cmpd="sng">
            <a:solidFill>
              <a:srgbClr val="1C2120"/>
            </a:solidFill>
            <a:prstDash val="solid"/>
            <a:round/>
            <a:headEnd type="none" w="sm" len="sm"/>
            <a:tailEnd type="none" w="sm" len="sm"/>
          </a:ln>
        </p:spPr>
      </p:cxnSp>
      <p:grpSp>
        <p:nvGrpSpPr>
          <p:cNvPr id="104" name="Google Shape;104;p2"/>
          <p:cNvGrpSpPr/>
          <p:nvPr/>
        </p:nvGrpSpPr>
        <p:grpSpPr>
          <a:xfrm>
            <a:off x="1028700" y="3572385"/>
            <a:ext cx="5108069" cy="2754040"/>
            <a:chOff x="1028700" y="3704624"/>
            <a:chExt cx="5150546" cy="2636406"/>
          </a:xfrm>
        </p:grpSpPr>
        <p:grpSp>
          <p:nvGrpSpPr>
            <p:cNvPr id="105" name="Google Shape;105;p2"/>
            <p:cNvGrpSpPr/>
            <p:nvPr/>
          </p:nvGrpSpPr>
          <p:grpSpPr>
            <a:xfrm>
              <a:off x="1028700" y="3704624"/>
              <a:ext cx="5150546" cy="2636406"/>
              <a:chOff x="0" y="-38100"/>
              <a:chExt cx="1662338" cy="850900"/>
            </a:xfrm>
          </p:grpSpPr>
          <p:sp>
            <p:nvSpPr>
              <p:cNvPr id="106" name="Google Shape;106;p2"/>
              <p:cNvSpPr/>
              <p:nvPr/>
            </p:nvSpPr>
            <p:spPr>
              <a:xfrm>
                <a:off x="0" y="0"/>
                <a:ext cx="1662338" cy="592558"/>
              </a:xfrm>
              <a:custGeom>
                <a:avLst/>
                <a:gdLst/>
                <a:ahLst/>
                <a:cxnLst/>
                <a:rect l="l" t="t" r="r" b="b"/>
                <a:pathLst>
                  <a:path w="1662338" h="592558" extrusionOk="0">
                    <a:moveTo>
                      <a:pt x="0" y="0"/>
                    </a:moveTo>
                    <a:lnTo>
                      <a:pt x="1662338" y="0"/>
                    </a:lnTo>
                    <a:lnTo>
                      <a:pt x="1662338" y="592558"/>
                    </a:lnTo>
                    <a:lnTo>
                      <a:pt x="0" y="592558"/>
                    </a:lnTo>
                    <a:close/>
                  </a:path>
                </a:pathLst>
              </a:custGeom>
              <a:solidFill>
                <a:srgbClr val="000000">
                  <a:alpha val="0"/>
                </a:srgbClr>
              </a:solidFill>
              <a:ln w="38100" cap="flat" cmpd="sng">
                <a:solidFill>
                  <a:srgbClr val="1C2120"/>
                </a:solidFill>
                <a:prstDash val="solid"/>
                <a:round/>
                <a:headEnd type="none" w="sm" len="sm"/>
                <a:tailEnd type="none" w="sm" len="sm"/>
              </a:ln>
            </p:spPr>
          </p:sp>
          <p:sp>
            <p:nvSpPr>
              <p:cNvPr id="107" name="Google Shape;107;p2"/>
              <p:cNvSpPr txBox="1"/>
              <p:nvPr/>
            </p:nvSpPr>
            <p:spPr>
              <a:xfrm>
                <a:off x="0" y="-38100"/>
                <a:ext cx="812800" cy="850900"/>
              </a:xfrm>
              <a:prstGeom prst="rect">
                <a:avLst/>
              </a:prstGeom>
              <a:noFill/>
              <a:ln>
                <a:noFill/>
              </a:ln>
            </p:spPr>
            <p:txBody>
              <a:bodyPr spcFirstLastPara="1" wrap="square" lIns="50800" tIns="50800" rIns="50800" bIns="50800" anchor="ctr" anchorCtr="0">
                <a:noAutofit/>
              </a:bodyPr>
              <a:lstStyle/>
              <a:p>
                <a:pPr marL="0" marR="0" lvl="0" indent="0" algn="ctr" rtl="0">
                  <a:lnSpc>
                    <a:spcPct val="147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108" name="Google Shape;108;p2"/>
            <p:cNvSpPr txBox="1"/>
            <p:nvPr/>
          </p:nvSpPr>
          <p:spPr>
            <a:xfrm>
              <a:off x="1312302" y="4047541"/>
              <a:ext cx="4710000" cy="1603200"/>
            </a:xfrm>
            <a:prstGeom prst="rect">
              <a:avLst/>
            </a:prstGeom>
            <a:noFill/>
            <a:ln>
              <a:noFill/>
            </a:ln>
          </p:spPr>
          <p:txBody>
            <a:bodyPr spcFirstLastPara="1" wrap="square" lIns="0" tIns="0" rIns="0" bIns="0" anchor="t" anchorCtr="0">
              <a:spAutoFit/>
            </a:bodyPr>
            <a:lstStyle/>
            <a:p>
              <a:pPr marL="0" marR="0" lvl="0" indent="0" algn="ctr" rtl="0">
                <a:lnSpc>
                  <a:spcPct val="110000"/>
                </a:lnSpc>
                <a:spcBef>
                  <a:spcPts val="0"/>
                </a:spcBef>
                <a:spcAft>
                  <a:spcPts val="0"/>
                </a:spcAft>
                <a:buNone/>
              </a:pPr>
              <a:r>
                <a:rPr lang="en-GB" sz="3400" b="1" i="0" u="none" strike="noStrike" cap="none">
                  <a:solidFill>
                    <a:srgbClr val="1C2120"/>
                  </a:solidFill>
                  <a:latin typeface="Montserrat"/>
                  <a:ea typeface="Montserrat"/>
                  <a:cs typeface="Montserrat"/>
                  <a:sym typeface="Montserrat"/>
                </a:rPr>
                <a:t>TOP 5 HIGHLIGHTS OF ACCOMPLISHMENTS</a:t>
              </a:r>
              <a:endParaRPr sz="3400" b="1" i="0" u="none" strike="noStrike" cap="none">
                <a:solidFill>
                  <a:srgbClr val="1C2120"/>
                </a:solidFill>
                <a:latin typeface="Montserrat"/>
                <a:ea typeface="Montserrat"/>
                <a:cs typeface="Montserrat"/>
                <a:sym typeface="Montserrat"/>
              </a:endParaRPr>
            </a:p>
          </p:txBody>
        </p:sp>
      </p:grpSp>
      <p:grpSp>
        <p:nvGrpSpPr>
          <p:cNvPr id="109" name="Google Shape;109;p2"/>
          <p:cNvGrpSpPr/>
          <p:nvPr/>
        </p:nvGrpSpPr>
        <p:grpSpPr>
          <a:xfrm>
            <a:off x="6373756" y="3572871"/>
            <a:ext cx="5453725" cy="2743187"/>
            <a:chOff x="6568727" y="3704624"/>
            <a:chExt cx="5150546" cy="2636406"/>
          </a:xfrm>
        </p:grpSpPr>
        <p:grpSp>
          <p:nvGrpSpPr>
            <p:cNvPr id="110" name="Google Shape;110;p2"/>
            <p:cNvGrpSpPr/>
            <p:nvPr/>
          </p:nvGrpSpPr>
          <p:grpSpPr>
            <a:xfrm>
              <a:off x="6568727" y="3704624"/>
              <a:ext cx="5150546" cy="2636406"/>
              <a:chOff x="0" y="-38100"/>
              <a:chExt cx="1662338" cy="850900"/>
            </a:xfrm>
          </p:grpSpPr>
          <p:sp>
            <p:nvSpPr>
              <p:cNvPr id="111" name="Google Shape;111;p2"/>
              <p:cNvSpPr/>
              <p:nvPr/>
            </p:nvSpPr>
            <p:spPr>
              <a:xfrm>
                <a:off x="0" y="0"/>
                <a:ext cx="1662338" cy="592558"/>
              </a:xfrm>
              <a:custGeom>
                <a:avLst/>
                <a:gdLst/>
                <a:ahLst/>
                <a:cxnLst/>
                <a:rect l="l" t="t" r="r" b="b"/>
                <a:pathLst>
                  <a:path w="1662338" h="592558" extrusionOk="0">
                    <a:moveTo>
                      <a:pt x="0" y="0"/>
                    </a:moveTo>
                    <a:lnTo>
                      <a:pt x="1662338" y="0"/>
                    </a:lnTo>
                    <a:lnTo>
                      <a:pt x="1662338" y="592558"/>
                    </a:lnTo>
                    <a:lnTo>
                      <a:pt x="0" y="592558"/>
                    </a:lnTo>
                    <a:close/>
                  </a:path>
                </a:pathLst>
              </a:custGeom>
              <a:solidFill>
                <a:srgbClr val="000000">
                  <a:alpha val="0"/>
                </a:srgbClr>
              </a:solidFill>
              <a:ln w="38100" cap="flat" cmpd="sng">
                <a:solidFill>
                  <a:srgbClr val="1C2120"/>
                </a:solidFill>
                <a:prstDash val="solid"/>
                <a:round/>
                <a:headEnd type="none" w="sm" len="sm"/>
                <a:tailEnd type="none" w="sm" len="sm"/>
              </a:ln>
            </p:spPr>
          </p:sp>
          <p:sp>
            <p:nvSpPr>
              <p:cNvPr id="112" name="Google Shape;112;p2"/>
              <p:cNvSpPr txBox="1"/>
              <p:nvPr/>
            </p:nvSpPr>
            <p:spPr>
              <a:xfrm>
                <a:off x="0" y="-38100"/>
                <a:ext cx="812800" cy="850900"/>
              </a:xfrm>
              <a:prstGeom prst="rect">
                <a:avLst/>
              </a:prstGeom>
              <a:noFill/>
              <a:ln>
                <a:noFill/>
              </a:ln>
            </p:spPr>
            <p:txBody>
              <a:bodyPr spcFirstLastPara="1" wrap="square" lIns="50800" tIns="50800" rIns="50800" bIns="50800" anchor="ctr" anchorCtr="0">
                <a:noAutofit/>
              </a:bodyPr>
              <a:lstStyle/>
              <a:p>
                <a:pPr marL="0" marR="0" lvl="0" indent="0" algn="ctr" rtl="0">
                  <a:lnSpc>
                    <a:spcPct val="147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113" name="Google Shape;113;p2"/>
            <p:cNvSpPr txBox="1"/>
            <p:nvPr/>
          </p:nvSpPr>
          <p:spPr>
            <a:xfrm>
              <a:off x="6726971" y="4047552"/>
              <a:ext cx="4834057" cy="1414780"/>
            </a:xfrm>
            <a:prstGeom prst="rect">
              <a:avLst/>
            </a:prstGeom>
            <a:noFill/>
            <a:ln>
              <a:noFill/>
            </a:ln>
          </p:spPr>
          <p:txBody>
            <a:bodyPr spcFirstLastPara="1" wrap="square" lIns="0" tIns="0" rIns="0" bIns="0" anchor="t" anchorCtr="0">
              <a:spAutoFit/>
            </a:bodyPr>
            <a:lstStyle/>
            <a:p>
              <a:pPr marL="0" marR="0" lvl="0" indent="0" algn="ctr" rtl="0">
                <a:lnSpc>
                  <a:spcPct val="110000"/>
                </a:lnSpc>
                <a:spcBef>
                  <a:spcPts val="0"/>
                </a:spcBef>
                <a:spcAft>
                  <a:spcPts val="0"/>
                </a:spcAft>
                <a:buNone/>
              </a:pPr>
              <a:r>
                <a:rPr lang="en-GB" sz="3400" b="1" i="0" u="none" strike="noStrike" cap="none">
                  <a:solidFill>
                    <a:srgbClr val="1C2120"/>
                  </a:solidFill>
                  <a:latin typeface="Montserrat"/>
                  <a:ea typeface="Montserrat"/>
                  <a:cs typeface="Montserrat"/>
                  <a:sym typeface="Montserrat"/>
                </a:rPr>
                <a:t>TOP 3 INNOVATIONS INTRODUCED AND THEIR RESULTS</a:t>
              </a:r>
              <a:endParaRPr/>
            </a:p>
          </p:txBody>
        </p:sp>
      </p:grpSp>
      <p:grpSp>
        <p:nvGrpSpPr>
          <p:cNvPr id="114" name="Google Shape;114;p2"/>
          <p:cNvGrpSpPr/>
          <p:nvPr/>
        </p:nvGrpSpPr>
        <p:grpSpPr>
          <a:xfrm>
            <a:off x="12108754" y="3577652"/>
            <a:ext cx="5150546" cy="2636406"/>
            <a:chOff x="0" y="-38100"/>
            <a:chExt cx="1662338" cy="850900"/>
          </a:xfrm>
        </p:grpSpPr>
        <p:sp>
          <p:nvSpPr>
            <p:cNvPr id="115" name="Google Shape;115;p2"/>
            <p:cNvSpPr/>
            <p:nvPr/>
          </p:nvSpPr>
          <p:spPr>
            <a:xfrm>
              <a:off x="0" y="0"/>
              <a:ext cx="1662338" cy="592558"/>
            </a:xfrm>
            <a:custGeom>
              <a:avLst/>
              <a:gdLst/>
              <a:ahLst/>
              <a:cxnLst/>
              <a:rect l="l" t="t" r="r" b="b"/>
              <a:pathLst>
                <a:path w="1662338" h="592558" extrusionOk="0">
                  <a:moveTo>
                    <a:pt x="0" y="0"/>
                  </a:moveTo>
                  <a:lnTo>
                    <a:pt x="1662338" y="0"/>
                  </a:lnTo>
                  <a:lnTo>
                    <a:pt x="1662338" y="592558"/>
                  </a:lnTo>
                  <a:lnTo>
                    <a:pt x="0" y="592558"/>
                  </a:lnTo>
                  <a:close/>
                </a:path>
              </a:pathLst>
            </a:custGeom>
            <a:solidFill>
              <a:srgbClr val="000000">
                <a:alpha val="0"/>
              </a:srgbClr>
            </a:solidFill>
            <a:ln w="38100" cap="flat" cmpd="sng">
              <a:solidFill>
                <a:srgbClr val="1C2120"/>
              </a:solidFill>
              <a:prstDash val="solid"/>
              <a:round/>
              <a:headEnd type="none" w="sm" len="sm"/>
              <a:tailEnd type="none" w="sm" len="sm"/>
            </a:ln>
          </p:spPr>
        </p:sp>
        <p:sp>
          <p:nvSpPr>
            <p:cNvPr id="116" name="Google Shape;116;p2"/>
            <p:cNvSpPr txBox="1"/>
            <p:nvPr/>
          </p:nvSpPr>
          <p:spPr>
            <a:xfrm>
              <a:off x="0" y="-38100"/>
              <a:ext cx="812800" cy="850900"/>
            </a:xfrm>
            <a:prstGeom prst="rect">
              <a:avLst/>
            </a:prstGeom>
            <a:noFill/>
            <a:ln>
              <a:noFill/>
            </a:ln>
          </p:spPr>
          <p:txBody>
            <a:bodyPr spcFirstLastPara="1" wrap="square" lIns="50800" tIns="50800" rIns="50800" bIns="50800" anchor="ctr" anchorCtr="0">
              <a:noAutofit/>
            </a:bodyPr>
            <a:lstStyle/>
            <a:p>
              <a:pPr marL="0" marR="0" lvl="0" indent="0" algn="ctr" rtl="0">
                <a:lnSpc>
                  <a:spcPct val="147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117" name="Google Shape;117;p2"/>
          <p:cNvSpPr txBox="1"/>
          <p:nvPr/>
        </p:nvSpPr>
        <p:spPr>
          <a:xfrm>
            <a:off x="12220576" y="4047552"/>
            <a:ext cx="4926902" cy="948978"/>
          </a:xfrm>
          <a:prstGeom prst="rect">
            <a:avLst/>
          </a:prstGeom>
          <a:noFill/>
          <a:ln>
            <a:noFill/>
          </a:ln>
        </p:spPr>
        <p:txBody>
          <a:bodyPr spcFirstLastPara="1" wrap="square" lIns="0" tIns="0" rIns="0" bIns="0" anchor="t" anchorCtr="0">
            <a:spAutoFit/>
          </a:bodyPr>
          <a:lstStyle/>
          <a:p>
            <a:pPr marL="0" marR="0" lvl="0" indent="0" algn="ctr" rtl="0">
              <a:lnSpc>
                <a:spcPct val="110000"/>
              </a:lnSpc>
              <a:spcBef>
                <a:spcPts val="0"/>
              </a:spcBef>
              <a:spcAft>
                <a:spcPts val="0"/>
              </a:spcAft>
              <a:buNone/>
            </a:pPr>
            <a:r>
              <a:rPr lang="en-GB" sz="3400" b="1" i="0" u="none" strike="noStrike" cap="none">
                <a:solidFill>
                  <a:srgbClr val="1C2120"/>
                </a:solidFill>
                <a:latin typeface="Montserrat"/>
                <a:ea typeface="Montserrat"/>
                <a:cs typeface="Montserrat"/>
                <a:sym typeface="Montserrat"/>
              </a:rPr>
              <a:t>INTERVENING ACCOMPLISHMENTS</a:t>
            </a:r>
            <a:endParaRPr sz="3400" b="1" i="0" u="none" strike="noStrike" cap="none">
              <a:solidFill>
                <a:srgbClr val="1C2120"/>
              </a:solidFill>
              <a:latin typeface="Montserrat"/>
              <a:ea typeface="Montserrat"/>
              <a:cs typeface="Montserrat"/>
              <a:sym typeface="Montserrat"/>
            </a:endParaRPr>
          </a:p>
        </p:txBody>
      </p:sp>
      <p:grpSp>
        <p:nvGrpSpPr>
          <p:cNvPr id="118" name="Google Shape;118;p2"/>
          <p:cNvGrpSpPr/>
          <p:nvPr/>
        </p:nvGrpSpPr>
        <p:grpSpPr>
          <a:xfrm>
            <a:off x="12108754" y="6041686"/>
            <a:ext cx="5150546" cy="2636406"/>
            <a:chOff x="3320361" y="6178764"/>
            <a:chExt cx="5150546" cy="2636406"/>
          </a:xfrm>
        </p:grpSpPr>
        <p:grpSp>
          <p:nvGrpSpPr>
            <p:cNvPr id="119" name="Google Shape;119;p2"/>
            <p:cNvGrpSpPr/>
            <p:nvPr/>
          </p:nvGrpSpPr>
          <p:grpSpPr>
            <a:xfrm>
              <a:off x="3320361" y="6178764"/>
              <a:ext cx="5150546" cy="2636406"/>
              <a:chOff x="0" y="-38100"/>
              <a:chExt cx="1662338" cy="850900"/>
            </a:xfrm>
          </p:grpSpPr>
          <p:sp>
            <p:nvSpPr>
              <p:cNvPr id="120" name="Google Shape;120;p2"/>
              <p:cNvSpPr/>
              <p:nvPr/>
            </p:nvSpPr>
            <p:spPr>
              <a:xfrm>
                <a:off x="0" y="0"/>
                <a:ext cx="1662338" cy="592558"/>
              </a:xfrm>
              <a:custGeom>
                <a:avLst/>
                <a:gdLst/>
                <a:ahLst/>
                <a:cxnLst/>
                <a:rect l="l" t="t" r="r" b="b"/>
                <a:pathLst>
                  <a:path w="1662338" h="592558" extrusionOk="0">
                    <a:moveTo>
                      <a:pt x="0" y="0"/>
                    </a:moveTo>
                    <a:lnTo>
                      <a:pt x="1662338" y="0"/>
                    </a:lnTo>
                    <a:lnTo>
                      <a:pt x="1662338" y="592558"/>
                    </a:lnTo>
                    <a:lnTo>
                      <a:pt x="0" y="592558"/>
                    </a:lnTo>
                    <a:close/>
                  </a:path>
                </a:pathLst>
              </a:custGeom>
              <a:solidFill>
                <a:srgbClr val="000000">
                  <a:alpha val="0"/>
                </a:srgbClr>
              </a:solidFill>
              <a:ln w="38100" cap="flat" cmpd="sng">
                <a:solidFill>
                  <a:srgbClr val="1C2120"/>
                </a:solidFill>
                <a:prstDash val="solid"/>
                <a:round/>
                <a:headEnd type="none" w="sm" len="sm"/>
                <a:tailEnd type="none" w="sm" len="sm"/>
              </a:ln>
            </p:spPr>
          </p:sp>
          <p:sp>
            <p:nvSpPr>
              <p:cNvPr id="121" name="Google Shape;121;p2"/>
              <p:cNvSpPr txBox="1"/>
              <p:nvPr/>
            </p:nvSpPr>
            <p:spPr>
              <a:xfrm>
                <a:off x="0" y="-38100"/>
                <a:ext cx="812800" cy="850900"/>
              </a:xfrm>
              <a:prstGeom prst="rect">
                <a:avLst/>
              </a:prstGeom>
              <a:noFill/>
              <a:ln>
                <a:noFill/>
              </a:ln>
            </p:spPr>
            <p:txBody>
              <a:bodyPr spcFirstLastPara="1" wrap="square" lIns="50800" tIns="50800" rIns="50800" bIns="50800" anchor="ctr" anchorCtr="0">
                <a:noAutofit/>
              </a:bodyPr>
              <a:lstStyle/>
              <a:p>
                <a:pPr marL="0" marR="0" lvl="0" indent="0" algn="ctr" rtl="0">
                  <a:lnSpc>
                    <a:spcPct val="147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122" name="Google Shape;122;p2"/>
            <p:cNvSpPr txBox="1"/>
            <p:nvPr/>
          </p:nvSpPr>
          <p:spPr>
            <a:xfrm>
              <a:off x="3608587" y="6369293"/>
              <a:ext cx="4574100" cy="1625400"/>
            </a:xfrm>
            <a:prstGeom prst="rect">
              <a:avLst/>
            </a:prstGeom>
            <a:noFill/>
            <a:ln>
              <a:noFill/>
            </a:ln>
          </p:spPr>
          <p:txBody>
            <a:bodyPr spcFirstLastPara="1" wrap="square" lIns="0" tIns="0" rIns="0" bIns="0" anchor="t" anchorCtr="0">
              <a:spAutoFit/>
            </a:bodyPr>
            <a:lstStyle/>
            <a:p>
              <a:pPr marL="0" marR="0" lvl="0" indent="0" algn="ctr" rtl="0">
                <a:lnSpc>
                  <a:spcPct val="110000"/>
                </a:lnSpc>
                <a:spcBef>
                  <a:spcPts val="0"/>
                </a:spcBef>
                <a:spcAft>
                  <a:spcPts val="0"/>
                </a:spcAft>
                <a:buNone/>
              </a:pPr>
              <a:r>
                <a:rPr lang="en-GB" sz="3300" b="1" i="0" u="none" strike="noStrike" cap="none">
                  <a:solidFill>
                    <a:srgbClr val="1C2120"/>
                  </a:solidFill>
                  <a:latin typeface="Montserrat"/>
                  <a:ea typeface="Montserrat"/>
                  <a:cs typeface="Montserrat"/>
                  <a:sym typeface="Montserrat"/>
                </a:rPr>
                <a:t>ISSUES AND CONCERNS FOR THE HUDDLE SESSIONS</a:t>
              </a:r>
              <a:endParaRPr sz="1300"/>
            </a:p>
          </p:txBody>
        </p:sp>
      </p:grpSp>
      <p:grpSp>
        <p:nvGrpSpPr>
          <p:cNvPr id="123" name="Google Shape;123;p2"/>
          <p:cNvGrpSpPr/>
          <p:nvPr/>
        </p:nvGrpSpPr>
        <p:grpSpPr>
          <a:xfrm>
            <a:off x="6424996" y="6174022"/>
            <a:ext cx="5395531" cy="1835966"/>
            <a:chOff x="9920669" y="6296812"/>
            <a:chExt cx="5395531" cy="1835966"/>
          </a:xfrm>
        </p:grpSpPr>
        <p:grpSp>
          <p:nvGrpSpPr>
            <p:cNvPr id="124" name="Google Shape;124;p2"/>
            <p:cNvGrpSpPr/>
            <p:nvPr/>
          </p:nvGrpSpPr>
          <p:grpSpPr>
            <a:xfrm>
              <a:off x="9920669" y="6296812"/>
              <a:ext cx="5395531" cy="1835966"/>
              <a:chOff x="0" y="-38100"/>
              <a:chExt cx="1741407" cy="850900"/>
            </a:xfrm>
          </p:grpSpPr>
          <p:sp>
            <p:nvSpPr>
              <p:cNvPr id="125" name="Google Shape;125;p2"/>
              <p:cNvSpPr/>
              <p:nvPr/>
            </p:nvSpPr>
            <p:spPr>
              <a:xfrm>
                <a:off x="0" y="-36172"/>
                <a:ext cx="1741407" cy="848972"/>
              </a:xfrm>
              <a:custGeom>
                <a:avLst/>
                <a:gdLst/>
                <a:ahLst/>
                <a:cxnLst/>
                <a:rect l="l" t="t" r="r" b="b"/>
                <a:pathLst>
                  <a:path w="1662338" h="592558" extrusionOk="0">
                    <a:moveTo>
                      <a:pt x="0" y="0"/>
                    </a:moveTo>
                    <a:lnTo>
                      <a:pt x="1662338" y="0"/>
                    </a:lnTo>
                    <a:lnTo>
                      <a:pt x="1662338" y="592558"/>
                    </a:lnTo>
                    <a:lnTo>
                      <a:pt x="0" y="592558"/>
                    </a:lnTo>
                    <a:close/>
                  </a:path>
                </a:pathLst>
              </a:custGeom>
              <a:solidFill>
                <a:srgbClr val="000000">
                  <a:alpha val="0"/>
                </a:srgbClr>
              </a:solidFill>
              <a:ln w="38100" cap="flat" cmpd="sng">
                <a:solidFill>
                  <a:srgbClr val="1C2120"/>
                </a:solidFill>
                <a:prstDash val="solid"/>
                <a:round/>
                <a:headEnd type="none" w="sm" len="sm"/>
                <a:tailEnd type="none" w="sm" len="sm"/>
              </a:ln>
            </p:spPr>
          </p:sp>
          <p:sp>
            <p:nvSpPr>
              <p:cNvPr id="126" name="Google Shape;126;p2"/>
              <p:cNvSpPr txBox="1"/>
              <p:nvPr/>
            </p:nvSpPr>
            <p:spPr>
              <a:xfrm>
                <a:off x="0" y="-38100"/>
                <a:ext cx="812800" cy="850900"/>
              </a:xfrm>
              <a:prstGeom prst="rect">
                <a:avLst/>
              </a:prstGeom>
              <a:noFill/>
              <a:ln>
                <a:noFill/>
              </a:ln>
            </p:spPr>
            <p:txBody>
              <a:bodyPr spcFirstLastPara="1" wrap="square" lIns="50800" tIns="50800" rIns="50800" bIns="50800" anchor="ctr" anchorCtr="0">
                <a:noAutofit/>
              </a:bodyPr>
              <a:lstStyle/>
              <a:p>
                <a:pPr marL="0" marR="0" lvl="0" indent="0" algn="ctr" rtl="0">
                  <a:lnSpc>
                    <a:spcPct val="147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127" name="Google Shape;127;p2"/>
            <p:cNvSpPr txBox="1"/>
            <p:nvPr/>
          </p:nvSpPr>
          <p:spPr>
            <a:xfrm>
              <a:off x="10363200" y="6743700"/>
              <a:ext cx="4574093" cy="948055"/>
            </a:xfrm>
            <a:prstGeom prst="rect">
              <a:avLst/>
            </a:prstGeom>
            <a:noFill/>
            <a:ln>
              <a:noFill/>
            </a:ln>
          </p:spPr>
          <p:txBody>
            <a:bodyPr spcFirstLastPara="1" wrap="square" lIns="0" tIns="0" rIns="0" bIns="0" anchor="t" anchorCtr="0">
              <a:spAutoFit/>
            </a:bodyPr>
            <a:lstStyle/>
            <a:p>
              <a:pPr marL="0" marR="0" lvl="0" indent="0" algn="ctr" rtl="0">
                <a:lnSpc>
                  <a:spcPct val="110000"/>
                </a:lnSpc>
                <a:spcBef>
                  <a:spcPts val="0"/>
                </a:spcBef>
                <a:spcAft>
                  <a:spcPts val="0"/>
                </a:spcAft>
                <a:buNone/>
              </a:pPr>
              <a:r>
                <a:rPr lang="en-GB" sz="3400" b="1" i="0" u="none" strike="noStrike" cap="none">
                  <a:solidFill>
                    <a:srgbClr val="1C2120"/>
                  </a:solidFill>
                  <a:latin typeface="Montserrat"/>
                  <a:ea typeface="Montserrat"/>
                  <a:cs typeface="Montserrat"/>
                  <a:sym typeface="Montserrat"/>
                </a:rPr>
                <a:t>INVENTORY OF DATABASE</a:t>
              </a:r>
              <a:endParaRPr sz="3400" b="1" i="0" u="none" strike="noStrike" cap="none">
                <a:solidFill>
                  <a:srgbClr val="1C2120"/>
                </a:solidFill>
                <a:latin typeface="Montserrat"/>
                <a:ea typeface="Montserrat"/>
                <a:cs typeface="Montserrat"/>
                <a:sym typeface="Montserrat"/>
              </a:endParaRPr>
            </a:p>
          </p:txBody>
        </p:sp>
      </p:grpSp>
      <p:grpSp>
        <p:nvGrpSpPr>
          <p:cNvPr id="128" name="Google Shape;128;p2"/>
          <p:cNvGrpSpPr/>
          <p:nvPr/>
        </p:nvGrpSpPr>
        <p:grpSpPr>
          <a:xfrm>
            <a:off x="1028700" y="8770953"/>
            <a:ext cx="16230606" cy="487347"/>
            <a:chOff x="0" y="0"/>
            <a:chExt cx="21640808" cy="649796"/>
          </a:xfrm>
        </p:grpSpPr>
        <p:sp>
          <p:nvSpPr>
            <p:cNvPr id="129" name="Google Shape;129;p2"/>
            <p:cNvSpPr/>
            <p:nvPr/>
          </p:nvSpPr>
          <p:spPr>
            <a:xfrm>
              <a:off x="0" y="0"/>
              <a:ext cx="21640808" cy="649796"/>
            </a:xfrm>
            <a:prstGeom prst="rect">
              <a:avLst/>
            </a:prstGeom>
            <a:solidFill>
              <a:srgbClr val="1C212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 name="Google Shape;130;p2"/>
            <p:cNvSpPr txBox="1"/>
            <p:nvPr/>
          </p:nvSpPr>
          <p:spPr>
            <a:xfrm>
              <a:off x="998193" y="85715"/>
              <a:ext cx="19644415" cy="440266"/>
            </a:xfrm>
            <a:prstGeom prst="rect">
              <a:avLst/>
            </a:prstGeom>
            <a:noFill/>
            <a:ln>
              <a:noFill/>
            </a:ln>
          </p:spPr>
          <p:txBody>
            <a:bodyPr spcFirstLastPara="1" wrap="square" lIns="0" tIns="0" rIns="0" bIns="0" anchor="t" anchorCtr="0">
              <a:spAutoFit/>
            </a:bodyPr>
            <a:lstStyle/>
            <a:p>
              <a:pPr marL="0" marR="0" lvl="0" indent="0" algn="just" rtl="0">
                <a:lnSpc>
                  <a:spcPct val="140000"/>
                </a:lnSpc>
                <a:spcBef>
                  <a:spcPts val="0"/>
                </a:spcBef>
                <a:spcAft>
                  <a:spcPts val="0"/>
                </a:spcAft>
                <a:buNone/>
              </a:pPr>
              <a:r>
                <a:rPr lang="en-GB" sz="2000" b="1" i="0" u="none" strike="noStrike" cap="none">
                  <a:solidFill>
                    <a:srgbClr val="FDFDFD"/>
                  </a:solidFill>
                  <a:latin typeface="Montserrat"/>
                  <a:ea typeface="Montserrat"/>
                  <a:cs typeface="Montserrat"/>
                  <a:sym typeface="Montserrat"/>
                </a:rPr>
                <a:t>DTI- SME DEVELOPMENT DIVISION│NC│CARP│TPU│EDU</a:t>
              </a:r>
              <a:endParaRPr/>
            </a:p>
          </p:txBody>
        </p:sp>
      </p:grpSp>
      <p:grpSp>
        <p:nvGrpSpPr>
          <p:cNvPr id="131" name="Google Shape;131;p2"/>
          <p:cNvGrpSpPr/>
          <p:nvPr/>
        </p:nvGrpSpPr>
        <p:grpSpPr>
          <a:xfrm>
            <a:off x="1028700" y="6174017"/>
            <a:ext cx="5108069" cy="1821678"/>
            <a:chOff x="9920669" y="6296812"/>
            <a:chExt cx="5395531" cy="1835966"/>
          </a:xfrm>
        </p:grpSpPr>
        <p:grpSp>
          <p:nvGrpSpPr>
            <p:cNvPr id="132" name="Google Shape;132;p2"/>
            <p:cNvGrpSpPr/>
            <p:nvPr/>
          </p:nvGrpSpPr>
          <p:grpSpPr>
            <a:xfrm>
              <a:off x="9920669" y="6296812"/>
              <a:ext cx="5395531" cy="1835966"/>
              <a:chOff x="0" y="-38100"/>
              <a:chExt cx="1741407" cy="850900"/>
            </a:xfrm>
          </p:grpSpPr>
          <p:sp>
            <p:nvSpPr>
              <p:cNvPr id="133" name="Google Shape;133;p2"/>
              <p:cNvSpPr/>
              <p:nvPr/>
            </p:nvSpPr>
            <p:spPr>
              <a:xfrm>
                <a:off x="0" y="-36172"/>
                <a:ext cx="1741407" cy="848972"/>
              </a:xfrm>
              <a:custGeom>
                <a:avLst/>
                <a:gdLst/>
                <a:ahLst/>
                <a:cxnLst/>
                <a:rect l="l" t="t" r="r" b="b"/>
                <a:pathLst>
                  <a:path w="1662338" h="592558" extrusionOk="0">
                    <a:moveTo>
                      <a:pt x="0" y="0"/>
                    </a:moveTo>
                    <a:lnTo>
                      <a:pt x="1662338" y="0"/>
                    </a:lnTo>
                    <a:lnTo>
                      <a:pt x="1662338" y="592558"/>
                    </a:lnTo>
                    <a:lnTo>
                      <a:pt x="0" y="592558"/>
                    </a:lnTo>
                    <a:close/>
                  </a:path>
                </a:pathLst>
              </a:custGeom>
              <a:solidFill>
                <a:srgbClr val="000000">
                  <a:alpha val="0"/>
                </a:srgbClr>
              </a:solidFill>
              <a:ln w="38100" cap="flat" cmpd="sng">
                <a:solidFill>
                  <a:srgbClr val="1C2120"/>
                </a:solidFill>
                <a:prstDash val="solid"/>
                <a:round/>
                <a:headEnd type="none" w="sm" len="sm"/>
                <a:tailEnd type="none" w="sm" len="sm"/>
              </a:ln>
            </p:spPr>
          </p:sp>
          <p:sp>
            <p:nvSpPr>
              <p:cNvPr id="134" name="Google Shape;134;p2"/>
              <p:cNvSpPr txBox="1"/>
              <p:nvPr/>
            </p:nvSpPr>
            <p:spPr>
              <a:xfrm>
                <a:off x="0" y="-38100"/>
                <a:ext cx="812800" cy="850900"/>
              </a:xfrm>
              <a:prstGeom prst="rect">
                <a:avLst/>
              </a:prstGeom>
              <a:noFill/>
              <a:ln>
                <a:noFill/>
              </a:ln>
            </p:spPr>
            <p:txBody>
              <a:bodyPr spcFirstLastPara="1" wrap="square" lIns="50800" tIns="50800" rIns="50800" bIns="50800" anchor="ctr" anchorCtr="0">
                <a:noAutofit/>
              </a:bodyPr>
              <a:lstStyle/>
              <a:p>
                <a:pPr marL="0" marR="0" lvl="0" indent="0" algn="ctr" rtl="0">
                  <a:lnSpc>
                    <a:spcPct val="147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135" name="Google Shape;135;p2"/>
            <p:cNvSpPr txBox="1"/>
            <p:nvPr/>
          </p:nvSpPr>
          <p:spPr>
            <a:xfrm>
              <a:off x="10061718" y="6393006"/>
              <a:ext cx="5203200" cy="1687800"/>
            </a:xfrm>
            <a:prstGeom prst="rect">
              <a:avLst/>
            </a:prstGeom>
            <a:noFill/>
            <a:ln>
              <a:noFill/>
            </a:ln>
          </p:spPr>
          <p:txBody>
            <a:bodyPr spcFirstLastPara="1" wrap="square" lIns="0" tIns="0" rIns="0" bIns="0" anchor="t" anchorCtr="0">
              <a:spAutoFit/>
            </a:bodyPr>
            <a:lstStyle/>
            <a:p>
              <a:pPr marL="0" marR="0" lvl="0" indent="0" algn="ctr" rtl="0">
                <a:lnSpc>
                  <a:spcPct val="110000"/>
                </a:lnSpc>
                <a:spcBef>
                  <a:spcPts val="0"/>
                </a:spcBef>
                <a:spcAft>
                  <a:spcPts val="0"/>
                </a:spcAft>
                <a:buNone/>
              </a:pPr>
              <a:r>
                <a:rPr lang="en-GB" sz="3400" b="1" i="0" u="none" strike="noStrike" cap="none">
                  <a:solidFill>
                    <a:srgbClr val="1C2120"/>
                  </a:solidFill>
                  <a:latin typeface="Montserrat"/>
                  <a:ea typeface="Montserrat"/>
                  <a:cs typeface="Montserrat"/>
                  <a:sym typeface="Montserrat"/>
                </a:rPr>
                <a:t>KEY ASSISTANCE EXTENDED TO PROVINCIAL OFFICES</a:t>
              </a:r>
              <a:endParaRPr/>
            </a:p>
          </p:txBody>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Shape 143"/>
        <p:cNvGrpSpPr/>
        <p:nvPr/>
      </p:nvGrpSpPr>
      <p:grpSpPr>
        <a:xfrm>
          <a:off x="0" y="0"/>
          <a:ext cx="0" cy="0"/>
          <a:chOff x="0" y="0"/>
          <a:chExt cx="0" cy="0"/>
        </a:xfrm>
      </p:grpSpPr>
      <p:sp>
        <p:nvSpPr>
          <p:cNvPr id="144" name="Google Shape;144;p3"/>
          <p:cNvSpPr/>
          <p:nvPr/>
        </p:nvSpPr>
        <p:spPr>
          <a:xfrm>
            <a:off x="1028700" y="453061"/>
            <a:ext cx="1553339" cy="1518126"/>
          </a:xfrm>
          <a:custGeom>
            <a:avLst/>
            <a:gdLst/>
            <a:ahLst/>
            <a:cxnLst/>
            <a:rect l="l" t="t" r="r" b="b"/>
            <a:pathLst>
              <a:path w="1553339" h="1518126" extrusionOk="0">
                <a:moveTo>
                  <a:pt x="0" y="0"/>
                </a:moveTo>
                <a:lnTo>
                  <a:pt x="1553339" y="0"/>
                </a:lnTo>
                <a:lnTo>
                  <a:pt x="1553339" y="1518126"/>
                </a:lnTo>
                <a:lnTo>
                  <a:pt x="0" y="1518126"/>
                </a:lnTo>
                <a:lnTo>
                  <a:pt x="0" y="0"/>
                </a:lnTo>
                <a:close/>
              </a:path>
            </a:pathLst>
          </a:custGeom>
          <a:blipFill rotWithShape="1">
            <a:blip r:embed="rId3">
              <a:alphaModFix/>
            </a:blip>
            <a:stretch>
              <a:fillRect l="-31436" t="-10272" r="-26916" b="-57554"/>
            </a:stretch>
          </a:blipFill>
          <a:ln>
            <a:noFill/>
          </a:ln>
        </p:spPr>
      </p:sp>
      <p:cxnSp>
        <p:nvCxnSpPr>
          <p:cNvPr id="145" name="Google Shape;145;p3"/>
          <p:cNvCxnSpPr/>
          <p:nvPr/>
        </p:nvCxnSpPr>
        <p:spPr>
          <a:xfrm>
            <a:off x="2582039" y="1019175"/>
            <a:ext cx="14677261" cy="9525"/>
          </a:xfrm>
          <a:prstGeom prst="straightConnector1">
            <a:avLst/>
          </a:prstGeom>
          <a:noFill/>
          <a:ln w="19050" cap="flat" cmpd="sng">
            <a:solidFill>
              <a:srgbClr val="1C2120"/>
            </a:solidFill>
            <a:prstDash val="solid"/>
            <a:round/>
            <a:headEnd type="none" w="sm" len="sm"/>
            <a:tailEnd type="none" w="sm" len="sm"/>
          </a:ln>
        </p:spPr>
      </p:cxnSp>
      <p:sp>
        <p:nvSpPr>
          <p:cNvPr id="146" name="Google Shape;146;p3"/>
          <p:cNvSpPr txBox="1"/>
          <p:nvPr/>
        </p:nvSpPr>
        <p:spPr>
          <a:xfrm>
            <a:off x="4870968" y="4028821"/>
            <a:ext cx="8546064" cy="2205732"/>
          </a:xfrm>
          <a:prstGeom prst="rect">
            <a:avLst/>
          </a:prstGeom>
          <a:noFill/>
          <a:ln>
            <a:noFill/>
          </a:ln>
        </p:spPr>
        <p:txBody>
          <a:bodyPr spcFirstLastPara="1" wrap="square" lIns="0" tIns="0" rIns="0" bIns="0" anchor="t" anchorCtr="0">
            <a:spAutoFit/>
          </a:bodyPr>
          <a:lstStyle/>
          <a:p>
            <a:pPr marL="0" marR="0" lvl="0" indent="0" algn="ctr" rtl="0">
              <a:lnSpc>
                <a:spcPct val="134000"/>
              </a:lnSpc>
              <a:spcBef>
                <a:spcPts val="0"/>
              </a:spcBef>
              <a:spcAft>
                <a:spcPts val="0"/>
              </a:spcAft>
              <a:buNone/>
            </a:pPr>
            <a:r>
              <a:rPr lang="en-GB" sz="6400" b="1" i="0" u="none" strike="noStrike" cap="none">
                <a:solidFill>
                  <a:srgbClr val="1C2120"/>
                </a:solidFill>
                <a:latin typeface="Montserrat"/>
                <a:ea typeface="Montserrat"/>
                <a:cs typeface="Montserrat"/>
                <a:sym typeface="Montserrat"/>
              </a:rPr>
              <a:t>Top 5 Highlights of Accomplishments</a:t>
            </a:r>
            <a:endParaRPr sz="6400" b="1" i="0" u="none" strike="noStrike" cap="none">
              <a:solidFill>
                <a:srgbClr val="1C2120"/>
              </a:solidFill>
              <a:latin typeface="Montserrat"/>
              <a:ea typeface="Montserrat"/>
              <a:cs typeface="Montserrat"/>
              <a:sym typeface="Montserrat"/>
            </a:endParaRPr>
          </a:p>
        </p:txBody>
      </p:sp>
      <p:sp>
        <p:nvSpPr>
          <p:cNvPr id="147" name="Google Shape;147;p3"/>
          <p:cNvSpPr/>
          <p:nvPr/>
        </p:nvSpPr>
        <p:spPr>
          <a:xfrm>
            <a:off x="4762836" y="6421878"/>
            <a:ext cx="8762328" cy="91347"/>
          </a:xfrm>
          <a:prstGeom prst="rect">
            <a:avLst/>
          </a:prstGeom>
          <a:solidFill>
            <a:srgbClr val="1C212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48" name="Google Shape;148;p3"/>
          <p:cNvGrpSpPr/>
          <p:nvPr/>
        </p:nvGrpSpPr>
        <p:grpSpPr>
          <a:xfrm>
            <a:off x="1028700" y="8770953"/>
            <a:ext cx="16230606" cy="487347"/>
            <a:chOff x="0" y="0"/>
            <a:chExt cx="21640808" cy="649796"/>
          </a:xfrm>
        </p:grpSpPr>
        <p:sp>
          <p:nvSpPr>
            <p:cNvPr id="149" name="Google Shape;149;p3"/>
            <p:cNvSpPr/>
            <p:nvPr/>
          </p:nvSpPr>
          <p:spPr>
            <a:xfrm>
              <a:off x="0" y="0"/>
              <a:ext cx="21640808" cy="649796"/>
            </a:xfrm>
            <a:prstGeom prst="rect">
              <a:avLst/>
            </a:prstGeom>
            <a:solidFill>
              <a:srgbClr val="1C212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 name="Google Shape;150;p3"/>
            <p:cNvSpPr txBox="1"/>
            <p:nvPr/>
          </p:nvSpPr>
          <p:spPr>
            <a:xfrm>
              <a:off x="998193" y="85715"/>
              <a:ext cx="19644415" cy="440266"/>
            </a:xfrm>
            <a:prstGeom prst="rect">
              <a:avLst/>
            </a:prstGeom>
            <a:noFill/>
            <a:ln>
              <a:noFill/>
            </a:ln>
          </p:spPr>
          <p:txBody>
            <a:bodyPr spcFirstLastPara="1" wrap="square" lIns="0" tIns="0" rIns="0" bIns="0" anchor="t" anchorCtr="0">
              <a:spAutoFit/>
            </a:bodyPr>
            <a:lstStyle/>
            <a:p>
              <a:pPr marL="0" marR="0" lvl="0" indent="0" algn="just" rtl="0">
                <a:lnSpc>
                  <a:spcPct val="140000"/>
                </a:lnSpc>
                <a:spcBef>
                  <a:spcPts val="0"/>
                </a:spcBef>
                <a:spcAft>
                  <a:spcPts val="0"/>
                </a:spcAft>
                <a:buNone/>
              </a:pPr>
              <a:r>
                <a:rPr lang="en-GB" sz="2000" b="1" i="0" u="none" strike="noStrike" cap="none">
                  <a:solidFill>
                    <a:srgbClr val="FDFDFD"/>
                  </a:solidFill>
                  <a:latin typeface="Montserrat"/>
                  <a:ea typeface="Montserrat"/>
                  <a:cs typeface="Montserrat"/>
                  <a:sym typeface="Montserrat"/>
                </a:rPr>
                <a:t>DTI- SME DEVELOPMENT DIVISION│NC│CARP│TPU│EDU</a:t>
              </a:r>
              <a:endParaRPr/>
            </a:p>
          </p:txBody>
        </p:sp>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Shape 158"/>
        <p:cNvGrpSpPr/>
        <p:nvPr/>
      </p:nvGrpSpPr>
      <p:grpSpPr>
        <a:xfrm>
          <a:off x="0" y="0"/>
          <a:ext cx="0" cy="0"/>
          <a:chOff x="0" y="0"/>
          <a:chExt cx="0" cy="0"/>
        </a:xfrm>
      </p:grpSpPr>
      <p:sp>
        <p:nvSpPr>
          <p:cNvPr id="159" name="Google Shape;159;p4"/>
          <p:cNvSpPr/>
          <p:nvPr/>
        </p:nvSpPr>
        <p:spPr>
          <a:xfrm>
            <a:off x="1028700" y="453061"/>
            <a:ext cx="1553339" cy="1518126"/>
          </a:xfrm>
          <a:custGeom>
            <a:avLst/>
            <a:gdLst/>
            <a:ahLst/>
            <a:cxnLst/>
            <a:rect l="l" t="t" r="r" b="b"/>
            <a:pathLst>
              <a:path w="1553339" h="1518126" extrusionOk="0">
                <a:moveTo>
                  <a:pt x="0" y="0"/>
                </a:moveTo>
                <a:lnTo>
                  <a:pt x="1553339" y="0"/>
                </a:lnTo>
                <a:lnTo>
                  <a:pt x="1553339" y="1518126"/>
                </a:lnTo>
                <a:lnTo>
                  <a:pt x="0" y="1518126"/>
                </a:lnTo>
                <a:lnTo>
                  <a:pt x="0" y="0"/>
                </a:lnTo>
                <a:close/>
              </a:path>
            </a:pathLst>
          </a:custGeom>
          <a:blipFill rotWithShape="1">
            <a:blip r:embed="rId3">
              <a:alphaModFix/>
            </a:blip>
            <a:stretch>
              <a:fillRect l="-31436" t="-10272" r="-26916" b="-57554"/>
            </a:stretch>
          </a:blipFill>
          <a:ln>
            <a:noFill/>
          </a:ln>
        </p:spPr>
      </p:sp>
      <p:cxnSp>
        <p:nvCxnSpPr>
          <p:cNvPr id="160" name="Google Shape;160;p4"/>
          <p:cNvCxnSpPr/>
          <p:nvPr/>
        </p:nvCxnSpPr>
        <p:spPr>
          <a:xfrm>
            <a:off x="2582039" y="1019175"/>
            <a:ext cx="14677261" cy="9525"/>
          </a:xfrm>
          <a:prstGeom prst="straightConnector1">
            <a:avLst/>
          </a:prstGeom>
          <a:noFill/>
          <a:ln w="19050" cap="flat" cmpd="sng">
            <a:solidFill>
              <a:srgbClr val="1C2120"/>
            </a:solidFill>
            <a:prstDash val="solid"/>
            <a:round/>
            <a:headEnd type="none" w="sm" len="sm"/>
            <a:tailEnd type="none" w="sm" len="sm"/>
          </a:ln>
        </p:spPr>
      </p:cxnSp>
      <p:grpSp>
        <p:nvGrpSpPr>
          <p:cNvPr id="161" name="Google Shape;161;p4"/>
          <p:cNvGrpSpPr/>
          <p:nvPr/>
        </p:nvGrpSpPr>
        <p:grpSpPr>
          <a:xfrm>
            <a:off x="1219200" y="9294057"/>
            <a:ext cx="16230606" cy="487347"/>
            <a:chOff x="0" y="0"/>
            <a:chExt cx="21640808" cy="649796"/>
          </a:xfrm>
        </p:grpSpPr>
        <p:sp>
          <p:nvSpPr>
            <p:cNvPr id="162" name="Google Shape;162;p4"/>
            <p:cNvSpPr/>
            <p:nvPr/>
          </p:nvSpPr>
          <p:spPr>
            <a:xfrm>
              <a:off x="0" y="0"/>
              <a:ext cx="21640808" cy="649796"/>
            </a:xfrm>
            <a:prstGeom prst="rect">
              <a:avLst/>
            </a:prstGeom>
            <a:solidFill>
              <a:srgbClr val="1C212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 name="Google Shape;163;p4"/>
            <p:cNvSpPr txBox="1"/>
            <p:nvPr/>
          </p:nvSpPr>
          <p:spPr>
            <a:xfrm>
              <a:off x="998196" y="104764"/>
              <a:ext cx="19644415" cy="440267"/>
            </a:xfrm>
            <a:prstGeom prst="rect">
              <a:avLst/>
            </a:prstGeom>
            <a:noFill/>
            <a:ln>
              <a:noFill/>
            </a:ln>
          </p:spPr>
          <p:txBody>
            <a:bodyPr spcFirstLastPara="1" wrap="square" lIns="0" tIns="0" rIns="0" bIns="0" anchor="t" anchorCtr="0">
              <a:spAutoFit/>
            </a:bodyPr>
            <a:lstStyle/>
            <a:p>
              <a:pPr marL="0" marR="0" lvl="0" indent="0" algn="just" rtl="0">
                <a:lnSpc>
                  <a:spcPct val="140000"/>
                </a:lnSpc>
                <a:spcBef>
                  <a:spcPts val="0"/>
                </a:spcBef>
                <a:spcAft>
                  <a:spcPts val="0"/>
                </a:spcAft>
                <a:buNone/>
              </a:pPr>
              <a:r>
                <a:rPr lang="en-GB" sz="2000" b="1" i="0" u="none" strike="noStrike" cap="none">
                  <a:solidFill>
                    <a:srgbClr val="FDFDFD"/>
                  </a:solidFill>
                  <a:latin typeface="Montserrat"/>
                  <a:ea typeface="Montserrat"/>
                  <a:cs typeface="Montserrat"/>
                  <a:sym typeface="Montserrat"/>
                </a:rPr>
                <a:t>DTI- SME DEVELOPMENT DIVISION│NC│CARP│TPU│EDU</a:t>
              </a:r>
              <a:endParaRPr/>
            </a:p>
          </p:txBody>
        </p:sp>
      </p:grpSp>
      <p:sp>
        <p:nvSpPr>
          <p:cNvPr id="164" name="Google Shape;164;p4"/>
          <p:cNvSpPr txBox="1"/>
          <p:nvPr/>
        </p:nvSpPr>
        <p:spPr>
          <a:xfrm>
            <a:off x="2209800" y="2628900"/>
            <a:ext cx="14706600"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nvGrpSpPr>
          <p:cNvPr id="165" name="Google Shape;165;p4"/>
          <p:cNvGrpSpPr/>
          <p:nvPr/>
        </p:nvGrpSpPr>
        <p:grpSpPr>
          <a:xfrm>
            <a:off x="-100942" y="2467626"/>
            <a:ext cx="16802100" cy="3150801"/>
            <a:chOff x="457200" y="2525278"/>
            <a:chExt cx="14612603" cy="3150801"/>
          </a:xfrm>
        </p:grpSpPr>
        <p:sp>
          <p:nvSpPr>
            <p:cNvPr id="166" name="Google Shape;166;p4"/>
            <p:cNvSpPr/>
            <p:nvPr/>
          </p:nvSpPr>
          <p:spPr>
            <a:xfrm>
              <a:off x="2323450" y="2525278"/>
              <a:ext cx="11697350" cy="715340"/>
            </a:xfrm>
            <a:prstGeom prst="roundRect">
              <a:avLst>
                <a:gd name="adj" fmla="val 16667"/>
              </a:avLst>
            </a:prstGeom>
            <a:solidFill>
              <a:srgbClr val="DAE5F1"/>
            </a:solidFill>
            <a:ln w="25400" cap="flat"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B7CCE4"/>
                </a:solidFill>
                <a:latin typeface="Calibri"/>
                <a:ea typeface="Calibri"/>
                <a:cs typeface="Calibri"/>
                <a:sym typeface="Calibri"/>
              </a:endParaRPr>
            </a:p>
          </p:txBody>
        </p:sp>
        <p:sp>
          <p:nvSpPr>
            <p:cNvPr id="167" name="Google Shape;167;p4"/>
            <p:cNvSpPr txBox="1"/>
            <p:nvPr/>
          </p:nvSpPr>
          <p:spPr>
            <a:xfrm>
              <a:off x="2473623" y="2566564"/>
              <a:ext cx="9794577" cy="58477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3200" b="1">
                  <a:solidFill>
                    <a:schemeClr val="dk1"/>
                  </a:solidFill>
                  <a:latin typeface="Poppins"/>
                  <a:ea typeface="Poppins"/>
                  <a:cs typeface="Poppins"/>
                  <a:sym typeface="Poppins"/>
                </a:rPr>
                <a:t>Development &amp; Market Expansion of Local Products</a:t>
              </a:r>
              <a:endParaRPr sz="3200" b="1">
                <a:solidFill>
                  <a:schemeClr val="dk1"/>
                </a:solidFill>
                <a:latin typeface="Poppins"/>
                <a:ea typeface="Poppins"/>
                <a:cs typeface="Poppins"/>
                <a:sym typeface="Poppins"/>
              </a:endParaRPr>
            </a:p>
          </p:txBody>
        </p:sp>
        <p:sp>
          <p:nvSpPr>
            <p:cNvPr id="168" name="Google Shape;168;p4"/>
            <p:cNvSpPr txBox="1"/>
            <p:nvPr/>
          </p:nvSpPr>
          <p:spPr>
            <a:xfrm>
              <a:off x="457200" y="2628900"/>
              <a:ext cx="2920884" cy="641201"/>
            </a:xfrm>
            <a:prstGeom prst="rect">
              <a:avLst/>
            </a:prstGeom>
            <a:noFill/>
            <a:ln>
              <a:noFill/>
            </a:ln>
          </p:spPr>
          <p:txBody>
            <a:bodyPr spcFirstLastPara="1" wrap="square" lIns="0" tIns="0" rIns="0" bIns="0" anchor="t" anchorCtr="0">
              <a:spAutoFit/>
            </a:bodyPr>
            <a:lstStyle/>
            <a:p>
              <a:pPr marL="0" marR="0" lvl="0" indent="0" algn="ctr" rtl="0">
                <a:lnSpc>
                  <a:spcPct val="93333"/>
                </a:lnSpc>
                <a:spcBef>
                  <a:spcPts val="0"/>
                </a:spcBef>
                <a:spcAft>
                  <a:spcPts val="0"/>
                </a:spcAft>
                <a:buNone/>
              </a:pPr>
              <a:r>
                <a:rPr lang="en-GB" sz="5400" b="1">
                  <a:solidFill>
                    <a:schemeClr val="dk2"/>
                  </a:solidFill>
                  <a:latin typeface="Montserrat"/>
                  <a:ea typeface="Montserrat"/>
                  <a:cs typeface="Montserrat"/>
                  <a:sym typeface="Montserrat"/>
                </a:rPr>
                <a:t>1</a:t>
              </a:r>
              <a:endParaRPr/>
            </a:p>
          </p:txBody>
        </p:sp>
        <p:sp>
          <p:nvSpPr>
            <p:cNvPr id="169" name="Google Shape;169;p4"/>
            <p:cNvSpPr txBox="1"/>
            <p:nvPr/>
          </p:nvSpPr>
          <p:spPr>
            <a:xfrm>
              <a:off x="2335642" y="3367755"/>
              <a:ext cx="12734161" cy="230832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2400">
                  <a:solidFill>
                    <a:schemeClr val="dk1"/>
                  </a:solidFill>
                  <a:latin typeface="Century Gothic"/>
                  <a:ea typeface="Century Gothic"/>
                  <a:cs typeface="Century Gothic"/>
                  <a:sym typeface="Century Gothic"/>
                </a:rPr>
                <a:t>Trade Fairs Conducted </a:t>
              </a:r>
              <a:endParaRPr sz="2400">
                <a:solidFill>
                  <a:schemeClr val="dk1"/>
                </a:solidFill>
                <a:latin typeface="Century Gothic"/>
                <a:ea typeface="Century Gothic"/>
                <a:cs typeface="Century Gothic"/>
                <a:sym typeface="Century Gothic"/>
              </a:endParaRPr>
            </a:p>
            <a:p>
              <a:pPr marL="0" marR="0" lvl="0" indent="0" algn="l" rtl="0">
                <a:spcBef>
                  <a:spcPts val="0"/>
                </a:spcBef>
                <a:spcAft>
                  <a:spcPts val="0"/>
                </a:spcAft>
                <a:buNone/>
              </a:pPr>
              <a:r>
                <a:rPr lang="en-GB" sz="2400">
                  <a:solidFill>
                    <a:schemeClr val="dk1"/>
                  </a:solidFill>
                  <a:latin typeface="Century Gothic"/>
                  <a:ea typeface="Century Gothic"/>
                  <a:cs typeface="Century Gothic"/>
                  <a:sym typeface="Century Gothic"/>
                </a:rPr>
                <a:t>Prototypes Developed </a:t>
              </a:r>
              <a:endParaRPr sz="2400">
                <a:solidFill>
                  <a:schemeClr val="dk1"/>
                </a:solidFill>
                <a:latin typeface="Century Gothic"/>
                <a:ea typeface="Century Gothic"/>
                <a:cs typeface="Century Gothic"/>
                <a:sym typeface="Century Gothic"/>
              </a:endParaRPr>
            </a:p>
            <a:p>
              <a:pPr marL="0" marR="0" lvl="0" indent="0" algn="l" rtl="0">
                <a:spcBef>
                  <a:spcPts val="0"/>
                </a:spcBef>
                <a:spcAft>
                  <a:spcPts val="0"/>
                </a:spcAft>
                <a:buNone/>
              </a:pPr>
              <a:r>
                <a:rPr lang="en-GB" sz="2400">
                  <a:solidFill>
                    <a:schemeClr val="dk1"/>
                  </a:solidFill>
                  <a:latin typeface="Century Gothic"/>
                  <a:ea typeface="Century Gothic"/>
                  <a:cs typeface="Century Gothic"/>
                  <a:sym typeface="Century Gothic"/>
                </a:rPr>
                <a:t>Brands Developed </a:t>
              </a:r>
              <a:endParaRPr sz="2400">
                <a:solidFill>
                  <a:schemeClr val="dk1"/>
                </a:solidFill>
                <a:latin typeface="Century Gothic"/>
                <a:ea typeface="Century Gothic"/>
                <a:cs typeface="Century Gothic"/>
                <a:sym typeface="Century Gothic"/>
              </a:endParaRPr>
            </a:p>
            <a:p>
              <a:pPr marL="0" marR="0" lvl="0" indent="0" algn="l" rtl="0">
                <a:spcBef>
                  <a:spcPts val="0"/>
                </a:spcBef>
                <a:spcAft>
                  <a:spcPts val="0"/>
                </a:spcAft>
                <a:buNone/>
              </a:pPr>
              <a:r>
                <a:rPr lang="en-GB" sz="2400">
                  <a:solidFill>
                    <a:schemeClr val="dk1"/>
                  </a:solidFill>
                  <a:latin typeface="Century Gothic"/>
                  <a:ea typeface="Century Gothic"/>
                  <a:cs typeface="Century Gothic"/>
                  <a:sym typeface="Century Gothic"/>
                </a:rPr>
                <a:t>ACT Sessions Conducted </a:t>
              </a:r>
              <a:endParaRPr sz="2400">
                <a:solidFill>
                  <a:schemeClr val="dk1"/>
                </a:solidFill>
                <a:latin typeface="Century Gothic"/>
                <a:ea typeface="Century Gothic"/>
                <a:cs typeface="Century Gothic"/>
                <a:sym typeface="Century Gothic"/>
              </a:endParaRPr>
            </a:p>
            <a:p>
              <a:pPr marL="0" marR="0" lvl="0" indent="0" algn="l" rtl="0">
                <a:spcBef>
                  <a:spcPts val="0"/>
                </a:spcBef>
                <a:spcAft>
                  <a:spcPts val="0"/>
                </a:spcAft>
                <a:buNone/>
              </a:pPr>
              <a:r>
                <a:rPr lang="en-GB" sz="2400">
                  <a:solidFill>
                    <a:schemeClr val="dk1"/>
                  </a:solidFill>
                  <a:latin typeface="Century Gothic"/>
                  <a:ea typeface="Century Gothic"/>
                  <a:cs typeface="Century Gothic"/>
                  <a:sym typeface="Century Gothic"/>
                </a:rPr>
                <a:t>Sales Generated </a:t>
              </a:r>
              <a:endParaRPr sz="2400">
                <a:solidFill>
                  <a:schemeClr val="dk1"/>
                </a:solidFill>
                <a:latin typeface="Century Gothic"/>
                <a:ea typeface="Century Gothic"/>
                <a:cs typeface="Century Gothic"/>
                <a:sym typeface="Century Gothic"/>
              </a:endParaRPr>
            </a:p>
            <a:p>
              <a:pPr marL="0" marR="0" lvl="0" indent="0" algn="l" rtl="0">
                <a:spcBef>
                  <a:spcPts val="0"/>
                </a:spcBef>
                <a:spcAft>
                  <a:spcPts val="0"/>
                </a:spcAft>
                <a:buNone/>
              </a:pPr>
              <a:r>
                <a:rPr lang="en-GB" sz="2400">
                  <a:solidFill>
                    <a:schemeClr val="dk1"/>
                  </a:solidFill>
                  <a:latin typeface="Century Gothic"/>
                  <a:ea typeface="Century Gothic"/>
                  <a:cs typeface="Century Gothic"/>
                  <a:sym typeface="Century Gothic"/>
                </a:rPr>
                <a:t>MSMEs Assisted</a:t>
              </a:r>
              <a:endParaRPr sz="2400">
                <a:solidFill>
                  <a:schemeClr val="dk1"/>
                </a:solidFill>
                <a:latin typeface="Century Gothic"/>
                <a:ea typeface="Century Gothic"/>
                <a:cs typeface="Century Gothic"/>
                <a:sym typeface="Century Gothic"/>
              </a:endParaRPr>
            </a:p>
          </p:txBody>
        </p:sp>
      </p:grpSp>
      <p:grpSp>
        <p:nvGrpSpPr>
          <p:cNvPr id="170" name="Google Shape;170;p4"/>
          <p:cNvGrpSpPr/>
          <p:nvPr/>
        </p:nvGrpSpPr>
        <p:grpSpPr>
          <a:xfrm>
            <a:off x="-18288" y="5773896"/>
            <a:ext cx="16823436" cy="2372965"/>
            <a:chOff x="457200" y="2525278"/>
            <a:chExt cx="14644441" cy="2372965"/>
          </a:xfrm>
        </p:grpSpPr>
        <p:sp>
          <p:nvSpPr>
            <p:cNvPr id="171" name="Google Shape;171;p4"/>
            <p:cNvSpPr/>
            <p:nvPr/>
          </p:nvSpPr>
          <p:spPr>
            <a:xfrm>
              <a:off x="2323450" y="2525278"/>
              <a:ext cx="11697350" cy="1079140"/>
            </a:xfrm>
            <a:prstGeom prst="roundRect">
              <a:avLst>
                <a:gd name="adj" fmla="val 16667"/>
              </a:avLst>
            </a:prstGeom>
            <a:solidFill>
              <a:srgbClr val="DAE5F1"/>
            </a:solidFill>
            <a:ln w="25400" cap="flat"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B7CCE4"/>
                </a:solidFill>
                <a:latin typeface="Calibri"/>
                <a:ea typeface="Calibri"/>
                <a:cs typeface="Calibri"/>
                <a:sym typeface="Calibri"/>
              </a:endParaRPr>
            </a:p>
          </p:txBody>
        </p:sp>
        <p:sp>
          <p:nvSpPr>
            <p:cNvPr id="172" name="Google Shape;172;p4"/>
            <p:cNvSpPr txBox="1"/>
            <p:nvPr/>
          </p:nvSpPr>
          <p:spPr>
            <a:xfrm>
              <a:off x="2473622" y="2566564"/>
              <a:ext cx="11435397" cy="1077218"/>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3200" b="1">
                  <a:solidFill>
                    <a:schemeClr val="dk1"/>
                  </a:solidFill>
                  <a:latin typeface="Poppins"/>
                  <a:ea typeface="Poppins"/>
                  <a:cs typeface="Poppins"/>
                  <a:sym typeface="Poppins"/>
                </a:rPr>
                <a:t>Assessment, Consultation, and Triage (ACT) Sessions for Food and Non-Food MSMEs</a:t>
              </a:r>
              <a:endParaRPr/>
            </a:p>
          </p:txBody>
        </p:sp>
        <p:sp>
          <p:nvSpPr>
            <p:cNvPr id="173" name="Google Shape;173;p4"/>
            <p:cNvSpPr txBox="1"/>
            <p:nvPr/>
          </p:nvSpPr>
          <p:spPr>
            <a:xfrm>
              <a:off x="457200" y="2628900"/>
              <a:ext cx="2920884" cy="641201"/>
            </a:xfrm>
            <a:prstGeom prst="rect">
              <a:avLst/>
            </a:prstGeom>
            <a:noFill/>
            <a:ln>
              <a:noFill/>
            </a:ln>
          </p:spPr>
          <p:txBody>
            <a:bodyPr spcFirstLastPara="1" wrap="square" lIns="0" tIns="0" rIns="0" bIns="0" anchor="t" anchorCtr="0">
              <a:spAutoFit/>
            </a:bodyPr>
            <a:lstStyle/>
            <a:p>
              <a:pPr marL="0" marR="0" lvl="0" indent="0" algn="ctr" rtl="0">
                <a:lnSpc>
                  <a:spcPct val="93333"/>
                </a:lnSpc>
                <a:spcBef>
                  <a:spcPts val="0"/>
                </a:spcBef>
                <a:spcAft>
                  <a:spcPts val="0"/>
                </a:spcAft>
                <a:buNone/>
              </a:pPr>
              <a:r>
                <a:rPr lang="en-GB" sz="5400" b="1">
                  <a:solidFill>
                    <a:schemeClr val="dk2"/>
                  </a:solidFill>
                  <a:latin typeface="Montserrat"/>
                  <a:ea typeface="Montserrat"/>
                  <a:cs typeface="Montserrat"/>
                  <a:sym typeface="Montserrat"/>
                </a:rPr>
                <a:t>2</a:t>
              </a:r>
              <a:endParaRPr sz="5400" b="1">
                <a:solidFill>
                  <a:schemeClr val="dk2"/>
                </a:solidFill>
                <a:latin typeface="Montserrat"/>
                <a:ea typeface="Montserrat"/>
                <a:cs typeface="Montserrat"/>
                <a:sym typeface="Montserrat"/>
              </a:endParaRPr>
            </a:p>
          </p:txBody>
        </p:sp>
        <p:sp>
          <p:nvSpPr>
            <p:cNvPr id="174" name="Google Shape;174;p4"/>
            <p:cNvSpPr txBox="1"/>
            <p:nvPr/>
          </p:nvSpPr>
          <p:spPr>
            <a:xfrm>
              <a:off x="2367480" y="3697914"/>
              <a:ext cx="12734161" cy="120032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2400">
                  <a:solidFill>
                    <a:schemeClr val="dk1"/>
                  </a:solidFill>
                  <a:latin typeface="Century Gothic"/>
                  <a:ea typeface="Century Gothic"/>
                  <a:cs typeface="Century Gothic"/>
                  <a:sym typeface="Century Gothic"/>
                </a:rPr>
                <a:t>11 ACT Sessions conducted</a:t>
              </a:r>
              <a:endParaRPr/>
            </a:p>
            <a:p>
              <a:pPr marL="0" marR="0" lvl="0" indent="0" algn="l" rtl="0">
                <a:spcBef>
                  <a:spcPts val="0"/>
                </a:spcBef>
                <a:spcAft>
                  <a:spcPts val="0"/>
                </a:spcAft>
                <a:buNone/>
              </a:pPr>
              <a:r>
                <a:rPr lang="en-GB" sz="2400">
                  <a:solidFill>
                    <a:schemeClr val="dk1"/>
                  </a:solidFill>
                  <a:latin typeface="Century Gothic"/>
                  <a:ea typeface="Century Gothic"/>
                  <a:cs typeface="Century Gothic"/>
                  <a:sym typeface="Century Gothic"/>
                </a:rPr>
                <a:t>310 Prototypes Developed</a:t>
              </a:r>
              <a:endParaRPr/>
            </a:p>
            <a:p>
              <a:pPr marL="0" marR="0" lvl="0" indent="0" algn="l" rtl="0">
                <a:spcBef>
                  <a:spcPts val="0"/>
                </a:spcBef>
                <a:spcAft>
                  <a:spcPts val="0"/>
                </a:spcAft>
                <a:buNone/>
              </a:pPr>
              <a:r>
                <a:rPr lang="en-GB" sz="2400">
                  <a:solidFill>
                    <a:schemeClr val="dk1"/>
                  </a:solidFill>
                  <a:latin typeface="Century Gothic"/>
                  <a:ea typeface="Century Gothic"/>
                  <a:cs typeface="Century Gothic"/>
                  <a:sym typeface="Century Gothic"/>
                </a:rPr>
                <a:t>42 Brands Developed</a:t>
              </a:r>
              <a:endParaRPr sz="2400">
                <a:solidFill>
                  <a:schemeClr val="dk1"/>
                </a:solidFill>
                <a:latin typeface="Century Gothic"/>
                <a:ea typeface="Century Gothic"/>
                <a:cs typeface="Century Gothic"/>
                <a:sym typeface="Century Gothic"/>
              </a:endParaRPr>
            </a:p>
          </p:txBody>
        </p:sp>
      </p:grpSp>
      <p:pic>
        <p:nvPicPr>
          <p:cNvPr id="175" name="Google Shape;175;p4"/>
          <p:cNvPicPr preferRelativeResize="0"/>
          <p:nvPr/>
        </p:nvPicPr>
        <p:blipFill rotWithShape="1">
          <a:blip r:embed="rId4">
            <a:alphaModFix/>
          </a:blip>
          <a:srcRect t="21555" b="25110"/>
          <a:stretch/>
        </p:blipFill>
        <p:spPr>
          <a:xfrm>
            <a:off x="2582039" y="743841"/>
            <a:ext cx="2143125" cy="1143000"/>
          </a:xfrm>
          <a:prstGeom prst="rect">
            <a:avLst/>
          </a:prstGeom>
          <a:noFill/>
          <a:ln>
            <a:noFill/>
          </a:ln>
        </p:spPr>
      </p:pic>
      <p:sp>
        <p:nvSpPr>
          <p:cNvPr id="176" name="Google Shape;176;p4"/>
          <p:cNvSpPr txBox="1"/>
          <p:nvPr/>
        </p:nvSpPr>
        <p:spPr>
          <a:xfrm>
            <a:off x="4572000" y="1381330"/>
            <a:ext cx="9838329" cy="438150"/>
          </a:xfrm>
          <a:prstGeom prst="rect">
            <a:avLst/>
          </a:prstGeom>
          <a:noFill/>
          <a:ln>
            <a:noFill/>
          </a:ln>
        </p:spPr>
        <p:txBody>
          <a:bodyPr spcFirstLastPara="1" wrap="square" lIns="0" tIns="0" rIns="0" bIns="0" anchor="t" anchorCtr="0">
            <a:spAutoFit/>
          </a:bodyPr>
          <a:lstStyle/>
          <a:p>
            <a:pPr marL="0" marR="0" lvl="0" indent="0" algn="ctr" rtl="0">
              <a:lnSpc>
                <a:spcPct val="110000"/>
              </a:lnSpc>
              <a:spcBef>
                <a:spcPts val="0"/>
              </a:spcBef>
              <a:spcAft>
                <a:spcPts val="0"/>
              </a:spcAft>
              <a:buNone/>
            </a:pPr>
            <a:r>
              <a:rPr lang="en-GB" sz="3000" b="1">
                <a:solidFill>
                  <a:srgbClr val="1C2120"/>
                </a:solidFill>
                <a:latin typeface="Montserrat"/>
                <a:ea typeface="Montserrat"/>
                <a:cs typeface="Montserrat"/>
                <a:sym typeface="Montserrat"/>
              </a:rPr>
              <a:t>TRADE PROMOTION UNIT</a:t>
            </a:r>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Shape 184"/>
        <p:cNvGrpSpPr/>
        <p:nvPr/>
      </p:nvGrpSpPr>
      <p:grpSpPr>
        <a:xfrm>
          <a:off x="0" y="0"/>
          <a:ext cx="0" cy="0"/>
          <a:chOff x="0" y="0"/>
          <a:chExt cx="0" cy="0"/>
        </a:xfrm>
      </p:grpSpPr>
      <p:sp>
        <p:nvSpPr>
          <p:cNvPr id="185" name="Google Shape;185;p5"/>
          <p:cNvSpPr/>
          <p:nvPr/>
        </p:nvSpPr>
        <p:spPr>
          <a:xfrm>
            <a:off x="1028700" y="453061"/>
            <a:ext cx="1553339" cy="1518126"/>
          </a:xfrm>
          <a:custGeom>
            <a:avLst/>
            <a:gdLst/>
            <a:ahLst/>
            <a:cxnLst/>
            <a:rect l="l" t="t" r="r" b="b"/>
            <a:pathLst>
              <a:path w="1553339" h="1518126" extrusionOk="0">
                <a:moveTo>
                  <a:pt x="0" y="0"/>
                </a:moveTo>
                <a:lnTo>
                  <a:pt x="1553339" y="0"/>
                </a:lnTo>
                <a:lnTo>
                  <a:pt x="1553339" y="1518126"/>
                </a:lnTo>
                <a:lnTo>
                  <a:pt x="0" y="1518126"/>
                </a:lnTo>
                <a:lnTo>
                  <a:pt x="0" y="0"/>
                </a:lnTo>
                <a:close/>
              </a:path>
            </a:pathLst>
          </a:custGeom>
          <a:blipFill rotWithShape="1">
            <a:blip r:embed="rId3">
              <a:alphaModFix/>
            </a:blip>
            <a:stretch>
              <a:fillRect l="-31436" t="-10272" r="-26916" b="-57554"/>
            </a:stretch>
          </a:blipFill>
          <a:ln>
            <a:noFill/>
          </a:ln>
        </p:spPr>
      </p:sp>
      <p:cxnSp>
        <p:nvCxnSpPr>
          <p:cNvPr id="186" name="Google Shape;186;p5"/>
          <p:cNvCxnSpPr/>
          <p:nvPr/>
        </p:nvCxnSpPr>
        <p:spPr>
          <a:xfrm>
            <a:off x="2582039" y="1019175"/>
            <a:ext cx="14677261" cy="9525"/>
          </a:xfrm>
          <a:prstGeom prst="straightConnector1">
            <a:avLst/>
          </a:prstGeom>
          <a:noFill/>
          <a:ln w="19050" cap="flat" cmpd="sng">
            <a:solidFill>
              <a:srgbClr val="1C2120"/>
            </a:solidFill>
            <a:prstDash val="solid"/>
            <a:round/>
            <a:headEnd type="none" w="sm" len="sm"/>
            <a:tailEnd type="none" w="sm" len="sm"/>
          </a:ln>
        </p:spPr>
      </p:cxnSp>
      <p:grpSp>
        <p:nvGrpSpPr>
          <p:cNvPr id="187" name="Google Shape;187;p5"/>
          <p:cNvGrpSpPr/>
          <p:nvPr/>
        </p:nvGrpSpPr>
        <p:grpSpPr>
          <a:xfrm>
            <a:off x="1219200" y="9294057"/>
            <a:ext cx="16230606" cy="487347"/>
            <a:chOff x="0" y="0"/>
            <a:chExt cx="21640808" cy="649796"/>
          </a:xfrm>
        </p:grpSpPr>
        <p:sp>
          <p:nvSpPr>
            <p:cNvPr id="188" name="Google Shape;188;p5"/>
            <p:cNvSpPr/>
            <p:nvPr/>
          </p:nvSpPr>
          <p:spPr>
            <a:xfrm>
              <a:off x="0" y="0"/>
              <a:ext cx="21640808" cy="649796"/>
            </a:xfrm>
            <a:prstGeom prst="rect">
              <a:avLst/>
            </a:prstGeom>
            <a:solidFill>
              <a:srgbClr val="1C212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 name="Google Shape;189;p5"/>
            <p:cNvSpPr txBox="1"/>
            <p:nvPr/>
          </p:nvSpPr>
          <p:spPr>
            <a:xfrm>
              <a:off x="998196" y="104764"/>
              <a:ext cx="19644415" cy="440267"/>
            </a:xfrm>
            <a:prstGeom prst="rect">
              <a:avLst/>
            </a:prstGeom>
            <a:noFill/>
            <a:ln>
              <a:noFill/>
            </a:ln>
          </p:spPr>
          <p:txBody>
            <a:bodyPr spcFirstLastPara="1" wrap="square" lIns="0" tIns="0" rIns="0" bIns="0" anchor="t" anchorCtr="0">
              <a:spAutoFit/>
            </a:bodyPr>
            <a:lstStyle/>
            <a:p>
              <a:pPr marL="0" marR="0" lvl="0" indent="0" algn="just" rtl="0">
                <a:lnSpc>
                  <a:spcPct val="140000"/>
                </a:lnSpc>
                <a:spcBef>
                  <a:spcPts val="0"/>
                </a:spcBef>
                <a:spcAft>
                  <a:spcPts val="0"/>
                </a:spcAft>
                <a:buNone/>
              </a:pPr>
              <a:r>
                <a:rPr lang="en-GB" sz="2000" b="1">
                  <a:solidFill>
                    <a:srgbClr val="FDFDFD"/>
                  </a:solidFill>
                  <a:latin typeface="Montserrat"/>
                  <a:ea typeface="Montserrat"/>
                  <a:cs typeface="Montserrat"/>
                  <a:sym typeface="Montserrat"/>
                </a:rPr>
                <a:t>DTI- SME DEVELOPMENT DIVISION│NC│CARP│TPU│EDU</a:t>
              </a:r>
              <a:endParaRPr/>
            </a:p>
          </p:txBody>
        </p:sp>
      </p:grpSp>
      <p:sp>
        <p:nvSpPr>
          <p:cNvPr id="190" name="Google Shape;190;p5"/>
          <p:cNvSpPr txBox="1"/>
          <p:nvPr/>
        </p:nvSpPr>
        <p:spPr>
          <a:xfrm>
            <a:off x="2209800" y="2628900"/>
            <a:ext cx="14706600"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nvGrpSpPr>
          <p:cNvPr id="191" name="Google Shape;191;p5"/>
          <p:cNvGrpSpPr/>
          <p:nvPr/>
        </p:nvGrpSpPr>
        <p:grpSpPr>
          <a:xfrm>
            <a:off x="-151911" y="2405539"/>
            <a:ext cx="16887708" cy="2576549"/>
            <a:chOff x="457200" y="2525278"/>
            <a:chExt cx="14687518" cy="2576549"/>
          </a:xfrm>
        </p:grpSpPr>
        <p:sp>
          <p:nvSpPr>
            <p:cNvPr id="192" name="Google Shape;192;p5"/>
            <p:cNvSpPr/>
            <p:nvPr/>
          </p:nvSpPr>
          <p:spPr>
            <a:xfrm>
              <a:off x="2323450" y="2525278"/>
              <a:ext cx="11697350" cy="715340"/>
            </a:xfrm>
            <a:prstGeom prst="roundRect">
              <a:avLst>
                <a:gd name="adj" fmla="val 16667"/>
              </a:avLst>
            </a:prstGeom>
            <a:solidFill>
              <a:srgbClr val="DAE5F1"/>
            </a:solidFill>
            <a:ln w="25400" cap="flat"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B7CCE4"/>
                </a:solidFill>
                <a:latin typeface="Calibri"/>
                <a:ea typeface="Calibri"/>
                <a:cs typeface="Calibri"/>
                <a:sym typeface="Calibri"/>
              </a:endParaRPr>
            </a:p>
          </p:txBody>
        </p:sp>
        <p:sp>
          <p:nvSpPr>
            <p:cNvPr id="193" name="Google Shape;193;p5"/>
            <p:cNvSpPr txBox="1"/>
            <p:nvPr/>
          </p:nvSpPr>
          <p:spPr>
            <a:xfrm>
              <a:off x="2325984" y="2642764"/>
              <a:ext cx="12047400" cy="5388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2900" b="1">
                  <a:solidFill>
                    <a:schemeClr val="dk1"/>
                  </a:solidFill>
                  <a:latin typeface="Poppins"/>
                  <a:ea typeface="Poppins"/>
                  <a:cs typeface="Poppins"/>
                  <a:sym typeface="Poppins"/>
                </a:rPr>
                <a:t>Success of OTOP-Assisted MSMEs: Export-Readiness and</a:t>
              </a:r>
              <a:r>
                <a:rPr lang="en-GB" sz="2500" b="1">
                  <a:solidFill>
                    <a:schemeClr val="dk1"/>
                  </a:solidFill>
                  <a:latin typeface="Poppins"/>
                  <a:ea typeface="Poppins"/>
                  <a:cs typeface="Poppins"/>
                  <a:sym typeface="Poppins"/>
                </a:rPr>
                <a:t> </a:t>
              </a:r>
              <a:r>
                <a:rPr lang="en-GB" sz="2800" b="1">
                  <a:solidFill>
                    <a:schemeClr val="dk1"/>
                  </a:solidFill>
                  <a:latin typeface="Poppins"/>
                  <a:ea typeface="Poppins"/>
                  <a:cs typeface="Poppins"/>
                  <a:sym typeface="Poppins"/>
                </a:rPr>
                <a:t>Certifications</a:t>
              </a:r>
              <a:endParaRPr sz="1000"/>
            </a:p>
          </p:txBody>
        </p:sp>
        <p:sp>
          <p:nvSpPr>
            <p:cNvPr id="194" name="Google Shape;194;p5"/>
            <p:cNvSpPr txBox="1"/>
            <p:nvPr/>
          </p:nvSpPr>
          <p:spPr>
            <a:xfrm>
              <a:off x="457200" y="2628900"/>
              <a:ext cx="2920800" cy="641100"/>
            </a:xfrm>
            <a:prstGeom prst="rect">
              <a:avLst/>
            </a:prstGeom>
            <a:noFill/>
            <a:ln>
              <a:noFill/>
            </a:ln>
          </p:spPr>
          <p:txBody>
            <a:bodyPr spcFirstLastPara="1" wrap="square" lIns="0" tIns="0" rIns="0" bIns="0" anchor="t" anchorCtr="0">
              <a:spAutoFit/>
            </a:bodyPr>
            <a:lstStyle/>
            <a:p>
              <a:pPr marL="0" marR="0" lvl="0" indent="0" algn="ctr" rtl="0">
                <a:lnSpc>
                  <a:spcPct val="93333"/>
                </a:lnSpc>
                <a:spcBef>
                  <a:spcPts val="0"/>
                </a:spcBef>
                <a:spcAft>
                  <a:spcPts val="0"/>
                </a:spcAft>
                <a:buNone/>
              </a:pPr>
              <a:r>
                <a:rPr lang="en-GB" sz="5400" b="1">
                  <a:solidFill>
                    <a:schemeClr val="dk2"/>
                  </a:solidFill>
                  <a:latin typeface="Montserrat"/>
                  <a:ea typeface="Montserrat"/>
                  <a:cs typeface="Montserrat"/>
                  <a:sym typeface="Montserrat"/>
                </a:rPr>
                <a:t>3</a:t>
              </a:r>
              <a:endParaRPr sz="5400" b="1">
                <a:solidFill>
                  <a:schemeClr val="dk2"/>
                </a:solidFill>
                <a:latin typeface="Montserrat"/>
                <a:ea typeface="Montserrat"/>
                <a:cs typeface="Montserrat"/>
                <a:sym typeface="Montserrat"/>
              </a:endParaRPr>
            </a:p>
          </p:txBody>
        </p:sp>
        <p:sp>
          <p:nvSpPr>
            <p:cNvPr id="195" name="Google Shape;195;p5"/>
            <p:cNvSpPr txBox="1"/>
            <p:nvPr/>
          </p:nvSpPr>
          <p:spPr>
            <a:xfrm>
              <a:off x="2410618" y="3531927"/>
              <a:ext cx="12734100" cy="15699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2400">
                  <a:solidFill>
                    <a:schemeClr val="dk1"/>
                  </a:solidFill>
                  <a:latin typeface="Century Gothic"/>
                  <a:ea typeface="Century Gothic"/>
                  <a:cs typeface="Century Gothic"/>
                  <a:sym typeface="Century Gothic"/>
                </a:rPr>
                <a:t>15 Halal-Certified OTOPreneurs</a:t>
              </a:r>
              <a:endParaRPr sz="2400">
                <a:solidFill>
                  <a:schemeClr val="dk1"/>
                </a:solidFill>
                <a:latin typeface="Century Gothic"/>
                <a:ea typeface="Century Gothic"/>
                <a:cs typeface="Century Gothic"/>
                <a:sym typeface="Century Gothic"/>
              </a:endParaRPr>
            </a:p>
            <a:p>
              <a:pPr marL="0" marR="0" lvl="0" indent="0" algn="l" rtl="0">
                <a:spcBef>
                  <a:spcPts val="0"/>
                </a:spcBef>
                <a:spcAft>
                  <a:spcPts val="0"/>
                </a:spcAft>
                <a:buNone/>
              </a:pPr>
              <a:r>
                <a:rPr lang="en-GB" sz="2400">
                  <a:solidFill>
                    <a:schemeClr val="dk1"/>
                  </a:solidFill>
                  <a:latin typeface="Century Gothic"/>
                  <a:ea typeface="Century Gothic"/>
                  <a:cs typeface="Century Gothic"/>
                  <a:sym typeface="Century Gothic"/>
                </a:rPr>
                <a:t>4 CPR-Certified OTOPreneurs</a:t>
              </a:r>
              <a:endParaRPr sz="2400">
                <a:solidFill>
                  <a:schemeClr val="dk1"/>
                </a:solidFill>
                <a:latin typeface="Century Gothic"/>
                <a:ea typeface="Century Gothic"/>
                <a:cs typeface="Century Gothic"/>
                <a:sym typeface="Century Gothic"/>
              </a:endParaRPr>
            </a:p>
            <a:p>
              <a:pPr marL="0" marR="0" lvl="0" indent="0" algn="l" rtl="0">
                <a:spcBef>
                  <a:spcPts val="0"/>
                </a:spcBef>
                <a:spcAft>
                  <a:spcPts val="0"/>
                </a:spcAft>
                <a:buNone/>
              </a:pPr>
              <a:r>
                <a:rPr lang="en-GB" sz="2400">
                  <a:solidFill>
                    <a:schemeClr val="dk1"/>
                  </a:solidFill>
                  <a:latin typeface="Century Gothic"/>
                  <a:ea typeface="Century Gothic"/>
                  <a:cs typeface="Century Gothic"/>
                  <a:sym typeface="Century Gothic"/>
                </a:rPr>
                <a:t>46 FDA-Certified OTOPreneurs</a:t>
              </a:r>
              <a:endParaRPr sz="2400">
                <a:solidFill>
                  <a:schemeClr val="dk1"/>
                </a:solidFill>
                <a:latin typeface="Century Gothic"/>
                <a:ea typeface="Century Gothic"/>
                <a:cs typeface="Century Gothic"/>
                <a:sym typeface="Century Gothic"/>
              </a:endParaRPr>
            </a:p>
            <a:p>
              <a:pPr marL="0" marR="0" lvl="0" indent="0" algn="l" rtl="0">
                <a:spcBef>
                  <a:spcPts val="0"/>
                </a:spcBef>
                <a:spcAft>
                  <a:spcPts val="0"/>
                </a:spcAft>
                <a:buNone/>
              </a:pPr>
              <a:r>
                <a:rPr lang="en-GB" sz="2400">
                  <a:solidFill>
                    <a:schemeClr val="dk1"/>
                  </a:solidFill>
                  <a:latin typeface="Century Gothic"/>
                  <a:ea typeface="Century Gothic"/>
                  <a:cs typeface="Century Gothic"/>
                  <a:sym typeface="Century Gothic"/>
                </a:rPr>
                <a:t>      *</a:t>
              </a:r>
              <a:r>
                <a:rPr lang="en-GB" sz="2400" i="1">
                  <a:solidFill>
                    <a:schemeClr val="dk1"/>
                  </a:solidFill>
                  <a:latin typeface="Century Gothic"/>
                  <a:ea typeface="Century Gothic"/>
                  <a:cs typeface="Century Gothic"/>
                  <a:sym typeface="Century Gothic"/>
                </a:rPr>
                <a:t>Working on  7 FDA-inspected MSMEs to be FDA-certified next year (2024)</a:t>
              </a:r>
              <a:endParaRPr sz="2400" i="1">
                <a:solidFill>
                  <a:schemeClr val="dk1"/>
                </a:solidFill>
                <a:latin typeface="Century Gothic"/>
                <a:ea typeface="Century Gothic"/>
                <a:cs typeface="Century Gothic"/>
                <a:sym typeface="Century Gothic"/>
              </a:endParaRPr>
            </a:p>
          </p:txBody>
        </p:sp>
      </p:grpSp>
      <p:grpSp>
        <p:nvGrpSpPr>
          <p:cNvPr id="196" name="Google Shape;196;p5"/>
          <p:cNvGrpSpPr/>
          <p:nvPr/>
        </p:nvGrpSpPr>
        <p:grpSpPr>
          <a:xfrm>
            <a:off x="-137745" y="5243729"/>
            <a:ext cx="15581864" cy="3896145"/>
            <a:chOff x="457200" y="2525278"/>
            <a:chExt cx="13563600" cy="3896145"/>
          </a:xfrm>
        </p:grpSpPr>
        <p:sp>
          <p:nvSpPr>
            <p:cNvPr id="197" name="Google Shape;197;p5"/>
            <p:cNvSpPr/>
            <p:nvPr/>
          </p:nvSpPr>
          <p:spPr>
            <a:xfrm>
              <a:off x="2323450" y="2525278"/>
              <a:ext cx="11697350" cy="744823"/>
            </a:xfrm>
            <a:prstGeom prst="roundRect">
              <a:avLst>
                <a:gd name="adj" fmla="val 16667"/>
              </a:avLst>
            </a:prstGeom>
            <a:solidFill>
              <a:srgbClr val="DAE5F1"/>
            </a:solidFill>
            <a:ln w="25400" cap="flat"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B7CCE4"/>
                </a:solidFill>
                <a:latin typeface="Calibri"/>
                <a:ea typeface="Calibri"/>
                <a:cs typeface="Calibri"/>
                <a:sym typeface="Calibri"/>
              </a:endParaRPr>
            </a:p>
          </p:txBody>
        </p:sp>
        <p:sp>
          <p:nvSpPr>
            <p:cNvPr id="198" name="Google Shape;198;p5"/>
            <p:cNvSpPr txBox="1"/>
            <p:nvPr/>
          </p:nvSpPr>
          <p:spPr>
            <a:xfrm>
              <a:off x="2407292" y="2642764"/>
              <a:ext cx="11435400" cy="5850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3200" b="1">
                  <a:solidFill>
                    <a:schemeClr val="dk1"/>
                  </a:solidFill>
                  <a:latin typeface="Poppins"/>
                  <a:ea typeface="Poppins"/>
                  <a:cs typeface="Poppins"/>
                  <a:sym typeface="Poppins"/>
                </a:rPr>
                <a:t>Empowering IP Communities</a:t>
              </a:r>
              <a:endParaRPr/>
            </a:p>
          </p:txBody>
        </p:sp>
        <p:sp>
          <p:nvSpPr>
            <p:cNvPr id="199" name="Google Shape;199;p5"/>
            <p:cNvSpPr txBox="1"/>
            <p:nvPr/>
          </p:nvSpPr>
          <p:spPr>
            <a:xfrm>
              <a:off x="457200" y="2628900"/>
              <a:ext cx="2920800" cy="775800"/>
            </a:xfrm>
            <a:prstGeom prst="rect">
              <a:avLst/>
            </a:prstGeom>
            <a:noFill/>
            <a:ln>
              <a:noFill/>
            </a:ln>
          </p:spPr>
          <p:txBody>
            <a:bodyPr spcFirstLastPara="1" wrap="square" lIns="0" tIns="0" rIns="0" bIns="0" anchor="t" anchorCtr="0">
              <a:spAutoFit/>
            </a:bodyPr>
            <a:lstStyle/>
            <a:p>
              <a:pPr marL="0" marR="0" lvl="0" indent="0" algn="ctr" rtl="0">
                <a:lnSpc>
                  <a:spcPct val="93333"/>
                </a:lnSpc>
                <a:spcBef>
                  <a:spcPts val="0"/>
                </a:spcBef>
                <a:spcAft>
                  <a:spcPts val="0"/>
                </a:spcAft>
                <a:buNone/>
              </a:pPr>
              <a:r>
                <a:rPr lang="en-GB" sz="5400" b="1">
                  <a:solidFill>
                    <a:schemeClr val="dk2"/>
                  </a:solidFill>
                  <a:latin typeface="Montserrat"/>
                  <a:ea typeface="Montserrat"/>
                  <a:cs typeface="Montserrat"/>
                  <a:sym typeface="Montserrat"/>
                </a:rPr>
                <a:t>4</a:t>
              </a:r>
              <a:endParaRPr sz="5400" b="1">
                <a:solidFill>
                  <a:schemeClr val="dk2"/>
                </a:solidFill>
                <a:latin typeface="Montserrat"/>
                <a:ea typeface="Montserrat"/>
                <a:cs typeface="Montserrat"/>
                <a:sym typeface="Montserrat"/>
              </a:endParaRPr>
            </a:p>
          </p:txBody>
        </p:sp>
        <p:sp>
          <p:nvSpPr>
            <p:cNvPr id="200" name="Google Shape;200;p5"/>
            <p:cNvSpPr txBox="1"/>
            <p:nvPr/>
          </p:nvSpPr>
          <p:spPr>
            <a:xfrm>
              <a:off x="2501474" y="3373723"/>
              <a:ext cx="11515800" cy="30477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2400" b="1">
                  <a:solidFill>
                    <a:schemeClr val="dk1"/>
                  </a:solidFill>
                  <a:latin typeface="Century Gothic"/>
                  <a:ea typeface="Century Gothic"/>
                  <a:cs typeface="Century Gothic"/>
                  <a:sym typeface="Century Gothic"/>
                </a:rPr>
                <a:t>80 IP OTOPreneurs Assisted</a:t>
              </a:r>
              <a:endParaRPr b="1"/>
            </a:p>
            <a:p>
              <a:pPr marL="0" marR="0" lvl="0" indent="0" algn="l" rtl="0">
                <a:spcBef>
                  <a:spcPts val="0"/>
                </a:spcBef>
                <a:spcAft>
                  <a:spcPts val="0"/>
                </a:spcAft>
                <a:buNone/>
              </a:pPr>
              <a:endParaRPr sz="2400">
                <a:solidFill>
                  <a:schemeClr val="dk1"/>
                </a:solidFill>
                <a:latin typeface="Century Gothic"/>
                <a:ea typeface="Century Gothic"/>
                <a:cs typeface="Century Gothic"/>
                <a:sym typeface="Century Gothic"/>
              </a:endParaRPr>
            </a:p>
            <a:p>
              <a:pPr marL="0" marR="0" lvl="0" indent="0" algn="just" rtl="0">
                <a:spcBef>
                  <a:spcPts val="0"/>
                </a:spcBef>
                <a:spcAft>
                  <a:spcPts val="0"/>
                </a:spcAft>
                <a:buNone/>
              </a:pPr>
              <a:r>
                <a:rPr lang="en-GB" sz="2400" i="1">
                  <a:solidFill>
                    <a:schemeClr val="dk1"/>
                  </a:solidFill>
                  <a:latin typeface="Century Gothic"/>
                  <a:ea typeface="Century Gothic"/>
                  <a:cs typeface="Century Gothic"/>
                  <a:sym typeface="Century Gothic"/>
                </a:rPr>
                <a:t>Intensified promotion of culture and tradition of assisted IP communities through product development and promotion e.g. </a:t>
              </a:r>
              <a:r>
                <a:rPr lang="en-GB" sz="2400" b="1" i="1">
                  <a:solidFill>
                    <a:schemeClr val="dk1"/>
                  </a:solidFill>
                  <a:latin typeface="Century Gothic"/>
                  <a:ea typeface="Century Gothic"/>
                  <a:cs typeface="Century Gothic"/>
                  <a:sym typeface="Century Gothic"/>
                </a:rPr>
                <a:t>Maraiging Mamanwa Farmers Skilled Workers Association, Tribal Women Handicraft Manufacturing Association, Binayloay Livelihood Association in the Province of Surigao del Norte</a:t>
              </a:r>
              <a:r>
                <a:rPr lang="en-GB" sz="2400" i="1">
                  <a:solidFill>
                    <a:schemeClr val="dk1"/>
                  </a:solidFill>
                  <a:latin typeface="Century Gothic"/>
                  <a:ea typeface="Century Gothic"/>
                  <a:cs typeface="Century Gothic"/>
                  <a:sym typeface="Century Gothic"/>
                </a:rPr>
                <a:t> all from the Provinces of Agusan del Norte, Agusan del Sur, and Surigao del Norte, respectively. </a:t>
              </a:r>
              <a:endParaRPr/>
            </a:p>
            <a:p>
              <a:pPr marL="0" marR="0" lvl="0" indent="0" algn="l" rtl="0">
                <a:spcBef>
                  <a:spcPts val="0"/>
                </a:spcBef>
                <a:spcAft>
                  <a:spcPts val="0"/>
                </a:spcAft>
                <a:buNone/>
              </a:pPr>
              <a:endParaRPr sz="2400">
                <a:solidFill>
                  <a:schemeClr val="dk1"/>
                </a:solidFill>
                <a:latin typeface="Century Gothic"/>
                <a:ea typeface="Century Gothic"/>
                <a:cs typeface="Century Gothic"/>
                <a:sym typeface="Century Gothic"/>
              </a:endParaRPr>
            </a:p>
          </p:txBody>
        </p:sp>
      </p:grpSp>
      <p:pic>
        <p:nvPicPr>
          <p:cNvPr id="201" name="Google Shape;201;p5"/>
          <p:cNvPicPr preferRelativeResize="0"/>
          <p:nvPr/>
        </p:nvPicPr>
        <p:blipFill rotWithShape="1">
          <a:blip r:embed="rId4">
            <a:alphaModFix/>
          </a:blip>
          <a:srcRect t="21555" b="25110"/>
          <a:stretch/>
        </p:blipFill>
        <p:spPr>
          <a:xfrm>
            <a:off x="2582039" y="743841"/>
            <a:ext cx="2143125" cy="1143000"/>
          </a:xfrm>
          <a:prstGeom prst="rect">
            <a:avLst/>
          </a:prstGeom>
          <a:noFill/>
          <a:ln>
            <a:noFill/>
          </a:ln>
        </p:spPr>
      </p:pic>
      <p:sp>
        <p:nvSpPr>
          <p:cNvPr id="202" name="Google Shape;202;p5"/>
          <p:cNvSpPr txBox="1"/>
          <p:nvPr/>
        </p:nvSpPr>
        <p:spPr>
          <a:xfrm>
            <a:off x="4572000" y="1381330"/>
            <a:ext cx="9838329" cy="438150"/>
          </a:xfrm>
          <a:prstGeom prst="rect">
            <a:avLst/>
          </a:prstGeom>
          <a:noFill/>
          <a:ln>
            <a:noFill/>
          </a:ln>
        </p:spPr>
        <p:txBody>
          <a:bodyPr spcFirstLastPara="1" wrap="square" lIns="0" tIns="0" rIns="0" bIns="0" anchor="t" anchorCtr="0">
            <a:spAutoFit/>
          </a:bodyPr>
          <a:lstStyle/>
          <a:p>
            <a:pPr marL="0" marR="0" lvl="0" indent="0" algn="ctr" rtl="0">
              <a:lnSpc>
                <a:spcPct val="110000"/>
              </a:lnSpc>
              <a:spcBef>
                <a:spcPts val="0"/>
              </a:spcBef>
              <a:spcAft>
                <a:spcPts val="0"/>
              </a:spcAft>
              <a:buNone/>
            </a:pPr>
            <a:r>
              <a:rPr lang="en-GB" sz="3000" b="1">
                <a:solidFill>
                  <a:srgbClr val="1C2120"/>
                </a:solidFill>
                <a:latin typeface="Montserrat"/>
                <a:ea typeface="Montserrat"/>
                <a:cs typeface="Montserrat"/>
                <a:sym typeface="Montserrat"/>
              </a:rPr>
              <a:t>TRADE PROMOTION UNIT</a:t>
            </a:r>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Shape 210"/>
        <p:cNvGrpSpPr/>
        <p:nvPr/>
      </p:nvGrpSpPr>
      <p:grpSpPr>
        <a:xfrm>
          <a:off x="0" y="0"/>
          <a:ext cx="0" cy="0"/>
          <a:chOff x="0" y="0"/>
          <a:chExt cx="0" cy="0"/>
        </a:xfrm>
      </p:grpSpPr>
      <p:sp>
        <p:nvSpPr>
          <p:cNvPr id="211" name="Google Shape;211;p6"/>
          <p:cNvSpPr/>
          <p:nvPr/>
        </p:nvSpPr>
        <p:spPr>
          <a:xfrm>
            <a:off x="1028700" y="453061"/>
            <a:ext cx="1553339" cy="1518126"/>
          </a:xfrm>
          <a:custGeom>
            <a:avLst/>
            <a:gdLst/>
            <a:ahLst/>
            <a:cxnLst/>
            <a:rect l="l" t="t" r="r" b="b"/>
            <a:pathLst>
              <a:path w="1553339" h="1518126" extrusionOk="0">
                <a:moveTo>
                  <a:pt x="0" y="0"/>
                </a:moveTo>
                <a:lnTo>
                  <a:pt x="1553339" y="0"/>
                </a:lnTo>
                <a:lnTo>
                  <a:pt x="1553339" y="1518126"/>
                </a:lnTo>
                <a:lnTo>
                  <a:pt x="0" y="1518126"/>
                </a:lnTo>
                <a:lnTo>
                  <a:pt x="0" y="0"/>
                </a:lnTo>
                <a:close/>
              </a:path>
            </a:pathLst>
          </a:custGeom>
          <a:blipFill rotWithShape="1">
            <a:blip r:embed="rId3">
              <a:alphaModFix/>
            </a:blip>
            <a:stretch>
              <a:fillRect l="-31436" t="-10272" r="-26916" b="-57554"/>
            </a:stretch>
          </a:blipFill>
          <a:ln>
            <a:noFill/>
          </a:ln>
        </p:spPr>
      </p:sp>
      <p:cxnSp>
        <p:nvCxnSpPr>
          <p:cNvPr id="212" name="Google Shape;212;p6"/>
          <p:cNvCxnSpPr/>
          <p:nvPr/>
        </p:nvCxnSpPr>
        <p:spPr>
          <a:xfrm>
            <a:off x="2582039" y="1019175"/>
            <a:ext cx="14677261" cy="9525"/>
          </a:xfrm>
          <a:prstGeom prst="straightConnector1">
            <a:avLst/>
          </a:prstGeom>
          <a:noFill/>
          <a:ln w="19050" cap="flat" cmpd="sng">
            <a:solidFill>
              <a:srgbClr val="1C2120"/>
            </a:solidFill>
            <a:prstDash val="solid"/>
            <a:round/>
            <a:headEnd type="none" w="sm" len="sm"/>
            <a:tailEnd type="none" w="sm" len="sm"/>
          </a:ln>
        </p:spPr>
      </p:cxnSp>
      <p:grpSp>
        <p:nvGrpSpPr>
          <p:cNvPr id="213" name="Google Shape;213;p6"/>
          <p:cNvGrpSpPr/>
          <p:nvPr/>
        </p:nvGrpSpPr>
        <p:grpSpPr>
          <a:xfrm>
            <a:off x="1219200" y="9294057"/>
            <a:ext cx="16230606" cy="487347"/>
            <a:chOff x="0" y="0"/>
            <a:chExt cx="21640808" cy="649796"/>
          </a:xfrm>
        </p:grpSpPr>
        <p:sp>
          <p:nvSpPr>
            <p:cNvPr id="214" name="Google Shape;214;p6"/>
            <p:cNvSpPr/>
            <p:nvPr/>
          </p:nvSpPr>
          <p:spPr>
            <a:xfrm>
              <a:off x="0" y="0"/>
              <a:ext cx="21640808" cy="649796"/>
            </a:xfrm>
            <a:prstGeom prst="rect">
              <a:avLst/>
            </a:prstGeom>
            <a:solidFill>
              <a:srgbClr val="1C212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 name="Google Shape;215;p6"/>
            <p:cNvSpPr txBox="1"/>
            <p:nvPr/>
          </p:nvSpPr>
          <p:spPr>
            <a:xfrm>
              <a:off x="998196" y="104764"/>
              <a:ext cx="19644415" cy="440267"/>
            </a:xfrm>
            <a:prstGeom prst="rect">
              <a:avLst/>
            </a:prstGeom>
            <a:noFill/>
            <a:ln>
              <a:noFill/>
            </a:ln>
          </p:spPr>
          <p:txBody>
            <a:bodyPr spcFirstLastPara="1" wrap="square" lIns="0" tIns="0" rIns="0" bIns="0" anchor="t" anchorCtr="0">
              <a:spAutoFit/>
            </a:bodyPr>
            <a:lstStyle/>
            <a:p>
              <a:pPr marL="0" marR="0" lvl="0" indent="0" algn="just" rtl="0">
                <a:lnSpc>
                  <a:spcPct val="140000"/>
                </a:lnSpc>
                <a:spcBef>
                  <a:spcPts val="0"/>
                </a:spcBef>
                <a:spcAft>
                  <a:spcPts val="0"/>
                </a:spcAft>
                <a:buNone/>
              </a:pPr>
              <a:r>
                <a:rPr lang="en-GB" sz="2000" b="1">
                  <a:solidFill>
                    <a:srgbClr val="FDFDFD"/>
                  </a:solidFill>
                  <a:latin typeface="Montserrat"/>
                  <a:ea typeface="Montserrat"/>
                  <a:cs typeface="Montserrat"/>
                  <a:sym typeface="Montserrat"/>
                </a:rPr>
                <a:t>DTI- SME DEVELOPMENT DIVISION│NC│CARP│TPU│EDU</a:t>
              </a:r>
              <a:endParaRPr/>
            </a:p>
          </p:txBody>
        </p:sp>
      </p:grpSp>
      <p:sp>
        <p:nvSpPr>
          <p:cNvPr id="216" name="Google Shape;216;p6"/>
          <p:cNvSpPr txBox="1"/>
          <p:nvPr/>
        </p:nvSpPr>
        <p:spPr>
          <a:xfrm>
            <a:off x="2209800" y="2628900"/>
            <a:ext cx="14706600"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nvGrpSpPr>
          <p:cNvPr id="217" name="Google Shape;217;p6"/>
          <p:cNvGrpSpPr/>
          <p:nvPr/>
        </p:nvGrpSpPr>
        <p:grpSpPr>
          <a:xfrm>
            <a:off x="-56524" y="2628699"/>
            <a:ext cx="16756125" cy="2874780"/>
            <a:chOff x="457200" y="2525286"/>
            <a:chExt cx="14572618" cy="2874780"/>
          </a:xfrm>
        </p:grpSpPr>
        <p:sp>
          <p:nvSpPr>
            <p:cNvPr id="218" name="Google Shape;218;p6"/>
            <p:cNvSpPr/>
            <p:nvPr/>
          </p:nvSpPr>
          <p:spPr>
            <a:xfrm>
              <a:off x="2323451" y="2525286"/>
              <a:ext cx="12129900" cy="934200"/>
            </a:xfrm>
            <a:prstGeom prst="roundRect">
              <a:avLst>
                <a:gd name="adj" fmla="val 16667"/>
              </a:avLst>
            </a:prstGeom>
            <a:solidFill>
              <a:srgbClr val="DAE5F1"/>
            </a:solidFill>
            <a:ln w="25400" cap="flat"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B7CCE4"/>
                </a:solidFill>
                <a:latin typeface="Calibri"/>
                <a:ea typeface="Calibri"/>
                <a:cs typeface="Calibri"/>
                <a:sym typeface="Calibri"/>
              </a:endParaRPr>
            </a:p>
          </p:txBody>
        </p:sp>
        <p:sp>
          <p:nvSpPr>
            <p:cNvPr id="219" name="Google Shape;219;p6"/>
            <p:cNvSpPr txBox="1"/>
            <p:nvPr/>
          </p:nvSpPr>
          <p:spPr>
            <a:xfrm>
              <a:off x="2473629" y="2566562"/>
              <a:ext cx="11095500" cy="8928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2600" b="1">
                  <a:solidFill>
                    <a:schemeClr val="dk1"/>
                  </a:solidFill>
                  <a:latin typeface="Poppins"/>
                  <a:ea typeface="Poppins"/>
                  <a:cs typeface="Poppins"/>
                  <a:sym typeface="Poppins"/>
                </a:rPr>
                <a:t>Strengthening RMSMED Council through regular meetings and capacity-building trainings</a:t>
              </a:r>
              <a:endParaRPr sz="800"/>
            </a:p>
          </p:txBody>
        </p:sp>
        <p:sp>
          <p:nvSpPr>
            <p:cNvPr id="220" name="Google Shape;220;p6"/>
            <p:cNvSpPr txBox="1"/>
            <p:nvPr/>
          </p:nvSpPr>
          <p:spPr>
            <a:xfrm>
              <a:off x="457200" y="2628900"/>
              <a:ext cx="2920884" cy="641201"/>
            </a:xfrm>
            <a:prstGeom prst="rect">
              <a:avLst/>
            </a:prstGeom>
            <a:noFill/>
            <a:ln>
              <a:noFill/>
            </a:ln>
          </p:spPr>
          <p:txBody>
            <a:bodyPr spcFirstLastPara="1" wrap="square" lIns="0" tIns="0" rIns="0" bIns="0" anchor="t" anchorCtr="0">
              <a:spAutoFit/>
            </a:bodyPr>
            <a:lstStyle/>
            <a:p>
              <a:pPr marL="0" marR="0" lvl="0" indent="0" algn="ctr" rtl="0">
                <a:lnSpc>
                  <a:spcPct val="93333"/>
                </a:lnSpc>
                <a:spcBef>
                  <a:spcPts val="0"/>
                </a:spcBef>
                <a:spcAft>
                  <a:spcPts val="0"/>
                </a:spcAft>
                <a:buNone/>
              </a:pPr>
              <a:r>
                <a:rPr lang="en-GB" sz="5400" b="1">
                  <a:solidFill>
                    <a:schemeClr val="dk2"/>
                  </a:solidFill>
                  <a:latin typeface="Montserrat"/>
                  <a:ea typeface="Montserrat"/>
                  <a:cs typeface="Montserrat"/>
                  <a:sym typeface="Montserrat"/>
                </a:rPr>
                <a:t>1</a:t>
              </a:r>
              <a:endParaRPr/>
            </a:p>
          </p:txBody>
        </p:sp>
        <p:sp>
          <p:nvSpPr>
            <p:cNvPr id="221" name="Google Shape;221;p6"/>
            <p:cNvSpPr txBox="1"/>
            <p:nvPr/>
          </p:nvSpPr>
          <p:spPr>
            <a:xfrm>
              <a:off x="2295718" y="3522366"/>
              <a:ext cx="12734100" cy="18777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1800">
                  <a:solidFill>
                    <a:schemeClr val="dk1"/>
                  </a:solidFill>
                  <a:latin typeface="Century Gothic"/>
                  <a:ea typeface="Century Gothic"/>
                  <a:cs typeface="Century Gothic"/>
                  <a:sym typeface="Century Gothic"/>
                </a:rPr>
                <a:t>*Training on Parliamentary Procedures - held last April 14, 2023 at Pavilion, Watergate Hotel Butuan City</a:t>
              </a:r>
              <a:br>
                <a:rPr lang="en-GB" sz="1800">
                  <a:solidFill>
                    <a:schemeClr val="dk1"/>
                  </a:solidFill>
                  <a:latin typeface="Century Gothic"/>
                  <a:ea typeface="Century Gothic"/>
                  <a:cs typeface="Century Gothic"/>
                  <a:sym typeface="Century Gothic"/>
                </a:rPr>
              </a:br>
              <a:r>
                <a:rPr lang="en-GB" sz="1800">
                  <a:solidFill>
                    <a:schemeClr val="dk1"/>
                  </a:solidFill>
                  <a:latin typeface="Century Gothic"/>
                  <a:ea typeface="Century Gothic"/>
                  <a:cs typeface="Century Gothic"/>
                  <a:sym typeface="Century Gothic"/>
                </a:rPr>
                <a:t>50/50 - Participated by members of Regional and Provincial MSMED Councils nd DTI Caraga Personnel.</a:t>
              </a:r>
              <a:br>
                <a:rPr lang="en-GB" sz="1800">
                  <a:solidFill>
                    <a:schemeClr val="dk1"/>
                  </a:solidFill>
                  <a:latin typeface="Century Gothic"/>
                  <a:ea typeface="Century Gothic"/>
                  <a:cs typeface="Century Gothic"/>
                  <a:sym typeface="Century Gothic"/>
                </a:rPr>
              </a:br>
              <a:endParaRPr sz="800"/>
            </a:p>
            <a:p>
              <a:pPr marL="0" marR="0" lvl="0" indent="0" algn="l" rtl="0">
                <a:spcBef>
                  <a:spcPts val="0"/>
                </a:spcBef>
                <a:spcAft>
                  <a:spcPts val="0"/>
                </a:spcAft>
                <a:buNone/>
              </a:pPr>
              <a:r>
                <a:rPr lang="en-GB" sz="1800">
                  <a:solidFill>
                    <a:schemeClr val="dk1"/>
                  </a:solidFill>
                  <a:latin typeface="Century Gothic"/>
                  <a:ea typeface="Century Gothic"/>
                  <a:cs typeface="Century Gothic"/>
                  <a:sym typeface="Century Gothic"/>
                </a:rPr>
                <a:t>*Participation of the Council to the evaluation of the 2017-2022 MSMED Plan and inputs to the drafting of the successor plan. (1)</a:t>
              </a:r>
              <a:r>
                <a:rPr lang="en-GB" sz="1800" b="1">
                  <a:solidFill>
                    <a:schemeClr val="dk1"/>
                  </a:solidFill>
                  <a:latin typeface="Century Gothic"/>
                  <a:ea typeface="Century Gothic"/>
                  <a:cs typeface="Century Gothic"/>
                  <a:sym typeface="Century Gothic"/>
                </a:rPr>
                <a:t>December 2022</a:t>
              </a:r>
              <a:r>
                <a:rPr lang="en-GB" sz="1800">
                  <a:solidFill>
                    <a:schemeClr val="dk1"/>
                  </a:solidFill>
                  <a:latin typeface="Century Gothic"/>
                  <a:ea typeface="Century Gothic"/>
                  <a:cs typeface="Century Gothic"/>
                  <a:sym typeface="Century Gothic"/>
                </a:rPr>
                <a:t> - Evaluation of the 2017-2022 MSMED Plan, (2) participation to </a:t>
              </a:r>
              <a:r>
                <a:rPr lang="en-GB" sz="1800" b="1">
                  <a:solidFill>
                    <a:schemeClr val="dk1"/>
                  </a:solidFill>
                  <a:latin typeface="Century Gothic"/>
                  <a:ea typeface="Century Gothic"/>
                  <a:cs typeface="Century Gothic"/>
                  <a:sym typeface="Century Gothic"/>
                </a:rPr>
                <a:t>online MSME survey</a:t>
              </a:r>
              <a:r>
                <a:rPr lang="en-GB" sz="1800">
                  <a:solidFill>
                    <a:schemeClr val="dk1"/>
                  </a:solidFill>
                  <a:latin typeface="Century Gothic"/>
                  <a:ea typeface="Century Gothic"/>
                  <a:cs typeface="Century Gothic"/>
                  <a:sym typeface="Century Gothic"/>
                </a:rPr>
                <a:t> for additional inputs to the evaluation of previous plan and drafting of the successor plan </a:t>
              </a:r>
              <a:r>
                <a:rPr lang="en-GB" sz="1800" b="1">
                  <a:solidFill>
                    <a:schemeClr val="dk1"/>
                  </a:solidFill>
                  <a:latin typeface="Century Gothic"/>
                  <a:ea typeface="Century Gothic"/>
                  <a:cs typeface="Century Gothic"/>
                  <a:sym typeface="Century Gothic"/>
                </a:rPr>
                <a:t>(1st to 2nd quarter of 2023)</a:t>
              </a:r>
              <a:r>
                <a:rPr lang="en-GB" sz="1800">
                  <a:solidFill>
                    <a:schemeClr val="dk1"/>
                  </a:solidFill>
                  <a:latin typeface="Century Gothic"/>
                  <a:ea typeface="Century Gothic"/>
                  <a:cs typeface="Century Gothic"/>
                  <a:sym typeface="Century Gothic"/>
                </a:rPr>
                <a:t>, (3) </a:t>
              </a:r>
              <a:r>
                <a:rPr lang="en-GB" sz="1800" b="1">
                  <a:solidFill>
                    <a:schemeClr val="dk1"/>
                  </a:solidFill>
                  <a:latin typeface="Century Gothic"/>
                  <a:ea typeface="Century Gothic"/>
                  <a:cs typeface="Century Gothic"/>
                  <a:sym typeface="Century Gothic"/>
                </a:rPr>
                <a:t>October 20, 2023</a:t>
              </a:r>
              <a:r>
                <a:rPr lang="en-GB" sz="1800">
                  <a:solidFill>
                    <a:schemeClr val="dk1"/>
                  </a:solidFill>
                  <a:latin typeface="Century Gothic"/>
                  <a:ea typeface="Century Gothic"/>
                  <a:cs typeface="Century Gothic"/>
                  <a:sym typeface="Century Gothic"/>
                </a:rPr>
                <a:t> - Consultation Workshop to Evaluate of the MSMED Plan 2023-2028.</a:t>
              </a:r>
              <a:endParaRPr sz="1800">
                <a:solidFill>
                  <a:schemeClr val="dk1"/>
                </a:solidFill>
                <a:latin typeface="Century Gothic"/>
                <a:ea typeface="Century Gothic"/>
                <a:cs typeface="Century Gothic"/>
                <a:sym typeface="Century Gothic"/>
              </a:endParaRPr>
            </a:p>
          </p:txBody>
        </p:sp>
      </p:grpSp>
      <p:grpSp>
        <p:nvGrpSpPr>
          <p:cNvPr id="222" name="Google Shape;222;p6"/>
          <p:cNvGrpSpPr/>
          <p:nvPr/>
        </p:nvGrpSpPr>
        <p:grpSpPr>
          <a:xfrm>
            <a:off x="-56543" y="5501648"/>
            <a:ext cx="16934015" cy="1615954"/>
            <a:chOff x="465143" y="2261308"/>
            <a:chExt cx="14740698" cy="1615954"/>
          </a:xfrm>
        </p:grpSpPr>
        <p:sp>
          <p:nvSpPr>
            <p:cNvPr id="223" name="Google Shape;223;p6"/>
            <p:cNvSpPr/>
            <p:nvPr/>
          </p:nvSpPr>
          <p:spPr>
            <a:xfrm>
              <a:off x="2349601" y="2261308"/>
              <a:ext cx="12116100" cy="861900"/>
            </a:xfrm>
            <a:prstGeom prst="roundRect">
              <a:avLst>
                <a:gd name="adj" fmla="val 16667"/>
              </a:avLst>
            </a:prstGeom>
            <a:solidFill>
              <a:srgbClr val="DAE5F1"/>
            </a:solidFill>
            <a:ln w="25400" cap="flat"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B7CCE4"/>
                </a:solidFill>
                <a:latin typeface="Calibri"/>
                <a:ea typeface="Calibri"/>
                <a:cs typeface="Calibri"/>
                <a:sym typeface="Calibri"/>
              </a:endParaRPr>
            </a:p>
          </p:txBody>
        </p:sp>
        <p:sp>
          <p:nvSpPr>
            <p:cNvPr id="224" name="Google Shape;224;p6"/>
            <p:cNvSpPr txBox="1"/>
            <p:nvPr/>
          </p:nvSpPr>
          <p:spPr>
            <a:xfrm>
              <a:off x="2323443" y="2307360"/>
              <a:ext cx="11926800" cy="8619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2500" b="1">
                  <a:solidFill>
                    <a:schemeClr val="dk1"/>
                  </a:solidFill>
                  <a:latin typeface="Poppins"/>
                  <a:ea typeface="Poppins"/>
                  <a:cs typeface="Poppins"/>
                  <a:sym typeface="Poppins"/>
                </a:rPr>
                <a:t>Targets accomplished for the National MSMED Council Funded Programs namely: YEP, GED, and SDRI</a:t>
              </a:r>
              <a:endParaRPr sz="700"/>
            </a:p>
          </p:txBody>
        </p:sp>
        <p:sp>
          <p:nvSpPr>
            <p:cNvPr id="225" name="Google Shape;225;p6"/>
            <p:cNvSpPr txBox="1"/>
            <p:nvPr/>
          </p:nvSpPr>
          <p:spPr>
            <a:xfrm>
              <a:off x="465143" y="2441688"/>
              <a:ext cx="2920800" cy="775800"/>
            </a:xfrm>
            <a:prstGeom prst="rect">
              <a:avLst/>
            </a:prstGeom>
            <a:noFill/>
            <a:ln>
              <a:noFill/>
            </a:ln>
          </p:spPr>
          <p:txBody>
            <a:bodyPr spcFirstLastPara="1" wrap="square" lIns="0" tIns="0" rIns="0" bIns="0" anchor="t" anchorCtr="0">
              <a:spAutoFit/>
            </a:bodyPr>
            <a:lstStyle/>
            <a:p>
              <a:pPr marL="0" marR="0" lvl="0" indent="0" algn="ctr" rtl="0">
                <a:lnSpc>
                  <a:spcPct val="93333"/>
                </a:lnSpc>
                <a:spcBef>
                  <a:spcPts val="0"/>
                </a:spcBef>
                <a:spcAft>
                  <a:spcPts val="0"/>
                </a:spcAft>
                <a:buNone/>
              </a:pPr>
              <a:r>
                <a:rPr lang="en-GB" sz="5400" b="1">
                  <a:solidFill>
                    <a:schemeClr val="dk2"/>
                  </a:solidFill>
                  <a:latin typeface="Montserrat"/>
                  <a:ea typeface="Montserrat"/>
                  <a:cs typeface="Montserrat"/>
                  <a:sym typeface="Montserrat"/>
                </a:rPr>
                <a:t>2</a:t>
              </a:r>
              <a:endParaRPr sz="5400" b="1">
                <a:solidFill>
                  <a:schemeClr val="dk2"/>
                </a:solidFill>
                <a:latin typeface="Montserrat"/>
                <a:ea typeface="Montserrat"/>
                <a:cs typeface="Montserrat"/>
                <a:sym typeface="Montserrat"/>
              </a:endParaRPr>
            </a:p>
          </p:txBody>
        </p:sp>
        <p:sp>
          <p:nvSpPr>
            <p:cNvPr id="226" name="Google Shape;226;p6"/>
            <p:cNvSpPr txBox="1"/>
            <p:nvPr/>
          </p:nvSpPr>
          <p:spPr>
            <a:xfrm>
              <a:off x="2471741" y="3169262"/>
              <a:ext cx="12734100" cy="7080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2000">
                  <a:solidFill>
                    <a:schemeClr val="dk1"/>
                  </a:solidFill>
                  <a:latin typeface="Century Gothic"/>
                  <a:ea typeface="Century Gothic"/>
                  <a:cs typeface="Century Gothic"/>
                  <a:sym typeface="Century Gothic"/>
                </a:rPr>
                <a:t>119/60 MSMEs/Youth Assisted (GED- 30/30, YEP – 89/30)</a:t>
              </a:r>
              <a:endParaRPr sz="1000"/>
            </a:p>
            <a:p>
              <a:pPr marL="0" marR="0" lvl="0" indent="0" algn="l" rtl="0">
                <a:spcBef>
                  <a:spcPts val="0"/>
                </a:spcBef>
                <a:spcAft>
                  <a:spcPts val="0"/>
                </a:spcAft>
                <a:buNone/>
              </a:pPr>
              <a:r>
                <a:rPr lang="en-GB" sz="2000">
                  <a:solidFill>
                    <a:schemeClr val="dk1"/>
                  </a:solidFill>
                  <a:latin typeface="Century Gothic"/>
                  <a:ea typeface="Century Gothic"/>
                  <a:cs typeface="Century Gothic"/>
                  <a:sym typeface="Century Gothic"/>
                </a:rPr>
                <a:t>70/60 DTI Personnel trained (SDRI-35/30, YEP TOT- 35/30)</a:t>
              </a:r>
              <a:endParaRPr sz="2000">
                <a:solidFill>
                  <a:schemeClr val="dk1"/>
                </a:solidFill>
                <a:latin typeface="Century Gothic"/>
                <a:ea typeface="Century Gothic"/>
                <a:cs typeface="Century Gothic"/>
                <a:sym typeface="Century Gothic"/>
              </a:endParaRPr>
            </a:p>
          </p:txBody>
        </p:sp>
      </p:grpSp>
      <p:pic>
        <p:nvPicPr>
          <p:cNvPr id="227" name="Google Shape;227;p6"/>
          <p:cNvPicPr preferRelativeResize="0"/>
          <p:nvPr/>
        </p:nvPicPr>
        <p:blipFill rotWithShape="1">
          <a:blip r:embed="rId4">
            <a:alphaModFix/>
          </a:blip>
          <a:srcRect/>
          <a:stretch/>
        </p:blipFill>
        <p:spPr>
          <a:xfrm>
            <a:off x="2580025" y="831615"/>
            <a:ext cx="1822571" cy="1069905"/>
          </a:xfrm>
          <a:prstGeom prst="rect">
            <a:avLst/>
          </a:prstGeom>
          <a:noFill/>
          <a:ln>
            <a:noFill/>
          </a:ln>
        </p:spPr>
      </p:pic>
      <p:pic>
        <p:nvPicPr>
          <p:cNvPr id="228" name="Google Shape;228;p6"/>
          <p:cNvPicPr preferRelativeResize="0"/>
          <p:nvPr/>
        </p:nvPicPr>
        <p:blipFill rotWithShape="1">
          <a:blip r:embed="rId5">
            <a:alphaModFix/>
          </a:blip>
          <a:srcRect/>
          <a:stretch/>
        </p:blipFill>
        <p:spPr>
          <a:xfrm>
            <a:off x="13411200" y="702288"/>
            <a:ext cx="2368483" cy="1199232"/>
          </a:xfrm>
          <a:prstGeom prst="rect">
            <a:avLst/>
          </a:prstGeom>
          <a:noFill/>
          <a:ln>
            <a:noFill/>
          </a:ln>
        </p:spPr>
      </p:pic>
      <p:pic>
        <p:nvPicPr>
          <p:cNvPr id="229" name="Google Shape;229;p6"/>
          <p:cNvPicPr preferRelativeResize="0"/>
          <p:nvPr/>
        </p:nvPicPr>
        <p:blipFill rotWithShape="1">
          <a:blip r:embed="rId6">
            <a:alphaModFix/>
          </a:blip>
          <a:srcRect/>
          <a:stretch/>
        </p:blipFill>
        <p:spPr>
          <a:xfrm>
            <a:off x="15900404" y="569177"/>
            <a:ext cx="1516310" cy="1516310"/>
          </a:xfrm>
          <a:prstGeom prst="rect">
            <a:avLst/>
          </a:prstGeom>
          <a:noFill/>
          <a:ln>
            <a:noFill/>
          </a:ln>
        </p:spPr>
      </p:pic>
      <p:sp>
        <p:nvSpPr>
          <p:cNvPr id="230" name="Google Shape;230;p6"/>
          <p:cNvSpPr txBox="1"/>
          <p:nvPr/>
        </p:nvSpPr>
        <p:spPr>
          <a:xfrm>
            <a:off x="4110215" y="1371212"/>
            <a:ext cx="9838329" cy="438150"/>
          </a:xfrm>
          <a:prstGeom prst="rect">
            <a:avLst/>
          </a:prstGeom>
          <a:noFill/>
          <a:ln>
            <a:noFill/>
          </a:ln>
        </p:spPr>
        <p:txBody>
          <a:bodyPr spcFirstLastPara="1" wrap="square" lIns="0" tIns="0" rIns="0" bIns="0" anchor="t" anchorCtr="0">
            <a:spAutoFit/>
          </a:bodyPr>
          <a:lstStyle/>
          <a:p>
            <a:pPr marL="0" marR="0" lvl="0" indent="0" algn="ctr" rtl="0">
              <a:lnSpc>
                <a:spcPct val="110000"/>
              </a:lnSpc>
              <a:spcBef>
                <a:spcPts val="0"/>
              </a:spcBef>
              <a:spcAft>
                <a:spcPts val="0"/>
              </a:spcAft>
              <a:buNone/>
            </a:pPr>
            <a:r>
              <a:rPr lang="en-GB" sz="3000" b="1">
                <a:solidFill>
                  <a:srgbClr val="1C2120"/>
                </a:solidFill>
                <a:latin typeface="Montserrat"/>
                <a:ea typeface="Montserrat"/>
                <a:cs typeface="Montserrat"/>
                <a:sym typeface="Montserrat"/>
              </a:rPr>
              <a:t>ENTERPRISE DEVELOPMENT UNIT</a:t>
            </a:r>
            <a:endParaRPr/>
          </a:p>
        </p:txBody>
      </p:sp>
      <p:sp>
        <p:nvSpPr>
          <p:cNvPr id="231" name="Google Shape;231;p6"/>
          <p:cNvSpPr txBox="1"/>
          <p:nvPr/>
        </p:nvSpPr>
        <p:spPr>
          <a:xfrm>
            <a:off x="10" y="7615190"/>
            <a:ext cx="3355500" cy="775800"/>
          </a:xfrm>
          <a:prstGeom prst="rect">
            <a:avLst/>
          </a:prstGeom>
          <a:noFill/>
          <a:ln>
            <a:noFill/>
          </a:ln>
        </p:spPr>
        <p:txBody>
          <a:bodyPr spcFirstLastPara="1" wrap="square" lIns="0" tIns="0" rIns="0" bIns="0" anchor="t" anchorCtr="0">
            <a:spAutoFit/>
          </a:bodyPr>
          <a:lstStyle/>
          <a:p>
            <a:pPr marL="0" marR="0" lvl="0" indent="0" algn="ctr" rtl="0">
              <a:lnSpc>
                <a:spcPct val="93333"/>
              </a:lnSpc>
              <a:spcBef>
                <a:spcPts val="0"/>
              </a:spcBef>
              <a:spcAft>
                <a:spcPts val="0"/>
              </a:spcAft>
              <a:buNone/>
            </a:pPr>
            <a:r>
              <a:rPr lang="en-GB" sz="5400" b="1">
                <a:solidFill>
                  <a:schemeClr val="dk2"/>
                </a:solidFill>
                <a:latin typeface="Montserrat"/>
                <a:ea typeface="Montserrat"/>
                <a:cs typeface="Montserrat"/>
                <a:sym typeface="Montserrat"/>
              </a:rPr>
              <a:t>3</a:t>
            </a:r>
            <a:endParaRPr sz="5400" b="1">
              <a:solidFill>
                <a:schemeClr val="dk2"/>
              </a:solidFill>
              <a:latin typeface="Montserrat"/>
              <a:ea typeface="Montserrat"/>
              <a:cs typeface="Montserrat"/>
              <a:sym typeface="Montserrat"/>
            </a:endParaRPr>
          </a:p>
        </p:txBody>
      </p:sp>
      <p:grpSp>
        <p:nvGrpSpPr>
          <p:cNvPr id="232" name="Google Shape;232;p6"/>
          <p:cNvGrpSpPr/>
          <p:nvPr/>
        </p:nvGrpSpPr>
        <p:grpSpPr>
          <a:xfrm>
            <a:off x="2054875" y="7453742"/>
            <a:ext cx="13949022" cy="1106400"/>
            <a:chOff x="2323443" y="2261302"/>
            <a:chExt cx="12142254" cy="1106400"/>
          </a:xfrm>
        </p:grpSpPr>
        <p:sp>
          <p:nvSpPr>
            <p:cNvPr id="233" name="Google Shape;233;p6"/>
            <p:cNvSpPr/>
            <p:nvPr/>
          </p:nvSpPr>
          <p:spPr>
            <a:xfrm>
              <a:off x="2349597" y="2261302"/>
              <a:ext cx="12116100" cy="1106400"/>
            </a:xfrm>
            <a:prstGeom prst="roundRect">
              <a:avLst>
                <a:gd name="adj" fmla="val 16667"/>
              </a:avLst>
            </a:prstGeom>
            <a:solidFill>
              <a:srgbClr val="DAE5F1"/>
            </a:solidFill>
            <a:ln w="25400" cap="flat"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B7CCE4"/>
                </a:solidFill>
                <a:latin typeface="Calibri"/>
                <a:ea typeface="Calibri"/>
                <a:cs typeface="Calibri"/>
                <a:sym typeface="Calibri"/>
              </a:endParaRPr>
            </a:p>
          </p:txBody>
        </p:sp>
        <p:sp>
          <p:nvSpPr>
            <p:cNvPr id="234" name="Google Shape;234;p6"/>
            <p:cNvSpPr txBox="1"/>
            <p:nvPr/>
          </p:nvSpPr>
          <p:spPr>
            <a:xfrm>
              <a:off x="2323443" y="2307360"/>
              <a:ext cx="11926800" cy="5850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3200" b="1">
                  <a:solidFill>
                    <a:schemeClr val="dk1"/>
                  </a:solidFill>
                  <a:latin typeface="Poppins"/>
                  <a:ea typeface="Poppins"/>
                  <a:cs typeface="Poppins"/>
                  <a:sym typeface="Poppins"/>
                </a:rPr>
                <a:t>Celebration of the National </a:t>
              </a:r>
              <a:endParaRPr/>
            </a:p>
          </p:txBody>
        </p:sp>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Shape 238"/>
        <p:cNvGrpSpPr/>
        <p:nvPr/>
      </p:nvGrpSpPr>
      <p:grpSpPr>
        <a:xfrm>
          <a:off x="0" y="0"/>
          <a:ext cx="0" cy="0"/>
          <a:chOff x="0" y="0"/>
          <a:chExt cx="0" cy="0"/>
        </a:xfrm>
      </p:grpSpPr>
      <p:sp>
        <p:nvSpPr>
          <p:cNvPr id="239" name="Google Shape;239;p7"/>
          <p:cNvSpPr/>
          <p:nvPr/>
        </p:nvSpPr>
        <p:spPr>
          <a:xfrm>
            <a:off x="1058777" y="429656"/>
            <a:ext cx="1553339" cy="1518126"/>
          </a:xfrm>
          <a:custGeom>
            <a:avLst/>
            <a:gdLst/>
            <a:ahLst/>
            <a:cxnLst/>
            <a:rect l="l" t="t" r="r" b="b"/>
            <a:pathLst>
              <a:path w="1553339" h="1518126" extrusionOk="0">
                <a:moveTo>
                  <a:pt x="0" y="0"/>
                </a:moveTo>
                <a:lnTo>
                  <a:pt x="1553339" y="0"/>
                </a:lnTo>
                <a:lnTo>
                  <a:pt x="1553339" y="1518126"/>
                </a:lnTo>
                <a:lnTo>
                  <a:pt x="0" y="1518126"/>
                </a:lnTo>
                <a:lnTo>
                  <a:pt x="0" y="0"/>
                </a:lnTo>
                <a:close/>
              </a:path>
            </a:pathLst>
          </a:custGeom>
          <a:blipFill rotWithShape="1">
            <a:blip r:embed="rId3">
              <a:alphaModFix/>
            </a:blip>
            <a:stretch>
              <a:fillRect l="-31436" t="-10272" r="-26916" b="-57554"/>
            </a:stretch>
          </a:blipFill>
          <a:ln>
            <a:noFill/>
          </a:ln>
        </p:spPr>
      </p:sp>
      <p:cxnSp>
        <p:nvCxnSpPr>
          <p:cNvPr id="240" name="Google Shape;240;p7"/>
          <p:cNvCxnSpPr/>
          <p:nvPr/>
        </p:nvCxnSpPr>
        <p:spPr>
          <a:xfrm>
            <a:off x="2582039" y="1019175"/>
            <a:ext cx="14677261" cy="9525"/>
          </a:xfrm>
          <a:prstGeom prst="straightConnector1">
            <a:avLst/>
          </a:prstGeom>
          <a:noFill/>
          <a:ln w="19050" cap="flat" cmpd="sng">
            <a:solidFill>
              <a:srgbClr val="1C2120"/>
            </a:solidFill>
            <a:prstDash val="solid"/>
            <a:round/>
            <a:headEnd type="none" w="sm" len="sm"/>
            <a:tailEnd type="none" w="sm" len="sm"/>
          </a:ln>
        </p:spPr>
      </p:cxnSp>
      <p:pic>
        <p:nvPicPr>
          <p:cNvPr id="241" name="Google Shape;241;p7" descr="Coffins, ceramics products to be displayed in Go Negosyo Center - iOrbit  News Online"/>
          <p:cNvPicPr preferRelativeResize="0"/>
          <p:nvPr/>
        </p:nvPicPr>
        <p:blipFill rotWithShape="1">
          <a:blip r:embed="rId4">
            <a:alphaModFix/>
          </a:blip>
          <a:srcRect t="23333" b="24667"/>
          <a:stretch/>
        </p:blipFill>
        <p:spPr>
          <a:xfrm>
            <a:off x="7848600" y="1114762"/>
            <a:ext cx="2834847" cy="982746"/>
          </a:xfrm>
          <a:prstGeom prst="rect">
            <a:avLst/>
          </a:prstGeom>
          <a:noFill/>
          <a:ln>
            <a:noFill/>
          </a:ln>
        </p:spPr>
      </p:pic>
      <p:grpSp>
        <p:nvGrpSpPr>
          <p:cNvPr id="242" name="Google Shape;242;p7"/>
          <p:cNvGrpSpPr/>
          <p:nvPr/>
        </p:nvGrpSpPr>
        <p:grpSpPr>
          <a:xfrm>
            <a:off x="1065269" y="9428327"/>
            <a:ext cx="16230606" cy="515773"/>
            <a:chOff x="0" y="85715"/>
            <a:chExt cx="21640808" cy="687697"/>
          </a:xfrm>
        </p:grpSpPr>
        <p:sp>
          <p:nvSpPr>
            <p:cNvPr id="243" name="Google Shape;243;p7"/>
            <p:cNvSpPr/>
            <p:nvPr/>
          </p:nvSpPr>
          <p:spPr>
            <a:xfrm>
              <a:off x="0" y="123616"/>
              <a:ext cx="21640808" cy="649796"/>
            </a:xfrm>
            <a:prstGeom prst="rect">
              <a:avLst/>
            </a:prstGeom>
            <a:solidFill>
              <a:srgbClr val="1C212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 name="Google Shape;244;p7"/>
            <p:cNvSpPr txBox="1"/>
            <p:nvPr/>
          </p:nvSpPr>
          <p:spPr>
            <a:xfrm>
              <a:off x="998193" y="85715"/>
              <a:ext cx="19644415" cy="440266"/>
            </a:xfrm>
            <a:prstGeom prst="rect">
              <a:avLst/>
            </a:prstGeom>
            <a:noFill/>
            <a:ln>
              <a:noFill/>
            </a:ln>
          </p:spPr>
          <p:txBody>
            <a:bodyPr spcFirstLastPara="1" wrap="square" lIns="0" tIns="0" rIns="0" bIns="0" anchor="t" anchorCtr="0">
              <a:spAutoFit/>
            </a:bodyPr>
            <a:lstStyle/>
            <a:p>
              <a:pPr marL="0" marR="0" lvl="0" indent="0" algn="just" rtl="0">
                <a:lnSpc>
                  <a:spcPct val="140000"/>
                </a:lnSpc>
                <a:spcBef>
                  <a:spcPts val="0"/>
                </a:spcBef>
                <a:spcAft>
                  <a:spcPts val="0"/>
                </a:spcAft>
                <a:buNone/>
              </a:pPr>
              <a:r>
                <a:rPr lang="en-GB" sz="2000" b="1">
                  <a:solidFill>
                    <a:srgbClr val="FDFDFD"/>
                  </a:solidFill>
                  <a:latin typeface="Montserrat"/>
                  <a:ea typeface="Montserrat"/>
                  <a:cs typeface="Montserrat"/>
                  <a:sym typeface="Montserrat"/>
                </a:rPr>
                <a:t>DTI- SME DEVELOPMENT DIVISION│NC│CARP│TPU│EDU</a:t>
              </a:r>
              <a:endParaRPr/>
            </a:p>
          </p:txBody>
        </p:sp>
      </p:grpSp>
      <p:sp>
        <p:nvSpPr>
          <p:cNvPr id="245" name="Google Shape;245;p7"/>
          <p:cNvSpPr/>
          <p:nvPr/>
        </p:nvSpPr>
        <p:spPr>
          <a:xfrm>
            <a:off x="1985125" y="2101873"/>
            <a:ext cx="14766000" cy="879300"/>
          </a:xfrm>
          <a:prstGeom prst="roundRect">
            <a:avLst>
              <a:gd name="adj" fmla="val 16667"/>
            </a:avLst>
          </a:prstGeom>
          <a:solidFill>
            <a:srgbClr val="DAE5F1"/>
          </a:solidFill>
          <a:ln w="25400" cap="flat"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B7CCE4"/>
              </a:solidFill>
              <a:latin typeface="Calibri"/>
              <a:ea typeface="Calibri"/>
              <a:cs typeface="Calibri"/>
              <a:sym typeface="Calibri"/>
            </a:endParaRPr>
          </a:p>
        </p:txBody>
      </p:sp>
      <p:sp>
        <p:nvSpPr>
          <p:cNvPr id="246" name="Google Shape;246;p7"/>
          <p:cNvSpPr txBox="1"/>
          <p:nvPr/>
        </p:nvSpPr>
        <p:spPr>
          <a:xfrm>
            <a:off x="2174470" y="2066975"/>
            <a:ext cx="15085067" cy="5850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3200" b="1">
                <a:solidFill>
                  <a:schemeClr val="dk1"/>
                </a:solidFill>
                <a:latin typeface="Poppins"/>
                <a:ea typeface="Poppins"/>
                <a:cs typeface="Poppins"/>
                <a:sym typeface="Poppins"/>
              </a:rPr>
              <a:t>Capability Development of MSMEs </a:t>
            </a:r>
            <a:endParaRPr sz="100"/>
          </a:p>
        </p:txBody>
      </p:sp>
      <p:sp>
        <p:nvSpPr>
          <p:cNvPr id="247" name="Google Shape;247;p7"/>
          <p:cNvSpPr txBox="1"/>
          <p:nvPr/>
        </p:nvSpPr>
        <p:spPr>
          <a:xfrm>
            <a:off x="2118575" y="2507950"/>
            <a:ext cx="11896500" cy="5388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GB" sz="2300" b="1">
                <a:solidFill>
                  <a:schemeClr val="dk1"/>
                </a:solidFill>
                <a:latin typeface="Poppins"/>
                <a:ea typeface="Poppins"/>
                <a:cs typeface="Poppins"/>
                <a:sym typeface="Poppins"/>
              </a:rPr>
              <a:t>(</a:t>
            </a:r>
            <a:r>
              <a:rPr lang="en-GB" sz="2100" b="1">
                <a:solidFill>
                  <a:schemeClr val="dk1"/>
                </a:solidFill>
                <a:latin typeface="Poppins"/>
                <a:ea typeface="Poppins"/>
                <a:cs typeface="Poppins"/>
                <a:sym typeface="Poppins"/>
              </a:rPr>
              <a:t>Conduct and facilitation of  2 Regional KMME-MME Runs &amp; iFWD Ph)</a:t>
            </a:r>
            <a:endParaRPr sz="600">
              <a:solidFill>
                <a:schemeClr val="dk1"/>
              </a:solidFill>
            </a:endParaRPr>
          </a:p>
        </p:txBody>
      </p:sp>
      <p:sp>
        <p:nvSpPr>
          <p:cNvPr id="248" name="Google Shape;248;p7"/>
          <p:cNvSpPr txBox="1"/>
          <p:nvPr/>
        </p:nvSpPr>
        <p:spPr>
          <a:xfrm>
            <a:off x="-367846" y="2205505"/>
            <a:ext cx="3682800" cy="775800"/>
          </a:xfrm>
          <a:prstGeom prst="rect">
            <a:avLst/>
          </a:prstGeom>
          <a:noFill/>
          <a:ln>
            <a:noFill/>
          </a:ln>
        </p:spPr>
        <p:txBody>
          <a:bodyPr spcFirstLastPara="1" wrap="square" lIns="0" tIns="0" rIns="0" bIns="0" anchor="t" anchorCtr="0">
            <a:spAutoFit/>
          </a:bodyPr>
          <a:lstStyle/>
          <a:p>
            <a:pPr marL="0" marR="0" lvl="0" indent="0" algn="ctr" rtl="0">
              <a:lnSpc>
                <a:spcPct val="93333"/>
              </a:lnSpc>
              <a:spcBef>
                <a:spcPts val="0"/>
              </a:spcBef>
              <a:spcAft>
                <a:spcPts val="0"/>
              </a:spcAft>
              <a:buNone/>
            </a:pPr>
            <a:r>
              <a:rPr lang="en-GB" sz="5400" b="1">
                <a:solidFill>
                  <a:schemeClr val="dk2"/>
                </a:solidFill>
                <a:latin typeface="Montserrat"/>
                <a:ea typeface="Montserrat"/>
                <a:cs typeface="Montserrat"/>
                <a:sym typeface="Montserrat"/>
              </a:rPr>
              <a:t>1</a:t>
            </a:r>
            <a:endParaRPr/>
          </a:p>
        </p:txBody>
      </p:sp>
      <p:sp>
        <p:nvSpPr>
          <p:cNvPr id="249" name="Google Shape;249;p7"/>
          <p:cNvSpPr txBox="1"/>
          <p:nvPr/>
        </p:nvSpPr>
        <p:spPr>
          <a:xfrm>
            <a:off x="2174480" y="3100257"/>
            <a:ext cx="16055259" cy="21240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2400">
                <a:solidFill>
                  <a:schemeClr val="dk1"/>
                </a:solidFill>
                <a:latin typeface="Century Gothic"/>
                <a:ea typeface="Century Gothic"/>
                <a:cs typeface="Century Gothic"/>
                <a:sym typeface="Century Gothic"/>
              </a:rPr>
              <a:t>2 KMME-MME Online Program				    2 BIP Presentation Activities</a:t>
            </a:r>
            <a:endParaRPr/>
          </a:p>
          <a:p>
            <a:pPr marL="0" marR="0" lvl="0" indent="0" algn="l" rtl="0">
              <a:spcBef>
                <a:spcPts val="0"/>
              </a:spcBef>
              <a:spcAft>
                <a:spcPts val="0"/>
              </a:spcAft>
              <a:buNone/>
            </a:pPr>
            <a:r>
              <a:rPr lang="en-GB" sz="2400">
                <a:solidFill>
                  <a:schemeClr val="dk1"/>
                </a:solidFill>
                <a:latin typeface="Century Gothic"/>
                <a:ea typeface="Century Gothic"/>
                <a:cs typeface="Century Gothic"/>
                <a:sym typeface="Century Gothic"/>
              </a:rPr>
              <a:t>20 Mentoring Sessions 					         2 KMME-MME Online Launchings</a:t>
            </a:r>
            <a:endParaRPr/>
          </a:p>
          <a:p>
            <a:pPr marL="0" marR="0" lvl="0" indent="0" algn="l" rtl="0">
              <a:spcBef>
                <a:spcPts val="0"/>
              </a:spcBef>
              <a:spcAft>
                <a:spcPts val="0"/>
              </a:spcAft>
              <a:buNone/>
            </a:pPr>
            <a:r>
              <a:rPr lang="en-GB" sz="2400">
                <a:solidFill>
                  <a:schemeClr val="dk1"/>
                </a:solidFill>
                <a:latin typeface="Century Gothic"/>
                <a:ea typeface="Century Gothic"/>
                <a:cs typeface="Century Gothic"/>
                <a:sym typeface="Century Gothic"/>
              </a:rPr>
              <a:t>2 Graduations						                </a:t>
            </a:r>
            <a:r>
              <a:rPr lang="en-GB" sz="2400" b="1">
                <a:solidFill>
                  <a:schemeClr val="dk1"/>
                </a:solidFill>
                <a:latin typeface="Century Gothic"/>
                <a:ea typeface="Century Gothic"/>
                <a:cs typeface="Century Gothic"/>
                <a:sym typeface="Century Gothic"/>
              </a:rPr>
              <a:t>103</a:t>
            </a:r>
            <a:r>
              <a:rPr lang="en-GB" sz="2400">
                <a:solidFill>
                  <a:schemeClr val="dk1"/>
                </a:solidFill>
                <a:latin typeface="Century Gothic"/>
                <a:ea typeface="Century Gothic"/>
                <a:cs typeface="Century Gothic"/>
                <a:sym typeface="Century Gothic"/>
              </a:rPr>
              <a:t> Graduates (</a:t>
            </a:r>
            <a:r>
              <a:rPr lang="en-GB" sz="2400" i="1">
                <a:solidFill>
                  <a:schemeClr val="dk1"/>
                </a:solidFill>
                <a:latin typeface="Century Gothic"/>
                <a:ea typeface="Century Gothic"/>
                <a:cs typeface="Century Gothic"/>
                <a:sym typeface="Century Gothic"/>
              </a:rPr>
              <a:t>1st batch – 60, 2nd batch – 43)</a:t>
            </a:r>
            <a:endParaRPr sz="2400">
              <a:solidFill>
                <a:schemeClr val="dk1"/>
              </a:solidFill>
              <a:latin typeface="Century Gothic"/>
              <a:ea typeface="Century Gothic"/>
              <a:cs typeface="Century Gothic"/>
              <a:sym typeface="Century Gothic"/>
            </a:endParaRPr>
          </a:p>
          <a:p>
            <a:pPr marL="0" marR="0" lvl="0" indent="0" algn="l" rtl="0">
              <a:spcBef>
                <a:spcPts val="0"/>
              </a:spcBef>
              <a:spcAft>
                <a:spcPts val="0"/>
              </a:spcAft>
              <a:buNone/>
            </a:pPr>
            <a:r>
              <a:rPr lang="en-GB" sz="2400">
                <a:solidFill>
                  <a:schemeClr val="dk1"/>
                </a:solidFill>
                <a:latin typeface="Century Gothic"/>
                <a:ea typeface="Century Gothic"/>
                <a:cs typeface="Century Gothic"/>
                <a:sym typeface="Century Gothic"/>
              </a:rPr>
              <a:t>2 Government Services Forums 				iFWD Ph - deployment of mentors for the 10 mentoring sessions</a:t>
            </a:r>
            <a:endParaRPr/>
          </a:p>
          <a:p>
            <a:pPr marL="0" marR="0" lvl="0" indent="0" algn="l" rtl="0">
              <a:spcBef>
                <a:spcPts val="0"/>
              </a:spcBef>
              <a:spcAft>
                <a:spcPts val="0"/>
              </a:spcAft>
              <a:buNone/>
            </a:pPr>
            <a:r>
              <a:rPr lang="en-GB" sz="1800" i="1">
                <a:solidFill>
                  <a:schemeClr val="dk1"/>
                </a:solidFill>
                <a:latin typeface="Century Gothic"/>
                <a:ea typeface="Century Gothic"/>
                <a:cs typeface="Century Gothic"/>
                <a:sym typeface="Century Gothic"/>
              </a:rPr>
              <a:t>*complimentary session to aid the mentees linkages to the </a:t>
            </a:r>
            <a:endParaRPr sz="1800" i="1">
              <a:solidFill>
                <a:schemeClr val="dk1"/>
              </a:solidFill>
              <a:latin typeface="Century Gothic"/>
              <a:ea typeface="Century Gothic"/>
              <a:cs typeface="Century Gothic"/>
              <a:sym typeface="Century Gothic"/>
            </a:endParaRPr>
          </a:p>
          <a:p>
            <a:pPr marL="0" marR="0" lvl="0" indent="0" algn="l" rtl="0">
              <a:spcBef>
                <a:spcPts val="0"/>
              </a:spcBef>
              <a:spcAft>
                <a:spcPts val="0"/>
              </a:spcAft>
              <a:buNone/>
            </a:pPr>
            <a:r>
              <a:rPr lang="en-GB" sz="1800" i="1">
                <a:solidFill>
                  <a:schemeClr val="dk1"/>
                </a:solidFill>
                <a:latin typeface="Century Gothic"/>
                <a:ea typeface="Century Gothic"/>
                <a:cs typeface="Century Gothic"/>
                <a:sym typeface="Century Gothic"/>
              </a:rPr>
              <a:t>government sector (DTI, DOST, FDA, SBCorp, IPO, DA, DBM)</a:t>
            </a:r>
            <a:endParaRPr sz="1800" i="1">
              <a:solidFill>
                <a:schemeClr val="dk1"/>
              </a:solidFill>
              <a:latin typeface="Century Gothic"/>
              <a:ea typeface="Century Gothic"/>
              <a:cs typeface="Century Gothic"/>
              <a:sym typeface="Century Gothic"/>
            </a:endParaRPr>
          </a:p>
        </p:txBody>
      </p:sp>
      <p:grpSp>
        <p:nvGrpSpPr>
          <p:cNvPr id="250" name="Google Shape;250;p7"/>
          <p:cNvGrpSpPr/>
          <p:nvPr/>
        </p:nvGrpSpPr>
        <p:grpSpPr>
          <a:xfrm>
            <a:off x="-299080" y="5315642"/>
            <a:ext cx="17181646" cy="1995279"/>
            <a:chOff x="-299080" y="5400896"/>
            <a:chExt cx="17181646" cy="1995280"/>
          </a:xfrm>
        </p:grpSpPr>
        <p:grpSp>
          <p:nvGrpSpPr>
            <p:cNvPr id="251" name="Google Shape;251;p7"/>
            <p:cNvGrpSpPr/>
            <p:nvPr/>
          </p:nvGrpSpPr>
          <p:grpSpPr>
            <a:xfrm>
              <a:off x="-299080" y="5400896"/>
              <a:ext cx="17061826" cy="827610"/>
              <a:chOff x="457200" y="2899066"/>
              <a:chExt cx="13620731" cy="827610"/>
            </a:xfrm>
          </p:grpSpPr>
          <p:sp>
            <p:nvSpPr>
              <p:cNvPr id="252" name="Google Shape;252;p7"/>
              <p:cNvSpPr/>
              <p:nvPr/>
            </p:nvSpPr>
            <p:spPr>
              <a:xfrm>
                <a:off x="2380631" y="2899066"/>
                <a:ext cx="11697300" cy="744900"/>
              </a:xfrm>
              <a:prstGeom prst="roundRect">
                <a:avLst>
                  <a:gd name="adj" fmla="val 16667"/>
                </a:avLst>
              </a:prstGeom>
              <a:solidFill>
                <a:srgbClr val="DAE5F1"/>
              </a:solidFill>
              <a:ln w="25400" cap="flat"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B7CCE4"/>
                  </a:solidFill>
                  <a:latin typeface="Calibri"/>
                  <a:ea typeface="Calibri"/>
                  <a:cs typeface="Calibri"/>
                  <a:sym typeface="Calibri"/>
                </a:endParaRPr>
              </a:p>
            </p:txBody>
          </p:sp>
          <p:sp>
            <p:nvSpPr>
              <p:cNvPr id="253" name="Google Shape;253;p7"/>
              <p:cNvSpPr txBox="1"/>
              <p:nvPr/>
            </p:nvSpPr>
            <p:spPr>
              <a:xfrm>
                <a:off x="2477284" y="2979077"/>
                <a:ext cx="11037300" cy="5850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3200" b="1">
                    <a:solidFill>
                      <a:schemeClr val="dk1"/>
                    </a:solidFill>
                    <a:latin typeface="Poppins"/>
                    <a:ea typeface="Poppins"/>
                    <a:cs typeface="Poppins"/>
                    <a:sym typeface="Poppins"/>
                  </a:rPr>
                  <a:t>Clients Assisted </a:t>
                </a:r>
                <a:r>
                  <a:rPr lang="en-GB" sz="2400" b="1" i="1">
                    <a:solidFill>
                      <a:schemeClr val="dk1"/>
                    </a:solidFill>
                    <a:latin typeface="Poppins"/>
                    <a:ea typeface="Poppins"/>
                    <a:cs typeface="Poppins"/>
                    <a:sym typeface="Poppins"/>
                  </a:rPr>
                  <a:t>as of October 2023</a:t>
                </a:r>
                <a:endParaRPr/>
              </a:p>
            </p:txBody>
          </p:sp>
          <p:sp>
            <p:nvSpPr>
              <p:cNvPr id="254" name="Google Shape;254;p7"/>
              <p:cNvSpPr txBox="1"/>
              <p:nvPr/>
            </p:nvSpPr>
            <p:spPr>
              <a:xfrm>
                <a:off x="457200" y="2950875"/>
                <a:ext cx="2920800" cy="775800"/>
              </a:xfrm>
              <a:prstGeom prst="rect">
                <a:avLst/>
              </a:prstGeom>
              <a:noFill/>
              <a:ln>
                <a:noFill/>
              </a:ln>
            </p:spPr>
            <p:txBody>
              <a:bodyPr spcFirstLastPara="1" wrap="square" lIns="0" tIns="0" rIns="0" bIns="0" anchor="t" anchorCtr="0">
                <a:spAutoFit/>
              </a:bodyPr>
              <a:lstStyle/>
              <a:p>
                <a:pPr marL="0" marR="0" lvl="0" indent="0" algn="ctr" rtl="0">
                  <a:lnSpc>
                    <a:spcPct val="93333"/>
                  </a:lnSpc>
                  <a:spcBef>
                    <a:spcPts val="0"/>
                  </a:spcBef>
                  <a:spcAft>
                    <a:spcPts val="0"/>
                  </a:spcAft>
                  <a:buNone/>
                </a:pPr>
                <a:r>
                  <a:rPr lang="en-GB" sz="5400" b="1">
                    <a:solidFill>
                      <a:schemeClr val="dk2"/>
                    </a:solidFill>
                    <a:latin typeface="Montserrat"/>
                    <a:ea typeface="Montserrat"/>
                    <a:cs typeface="Montserrat"/>
                    <a:sym typeface="Montserrat"/>
                  </a:rPr>
                  <a:t>2</a:t>
                </a:r>
                <a:endParaRPr sz="5400" b="1">
                  <a:solidFill>
                    <a:schemeClr val="dk2"/>
                  </a:solidFill>
                  <a:latin typeface="Montserrat"/>
                  <a:ea typeface="Montserrat"/>
                  <a:cs typeface="Montserrat"/>
                  <a:sym typeface="Montserrat"/>
                </a:endParaRPr>
              </a:p>
            </p:txBody>
          </p:sp>
        </p:grpSp>
        <p:sp>
          <p:nvSpPr>
            <p:cNvPr id="255" name="Google Shape;255;p7"/>
            <p:cNvSpPr txBox="1"/>
            <p:nvPr/>
          </p:nvSpPr>
          <p:spPr>
            <a:xfrm>
              <a:off x="2240466" y="6195575"/>
              <a:ext cx="14642100" cy="12006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2400">
                  <a:solidFill>
                    <a:schemeClr val="dk1"/>
                  </a:solidFill>
                  <a:latin typeface="Century Gothic"/>
                  <a:ea typeface="Century Gothic"/>
                  <a:cs typeface="Century Gothic"/>
                  <a:sym typeface="Century Gothic"/>
                </a:rPr>
                <a:t>33,993 Clients Assisted</a:t>
              </a:r>
              <a:endParaRPr sz="2400">
                <a:solidFill>
                  <a:schemeClr val="dk1"/>
                </a:solidFill>
                <a:latin typeface="Century Gothic"/>
                <a:ea typeface="Century Gothic"/>
                <a:cs typeface="Century Gothic"/>
                <a:sym typeface="Century Gothic"/>
              </a:endParaRPr>
            </a:p>
            <a:p>
              <a:pPr marL="0" marR="0" lvl="0" indent="0" algn="l" rtl="0">
                <a:spcBef>
                  <a:spcPts val="0"/>
                </a:spcBef>
                <a:spcAft>
                  <a:spcPts val="0"/>
                </a:spcAft>
                <a:buNone/>
              </a:pPr>
              <a:r>
                <a:rPr lang="en-GB" sz="2400">
                  <a:solidFill>
                    <a:schemeClr val="dk1"/>
                  </a:solidFill>
                  <a:latin typeface="Century Gothic"/>
                  <a:ea typeface="Century Gothic"/>
                  <a:cs typeface="Century Gothic"/>
                  <a:sym typeface="Century Gothic"/>
                </a:rPr>
                <a:t>20,565 MSMEs Assisted  </a:t>
              </a:r>
              <a:endParaRPr/>
            </a:p>
            <a:p>
              <a:pPr marL="0" marR="0" lvl="0" indent="0" algn="l" rtl="0">
                <a:spcBef>
                  <a:spcPts val="0"/>
                </a:spcBef>
                <a:spcAft>
                  <a:spcPts val="0"/>
                </a:spcAft>
                <a:buNone/>
              </a:pPr>
              <a:r>
                <a:rPr lang="en-GB" sz="2400">
                  <a:solidFill>
                    <a:schemeClr val="dk1"/>
                  </a:solidFill>
                  <a:latin typeface="Century Gothic"/>
                  <a:ea typeface="Century Gothic"/>
                  <a:cs typeface="Century Gothic"/>
                  <a:sym typeface="Century Gothic"/>
                </a:rPr>
                <a:t>5,070</a:t>
              </a:r>
              <a:r>
                <a:rPr lang="en-GB" sz="2400" i="1">
                  <a:solidFill>
                    <a:schemeClr val="dk1"/>
                  </a:solidFill>
                  <a:latin typeface="Century Gothic"/>
                  <a:ea typeface="Century Gothic"/>
                  <a:cs typeface="Century Gothic"/>
                  <a:sym typeface="Century Gothic"/>
                </a:rPr>
                <a:t> </a:t>
              </a:r>
              <a:r>
                <a:rPr lang="en-GB" sz="2400">
                  <a:solidFill>
                    <a:schemeClr val="dk1"/>
                  </a:solidFill>
                  <a:latin typeface="Century Gothic"/>
                  <a:ea typeface="Century Gothic"/>
                  <a:cs typeface="Century Gothic"/>
                  <a:sym typeface="Century Gothic"/>
                </a:rPr>
                <a:t>Registered BMBEs</a:t>
              </a:r>
              <a:endParaRPr sz="1800" i="1">
                <a:solidFill>
                  <a:schemeClr val="dk1"/>
                </a:solidFill>
                <a:latin typeface="Century Gothic"/>
                <a:ea typeface="Century Gothic"/>
                <a:cs typeface="Century Gothic"/>
                <a:sym typeface="Century Gothic"/>
              </a:endParaRPr>
            </a:p>
          </p:txBody>
        </p:sp>
      </p:grpSp>
      <p:grpSp>
        <p:nvGrpSpPr>
          <p:cNvPr id="256" name="Google Shape;256;p7"/>
          <p:cNvGrpSpPr/>
          <p:nvPr/>
        </p:nvGrpSpPr>
        <p:grpSpPr>
          <a:xfrm>
            <a:off x="-304800" y="7538563"/>
            <a:ext cx="17066399" cy="1118400"/>
            <a:chOff x="457200" y="2329541"/>
            <a:chExt cx="13563550" cy="1118400"/>
          </a:xfrm>
        </p:grpSpPr>
        <p:sp>
          <p:nvSpPr>
            <p:cNvPr id="257" name="Google Shape;257;p7"/>
            <p:cNvSpPr/>
            <p:nvPr/>
          </p:nvSpPr>
          <p:spPr>
            <a:xfrm>
              <a:off x="2323450" y="2329541"/>
              <a:ext cx="11697300" cy="1118400"/>
            </a:xfrm>
            <a:prstGeom prst="roundRect">
              <a:avLst>
                <a:gd name="adj" fmla="val 16667"/>
              </a:avLst>
            </a:prstGeom>
            <a:solidFill>
              <a:srgbClr val="DAE5F1"/>
            </a:solidFill>
            <a:ln w="25400" cap="flat"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B7CCE4"/>
                </a:solidFill>
                <a:latin typeface="Calibri"/>
                <a:ea typeface="Calibri"/>
                <a:cs typeface="Calibri"/>
                <a:sym typeface="Calibri"/>
              </a:endParaRPr>
            </a:p>
          </p:txBody>
        </p:sp>
        <p:sp>
          <p:nvSpPr>
            <p:cNvPr id="258" name="Google Shape;258;p7"/>
            <p:cNvSpPr txBox="1"/>
            <p:nvPr/>
          </p:nvSpPr>
          <p:spPr>
            <a:xfrm>
              <a:off x="2447654" y="2352789"/>
              <a:ext cx="11037300" cy="10773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3200" b="1">
                  <a:solidFill>
                    <a:schemeClr val="dk1"/>
                  </a:solidFill>
                  <a:latin typeface="Poppins"/>
                  <a:ea typeface="Poppins"/>
                  <a:cs typeface="Poppins"/>
                  <a:sym typeface="Poppins"/>
                </a:rPr>
                <a:t>Sustained Capacity Building Opportunities through the conduct of Small Business Counsellors Course 105</a:t>
              </a:r>
              <a:endParaRPr/>
            </a:p>
          </p:txBody>
        </p:sp>
        <p:sp>
          <p:nvSpPr>
            <p:cNvPr id="259" name="Google Shape;259;p7"/>
            <p:cNvSpPr txBox="1"/>
            <p:nvPr/>
          </p:nvSpPr>
          <p:spPr>
            <a:xfrm>
              <a:off x="457200" y="2354175"/>
              <a:ext cx="2920800" cy="775800"/>
            </a:xfrm>
            <a:prstGeom prst="rect">
              <a:avLst/>
            </a:prstGeom>
            <a:noFill/>
            <a:ln>
              <a:noFill/>
            </a:ln>
          </p:spPr>
          <p:txBody>
            <a:bodyPr spcFirstLastPara="1" wrap="square" lIns="0" tIns="0" rIns="0" bIns="0" anchor="t" anchorCtr="0">
              <a:spAutoFit/>
            </a:bodyPr>
            <a:lstStyle/>
            <a:p>
              <a:pPr marL="0" marR="0" lvl="0" indent="0" algn="ctr" rtl="0">
                <a:lnSpc>
                  <a:spcPct val="93333"/>
                </a:lnSpc>
                <a:spcBef>
                  <a:spcPts val="0"/>
                </a:spcBef>
                <a:spcAft>
                  <a:spcPts val="0"/>
                </a:spcAft>
                <a:buNone/>
              </a:pPr>
              <a:r>
                <a:rPr lang="en-GB" sz="5400" b="1">
                  <a:solidFill>
                    <a:schemeClr val="dk2"/>
                  </a:solidFill>
                  <a:latin typeface="Montserrat"/>
                  <a:ea typeface="Montserrat"/>
                  <a:cs typeface="Montserrat"/>
                  <a:sym typeface="Montserrat"/>
                </a:rPr>
                <a:t>3</a:t>
              </a:r>
              <a:endParaRPr sz="5400" b="1">
                <a:solidFill>
                  <a:schemeClr val="dk2"/>
                </a:solidFill>
                <a:latin typeface="Montserrat"/>
                <a:ea typeface="Montserrat"/>
                <a:cs typeface="Montserrat"/>
                <a:sym typeface="Montserrat"/>
              </a:endParaRPr>
            </a:p>
          </p:txBody>
        </p:sp>
      </p:grpSp>
      <p:sp>
        <p:nvSpPr>
          <p:cNvPr id="260" name="Google Shape;260;p7"/>
          <p:cNvSpPr txBox="1"/>
          <p:nvPr/>
        </p:nvSpPr>
        <p:spPr>
          <a:xfrm>
            <a:off x="2240366" y="8811811"/>
            <a:ext cx="14642100" cy="4617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2400">
                <a:solidFill>
                  <a:schemeClr val="dk1"/>
                </a:solidFill>
                <a:latin typeface="Century Gothic"/>
                <a:ea typeface="Century Gothic"/>
                <a:cs typeface="Century Gothic"/>
                <a:sym typeface="Century Gothic"/>
              </a:rPr>
              <a:t>Participated by 34 NCBCs and RAPID Growth Project Staff</a:t>
            </a:r>
            <a:endParaRPr sz="1800" i="1">
              <a:solidFill>
                <a:schemeClr val="dk1"/>
              </a:solidFill>
              <a:latin typeface="Century Gothic"/>
              <a:ea typeface="Century Gothic"/>
              <a:cs typeface="Century Gothic"/>
              <a:sym typeface="Century Gothic"/>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Shape 268"/>
        <p:cNvGrpSpPr/>
        <p:nvPr/>
      </p:nvGrpSpPr>
      <p:grpSpPr>
        <a:xfrm>
          <a:off x="0" y="0"/>
          <a:ext cx="0" cy="0"/>
          <a:chOff x="0" y="0"/>
          <a:chExt cx="0" cy="0"/>
        </a:xfrm>
      </p:grpSpPr>
      <p:sp>
        <p:nvSpPr>
          <p:cNvPr id="269" name="Google Shape;269;p8"/>
          <p:cNvSpPr/>
          <p:nvPr/>
        </p:nvSpPr>
        <p:spPr>
          <a:xfrm>
            <a:off x="1028700" y="453061"/>
            <a:ext cx="1553339" cy="1518126"/>
          </a:xfrm>
          <a:custGeom>
            <a:avLst/>
            <a:gdLst/>
            <a:ahLst/>
            <a:cxnLst/>
            <a:rect l="l" t="t" r="r" b="b"/>
            <a:pathLst>
              <a:path w="1553339" h="1518126" extrusionOk="0">
                <a:moveTo>
                  <a:pt x="0" y="0"/>
                </a:moveTo>
                <a:lnTo>
                  <a:pt x="1553339" y="0"/>
                </a:lnTo>
                <a:lnTo>
                  <a:pt x="1553339" y="1518126"/>
                </a:lnTo>
                <a:lnTo>
                  <a:pt x="0" y="1518126"/>
                </a:lnTo>
                <a:lnTo>
                  <a:pt x="0" y="0"/>
                </a:lnTo>
                <a:close/>
              </a:path>
            </a:pathLst>
          </a:custGeom>
          <a:blipFill rotWithShape="1">
            <a:blip r:embed="rId3">
              <a:alphaModFix/>
            </a:blip>
            <a:stretch>
              <a:fillRect l="-31436" t="-10272" r="-26916" b="-57554"/>
            </a:stretch>
          </a:blipFill>
          <a:ln>
            <a:noFill/>
          </a:ln>
        </p:spPr>
      </p:sp>
      <p:cxnSp>
        <p:nvCxnSpPr>
          <p:cNvPr id="270" name="Google Shape;270;p8"/>
          <p:cNvCxnSpPr/>
          <p:nvPr/>
        </p:nvCxnSpPr>
        <p:spPr>
          <a:xfrm>
            <a:off x="2582039" y="1019175"/>
            <a:ext cx="14677261" cy="9525"/>
          </a:xfrm>
          <a:prstGeom prst="straightConnector1">
            <a:avLst/>
          </a:prstGeom>
          <a:noFill/>
          <a:ln w="19050" cap="flat" cmpd="sng">
            <a:solidFill>
              <a:srgbClr val="1C2120"/>
            </a:solidFill>
            <a:prstDash val="solid"/>
            <a:round/>
            <a:headEnd type="none" w="sm" len="sm"/>
            <a:tailEnd type="none" w="sm" len="sm"/>
          </a:ln>
        </p:spPr>
      </p:cxnSp>
      <p:grpSp>
        <p:nvGrpSpPr>
          <p:cNvPr id="271" name="Google Shape;271;p8"/>
          <p:cNvGrpSpPr/>
          <p:nvPr/>
        </p:nvGrpSpPr>
        <p:grpSpPr>
          <a:xfrm>
            <a:off x="1061357" y="9029700"/>
            <a:ext cx="16230606" cy="487347"/>
            <a:chOff x="0" y="0"/>
            <a:chExt cx="21640808" cy="649796"/>
          </a:xfrm>
        </p:grpSpPr>
        <p:sp>
          <p:nvSpPr>
            <p:cNvPr id="272" name="Google Shape;272;p8"/>
            <p:cNvSpPr/>
            <p:nvPr/>
          </p:nvSpPr>
          <p:spPr>
            <a:xfrm>
              <a:off x="0" y="0"/>
              <a:ext cx="21640808" cy="649796"/>
            </a:xfrm>
            <a:prstGeom prst="rect">
              <a:avLst/>
            </a:prstGeom>
            <a:solidFill>
              <a:srgbClr val="1C212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 name="Google Shape;273;p8"/>
            <p:cNvSpPr txBox="1"/>
            <p:nvPr/>
          </p:nvSpPr>
          <p:spPr>
            <a:xfrm>
              <a:off x="998196" y="104764"/>
              <a:ext cx="19644415" cy="440267"/>
            </a:xfrm>
            <a:prstGeom prst="rect">
              <a:avLst/>
            </a:prstGeom>
            <a:noFill/>
            <a:ln>
              <a:noFill/>
            </a:ln>
          </p:spPr>
          <p:txBody>
            <a:bodyPr spcFirstLastPara="1" wrap="square" lIns="0" tIns="0" rIns="0" bIns="0" anchor="t" anchorCtr="0">
              <a:spAutoFit/>
            </a:bodyPr>
            <a:lstStyle/>
            <a:p>
              <a:pPr marL="0" marR="0" lvl="0" indent="0" algn="just" rtl="0">
                <a:lnSpc>
                  <a:spcPct val="140000"/>
                </a:lnSpc>
                <a:spcBef>
                  <a:spcPts val="0"/>
                </a:spcBef>
                <a:spcAft>
                  <a:spcPts val="0"/>
                </a:spcAft>
                <a:buNone/>
              </a:pPr>
              <a:r>
                <a:rPr lang="en-GB" sz="2000" b="1">
                  <a:solidFill>
                    <a:srgbClr val="FDFDFD"/>
                  </a:solidFill>
                  <a:latin typeface="Montserrat"/>
                  <a:ea typeface="Montserrat"/>
                  <a:cs typeface="Montserrat"/>
                  <a:sym typeface="Montserrat"/>
                </a:rPr>
                <a:t>DTI- SME DEVELOPMENT DIVISION│NC│CARP│TPU│EDU</a:t>
              </a:r>
              <a:endParaRPr/>
            </a:p>
          </p:txBody>
        </p:sp>
      </p:grpSp>
      <p:pic>
        <p:nvPicPr>
          <p:cNvPr id="274" name="Google Shape;274;p8"/>
          <p:cNvPicPr preferRelativeResize="0"/>
          <p:nvPr/>
        </p:nvPicPr>
        <p:blipFill rotWithShape="1">
          <a:blip r:embed="rId4">
            <a:alphaModFix/>
          </a:blip>
          <a:srcRect t="14907" b="15064"/>
          <a:stretch/>
        </p:blipFill>
        <p:spPr>
          <a:xfrm>
            <a:off x="7543800" y="1050852"/>
            <a:ext cx="3709766" cy="1143000"/>
          </a:xfrm>
          <a:prstGeom prst="rect">
            <a:avLst/>
          </a:prstGeom>
          <a:noFill/>
          <a:ln>
            <a:noFill/>
          </a:ln>
        </p:spPr>
      </p:pic>
      <p:grpSp>
        <p:nvGrpSpPr>
          <p:cNvPr id="275" name="Google Shape;275;p8"/>
          <p:cNvGrpSpPr/>
          <p:nvPr/>
        </p:nvGrpSpPr>
        <p:grpSpPr>
          <a:xfrm>
            <a:off x="-98796" y="2356533"/>
            <a:ext cx="16786596" cy="2338530"/>
            <a:chOff x="457200" y="2525278"/>
            <a:chExt cx="13577805" cy="2338530"/>
          </a:xfrm>
        </p:grpSpPr>
        <p:sp>
          <p:nvSpPr>
            <p:cNvPr id="276" name="Google Shape;276;p8"/>
            <p:cNvSpPr/>
            <p:nvPr/>
          </p:nvSpPr>
          <p:spPr>
            <a:xfrm>
              <a:off x="2323450" y="2525278"/>
              <a:ext cx="11711555" cy="744823"/>
            </a:xfrm>
            <a:prstGeom prst="roundRect">
              <a:avLst>
                <a:gd name="adj" fmla="val 16667"/>
              </a:avLst>
            </a:prstGeom>
            <a:solidFill>
              <a:srgbClr val="DAE5F1"/>
            </a:solidFill>
            <a:ln w="25400" cap="flat"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B7CCE4"/>
                </a:solidFill>
                <a:latin typeface="Calibri"/>
                <a:ea typeface="Calibri"/>
                <a:cs typeface="Calibri"/>
                <a:sym typeface="Calibri"/>
              </a:endParaRPr>
            </a:p>
          </p:txBody>
        </p:sp>
        <p:sp>
          <p:nvSpPr>
            <p:cNvPr id="277" name="Google Shape;277;p8"/>
            <p:cNvSpPr txBox="1"/>
            <p:nvPr/>
          </p:nvSpPr>
          <p:spPr>
            <a:xfrm>
              <a:off x="2473623" y="2566564"/>
              <a:ext cx="11052082" cy="58477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3200" b="1">
                  <a:solidFill>
                    <a:schemeClr val="dk1"/>
                  </a:solidFill>
                  <a:latin typeface="Poppins"/>
                  <a:ea typeface="Poppins"/>
                  <a:cs typeface="Poppins"/>
                  <a:sym typeface="Poppins"/>
                </a:rPr>
                <a:t>Agency Partnerships</a:t>
              </a:r>
              <a:endParaRPr sz="3200" b="1">
                <a:solidFill>
                  <a:schemeClr val="dk1"/>
                </a:solidFill>
                <a:latin typeface="Poppins"/>
                <a:ea typeface="Poppins"/>
                <a:cs typeface="Poppins"/>
                <a:sym typeface="Poppins"/>
              </a:endParaRPr>
            </a:p>
          </p:txBody>
        </p:sp>
        <p:sp>
          <p:nvSpPr>
            <p:cNvPr id="278" name="Google Shape;278;p8"/>
            <p:cNvSpPr txBox="1"/>
            <p:nvPr/>
          </p:nvSpPr>
          <p:spPr>
            <a:xfrm>
              <a:off x="457200" y="2628900"/>
              <a:ext cx="2920884" cy="641201"/>
            </a:xfrm>
            <a:prstGeom prst="rect">
              <a:avLst/>
            </a:prstGeom>
            <a:noFill/>
            <a:ln>
              <a:noFill/>
            </a:ln>
          </p:spPr>
          <p:txBody>
            <a:bodyPr spcFirstLastPara="1" wrap="square" lIns="0" tIns="0" rIns="0" bIns="0" anchor="t" anchorCtr="0">
              <a:spAutoFit/>
            </a:bodyPr>
            <a:lstStyle/>
            <a:p>
              <a:pPr marL="0" marR="0" lvl="0" indent="0" algn="ctr" rtl="0">
                <a:lnSpc>
                  <a:spcPct val="93333"/>
                </a:lnSpc>
                <a:spcBef>
                  <a:spcPts val="0"/>
                </a:spcBef>
                <a:spcAft>
                  <a:spcPts val="0"/>
                </a:spcAft>
                <a:buNone/>
              </a:pPr>
              <a:r>
                <a:rPr lang="en-GB" sz="5400" b="1">
                  <a:solidFill>
                    <a:schemeClr val="dk2"/>
                  </a:solidFill>
                  <a:latin typeface="Montserrat"/>
                  <a:ea typeface="Montserrat"/>
                  <a:cs typeface="Montserrat"/>
                  <a:sym typeface="Montserrat"/>
                </a:rPr>
                <a:t>1</a:t>
              </a:r>
              <a:endParaRPr/>
            </a:p>
          </p:txBody>
        </p:sp>
        <p:sp>
          <p:nvSpPr>
            <p:cNvPr id="279" name="Google Shape;279;p8"/>
            <p:cNvSpPr txBox="1"/>
            <p:nvPr/>
          </p:nvSpPr>
          <p:spPr>
            <a:xfrm>
              <a:off x="2348895" y="3294148"/>
              <a:ext cx="11574432" cy="1569660"/>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n-GB" sz="2400">
                  <a:solidFill>
                    <a:schemeClr val="dk1"/>
                  </a:solidFill>
                  <a:latin typeface="Century Gothic"/>
                  <a:ea typeface="Century Gothic"/>
                  <a:cs typeface="Century Gothic"/>
                  <a:sym typeface="Century Gothic"/>
                </a:rPr>
                <a:t>Partnered with various stakeholders to ensure a holistic approach to agrarian reform, addressing the diverse needs and challenges faced by ARBs. Through these partnerships, DTI-CARP can leverage the expertise, resources, and networks of partner agencies to achieve its goals more effectively </a:t>
              </a:r>
              <a:endParaRPr sz="2400">
                <a:solidFill>
                  <a:schemeClr val="dk1"/>
                </a:solidFill>
                <a:latin typeface="Century Gothic"/>
                <a:ea typeface="Century Gothic"/>
                <a:cs typeface="Century Gothic"/>
                <a:sym typeface="Century Gothic"/>
              </a:endParaRPr>
            </a:p>
          </p:txBody>
        </p:sp>
      </p:grpSp>
      <p:grpSp>
        <p:nvGrpSpPr>
          <p:cNvPr id="280" name="Google Shape;280;p8"/>
          <p:cNvGrpSpPr/>
          <p:nvPr/>
        </p:nvGrpSpPr>
        <p:grpSpPr>
          <a:xfrm>
            <a:off x="-18288" y="4785120"/>
            <a:ext cx="16706088" cy="1969199"/>
            <a:chOff x="457200" y="2525278"/>
            <a:chExt cx="13596361" cy="1969199"/>
          </a:xfrm>
        </p:grpSpPr>
        <p:sp>
          <p:nvSpPr>
            <p:cNvPr id="281" name="Google Shape;281;p8"/>
            <p:cNvSpPr/>
            <p:nvPr/>
          </p:nvSpPr>
          <p:spPr>
            <a:xfrm>
              <a:off x="2323450" y="2525278"/>
              <a:ext cx="11711555" cy="744823"/>
            </a:xfrm>
            <a:prstGeom prst="roundRect">
              <a:avLst>
                <a:gd name="adj" fmla="val 16667"/>
              </a:avLst>
            </a:prstGeom>
            <a:solidFill>
              <a:srgbClr val="DAE5F1"/>
            </a:solidFill>
            <a:ln w="25400" cap="flat"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B7CCE4"/>
                </a:solidFill>
                <a:latin typeface="Calibri"/>
                <a:ea typeface="Calibri"/>
                <a:cs typeface="Calibri"/>
                <a:sym typeface="Calibri"/>
              </a:endParaRPr>
            </a:p>
          </p:txBody>
        </p:sp>
        <p:sp>
          <p:nvSpPr>
            <p:cNvPr id="282" name="Google Shape;282;p8"/>
            <p:cNvSpPr txBox="1"/>
            <p:nvPr/>
          </p:nvSpPr>
          <p:spPr>
            <a:xfrm>
              <a:off x="2473623" y="2566564"/>
              <a:ext cx="11052082" cy="58477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3200" b="1">
                  <a:solidFill>
                    <a:schemeClr val="dk1"/>
                  </a:solidFill>
                  <a:latin typeface="Poppins"/>
                  <a:ea typeface="Poppins"/>
                  <a:cs typeface="Poppins"/>
                  <a:sym typeface="Poppins"/>
                </a:rPr>
                <a:t>Access to Market</a:t>
              </a:r>
              <a:endParaRPr sz="3200" b="1">
                <a:solidFill>
                  <a:schemeClr val="dk1"/>
                </a:solidFill>
                <a:latin typeface="Poppins"/>
                <a:ea typeface="Poppins"/>
                <a:cs typeface="Poppins"/>
                <a:sym typeface="Poppins"/>
              </a:endParaRPr>
            </a:p>
          </p:txBody>
        </p:sp>
        <p:sp>
          <p:nvSpPr>
            <p:cNvPr id="283" name="Google Shape;283;p8"/>
            <p:cNvSpPr txBox="1"/>
            <p:nvPr/>
          </p:nvSpPr>
          <p:spPr>
            <a:xfrm>
              <a:off x="457200" y="2628900"/>
              <a:ext cx="2920884" cy="641201"/>
            </a:xfrm>
            <a:prstGeom prst="rect">
              <a:avLst/>
            </a:prstGeom>
            <a:noFill/>
            <a:ln>
              <a:noFill/>
            </a:ln>
          </p:spPr>
          <p:txBody>
            <a:bodyPr spcFirstLastPara="1" wrap="square" lIns="0" tIns="0" rIns="0" bIns="0" anchor="t" anchorCtr="0">
              <a:spAutoFit/>
            </a:bodyPr>
            <a:lstStyle/>
            <a:p>
              <a:pPr marL="0" marR="0" lvl="0" indent="0" algn="ctr" rtl="0">
                <a:lnSpc>
                  <a:spcPct val="93333"/>
                </a:lnSpc>
                <a:spcBef>
                  <a:spcPts val="0"/>
                </a:spcBef>
                <a:spcAft>
                  <a:spcPts val="0"/>
                </a:spcAft>
                <a:buNone/>
              </a:pPr>
              <a:r>
                <a:rPr lang="en-GB" sz="5400" b="1">
                  <a:solidFill>
                    <a:schemeClr val="dk2"/>
                  </a:solidFill>
                  <a:latin typeface="Montserrat"/>
                  <a:ea typeface="Montserrat"/>
                  <a:cs typeface="Montserrat"/>
                  <a:sym typeface="Montserrat"/>
                </a:rPr>
                <a:t>2</a:t>
              </a:r>
              <a:endParaRPr sz="5400" b="1">
                <a:solidFill>
                  <a:schemeClr val="dk2"/>
                </a:solidFill>
                <a:latin typeface="Montserrat"/>
                <a:ea typeface="Montserrat"/>
                <a:cs typeface="Montserrat"/>
                <a:sym typeface="Montserrat"/>
              </a:endParaRPr>
            </a:p>
          </p:txBody>
        </p:sp>
        <p:sp>
          <p:nvSpPr>
            <p:cNvPr id="284" name="Google Shape;284;p8"/>
            <p:cNvSpPr txBox="1"/>
            <p:nvPr/>
          </p:nvSpPr>
          <p:spPr>
            <a:xfrm>
              <a:off x="2348895" y="3294148"/>
              <a:ext cx="11704666" cy="1200329"/>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n-GB" sz="2400">
                  <a:solidFill>
                    <a:schemeClr val="dk1"/>
                  </a:solidFill>
                  <a:latin typeface="Century Gothic"/>
                  <a:ea typeface="Century Gothic"/>
                  <a:cs typeface="Century Gothic"/>
                  <a:sym typeface="Century Gothic"/>
                </a:rPr>
                <a:t>Increased the generative capacity of the program beneficiaries for Sales, Investments and Jobs. Market development activities conducted increased the market share of the program beneficiaries both in the local and national markets</a:t>
              </a:r>
              <a:endParaRPr sz="2400">
                <a:solidFill>
                  <a:schemeClr val="dk1"/>
                </a:solidFill>
                <a:latin typeface="Century Gothic"/>
                <a:ea typeface="Century Gothic"/>
                <a:cs typeface="Century Gothic"/>
                <a:sym typeface="Century Gothic"/>
              </a:endParaRPr>
            </a:p>
          </p:txBody>
        </p:sp>
      </p:grpSp>
      <p:grpSp>
        <p:nvGrpSpPr>
          <p:cNvPr id="285" name="Google Shape;285;p8"/>
          <p:cNvGrpSpPr/>
          <p:nvPr/>
        </p:nvGrpSpPr>
        <p:grpSpPr>
          <a:xfrm>
            <a:off x="21336" y="6948454"/>
            <a:ext cx="16666464" cy="1599867"/>
            <a:chOff x="457200" y="2525278"/>
            <a:chExt cx="13577805" cy="1599867"/>
          </a:xfrm>
        </p:grpSpPr>
        <p:sp>
          <p:nvSpPr>
            <p:cNvPr id="286" name="Google Shape;286;p8"/>
            <p:cNvSpPr/>
            <p:nvPr/>
          </p:nvSpPr>
          <p:spPr>
            <a:xfrm>
              <a:off x="2323450" y="2525278"/>
              <a:ext cx="11711555" cy="744823"/>
            </a:xfrm>
            <a:prstGeom prst="roundRect">
              <a:avLst>
                <a:gd name="adj" fmla="val 16667"/>
              </a:avLst>
            </a:prstGeom>
            <a:solidFill>
              <a:srgbClr val="DAE5F1"/>
            </a:solidFill>
            <a:ln w="25400" cap="flat"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B7CCE4"/>
                </a:solidFill>
                <a:latin typeface="Calibri"/>
                <a:ea typeface="Calibri"/>
                <a:cs typeface="Calibri"/>
                <a:sym typeface="Calibri"/>
              </a:endParaRPr>
            </a:p>
          </p:txBody>
        </p:sp>
        <p:sp>
          <p:nvSpPr>
            <p:cNvPr id="287" name="Google Shape;287;p8"/>
            <p:cNvSpPr txBox="1"/>
            <p:nvPr/>
          </p:nvSpPr>
          <p:spPr>
            <a:xfrm>
              <a:off x="2457718" y="2615335"/>
              <a:ext cx="11052082" cy="58477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3200" b="1">
                  <a:solidFill>
                    <a:schemeClr val="dk1"/>
                  </a:solidFill>
                  <a:latin typeface="Poppins"/>
                  <a:ea typeface="Poppins"/>
                  <a:cs typeface="Poppins"/>
                  <a:sym typeface="Poppins"/>
                </a:rPr>
                <a:t>Enterprise Promotion And Product Development</a:t>
              </a:r>
              <a:endParaRPr sz="3200" b="1">
                <a:solidFill>
                  <a:schemeClr val="dk1"/>
                </a:solidFill>
                <a:latin typeface="Poppins"/>
                <a:ea typeface="Poppins"/>
                <a:cs typeface="Poppins"/>
                <a:sym typeface="Poppins"/>
              </a:endParaRPr>
            </a:p>
          </p:txBody>
        </p:sp>
        <p:sp>
          <p:nvSpPr>
            <p:cNvPr id="288" name="Google Shape;288;p8"/>
            <p:cNvSpPr txBox="1"/>
            <p:nvPr/>
          </p:nvSpPr>
          <p:spPr>
            <a:xfrm>
              <a:off x="457200" y="2628900"/>
              <a:ext cx="2920884" cy="641201"/>
            </a:xfrm>
            <a:prstGeom prst="rect">
              <a:avLst/>
            </a:prstGeom>
            <a:noFill/>
            <a:ln>
              <a:noFill/>
            </a:ln>
          </p:spPr>
          <p:txBody>
            <a:bodyPr spcFirstLastPara="1" wrap="square" lIns="0" tIns="0" rIns="0" bIns="0" anchor="t" anchorCtr="0">
              <a:spAutoFit/>
            </a:bodyPr>
            <a:lstStyle/>
            <a:p>
              <a:pPr marL="0" marR="0" lvl="0" indent="0" algn="ctr" rtl="0">
                <a:lnSpc>
                  <a:spcPct val="93333"/>
                </a:lnSpc>
                <a:spcBef>
                  <a:spcPts val="0"/>
                </a:spcBef>
                <a:spcAft>
                  <a:spcPts val="0"/>
                </a:spcAft>
                <a:buNone/>
              </a:pPr>
              <a:r>
                <a:rPr lang="en-GB" sz="5400" b="1">
                  <a:solidFill>
                    <a:schemeClr val="dk2"/>
                  </a:solidFill>
                  <a:latin typeface="Montserrat"/>
                  <a:ea typeface="Montserrat"/>
                  <a:cs typeface="Montserrat"/>
                  <a:sym typeface="Montserrat"/>
                </a:rPr>
                <a:t>3</a:t>
              </a:r>
              <a:endParaRPr sz="5400" b="1">
                <a:solidFill>
                  <a:schemeClr val="dk2"/>
                </a:solidFill>
                <a:latin typeface="Montserrat"/>
                <a:ea typeface="Montserrat"/>
                <a:cs typeface="Montserrat"/>
                <a:sym typeface="Montserrat"/>
              </a:endParaRPr>
            </a:p>
          </p:txBody>
        </p:sp>
        <p:sp>
          <p:nvSpPr>
            <p:cNvPr id="289" name="Google Shape;289;p8"/>
            <p:cNvSpPr txBox="1"/>
            <p:nvPr/>
          </p:nvSpPr>
          <p:spPr>
            <a:xfrm>
              <a:off x="2348895" y="3294148"/>
              <a:ext cx="11667555" cy="830997"/>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n-GB" sz="2400">
                  <a:solidFill>
                    <a:schemeClr val="dk1"/>
                  </a:solidFill>
                  <a:latin typeface="Century Gothic"/>
                  <a:ea typeface="Century Gothic"/>
                  <a:cs typeface="Century Gothic"/>
                  <a:sym typeface="Century Gothic"/>
                </a:rPr>
                <a:t>Assisted ARBOs/CARPreneurs in acquiring marketing regulatory requirements (FDA-LTO, CPR, Halal, IPO, etc.)</a:t>
              </a:r>
              <a:endParaRPr sz="2400">
                <a:solidFill>
                  <a:schemeClr val="dk1"/>
                </a:solidFill>
                <a:latin typeface="Century Gothic"/>
                <a:ea typeface="Century Gothic"/>
                <a:cs typeface="Century Gothic"/>
                <a:sym typeface="Century Gothic"/>
              </a:endParaRPr>
            </a:p>
          </p:txBody>
        </p:sp>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Shape 293"/>
        <p:cNvGrpSpPr/>
        <p:nvPr/>
      </p:nvGrpSpPr>
      <p:grpSpPr>
        <a:xfrm>
          <a:off x="0" y="0"/>
          <a:ext cx="0" cy="0"/>
          <a:chOff x="0" y="0"/>
          <a:chExt cx="0" cy="0"/>
        </a:xfrm>
      </p:grpSpPr>
      <p:sp>
        <p:nvSpPr>
          <p:cNvPr id="294" name="Google Shape;294;p9"/>
          <p:cNvSpPr/>
          <p:nvPr/>
        </p:nvSpPr>
        <p:spPr>
          <a:xfrm>
            <a:off x="1028700" y="453061"/>
            <a:ext cx="1553339" cy="1518126"/>
          </a:xfrm>
          <a:custGeom>
            <a:avLst/>
            <a:gdLst/>
            <a:ahLst/>
            <a:cxnLst/>
            <a:rect l="l" t="t" r="r" b="b"/>
            <a:pathLst>
              <a:path w="1553339" h="1518126" extrusionOk="0">
                <a:moveTo>
                  <a:pt x="0" y="0"/>
                </a:moveTo>
                <a:lnTo>
                  <a:pt x="1553339" y="0"/>
                </a:lnTo>
                <a:lnTo>
                  <a:pt x="1553339" y="1518126"/>
                </a:lnTo>
                <a:lnTo>
                  <a:pt x="0" y="1518126"/>
                </a:lnTo>
                <a:lnTo>
                  <a:pt x="0" y="0"/>
                </a:lnTo>
                <a:close/>
              </a:path>
            </a:pathLst>
          </a:custGeom>
          <a:blipFill rotWithShape="1">
            <a:blip r:embed="rId3">
              <a:alphaModFix/>
            </a:blip>
            <a:stretch>
              <a:fillRect l="-31436" t="-10272" r="-26916" b="-57554"/>
            </a:stretch>
          </a:blipFill>
          <a:ln>
            <a:noFill/>
          </a:ln>
        </p:spPr>
      </p:sp>
      <p:cxnSp>
        <p:nvCxnSpPr>
          <p:cNvPr id="295" name="Google Shape;295;p9"/>
          <p:cNvCxnSpPr/>
          <p:nvPr/>
        </p:nvCxnSpPr>
        <p:spPr>
          <a:xfrm>
            <a:off x="2582039" y="1019175"/>
            <a:ext cx="14677261" cy="9525"/>
          </a:xfrm>
          <a:prstGeom prst="straightConnector1">
            <a:avLst/>
          </a:prstGeom>
          <a:noFill/>
          <a:ln w="19050" cap="flat" cmpd="sng">
            <a:solidFill>
              <a:srgbClr val="1C2120"/>
            </a:solidFill>
            <a:prstDash val="solid"/>
            <a:round/>
            <a:headEnd type="none" w="sm" len="sm"/>
            <a:tailEnd type="none" w="sm" len="sm"/>
          </a:ln>
        </p:spPr>
      </p:cxnSp>
      <p:sp>
        <p:nvSpPr>
          <p:cNvPr id="296" name="Google Shape;296;p9"/>
          <p:cNvSpPr txBox="1"/>
          <p:nvPr/>
        </p:nvSpPr>
        <p:spPr>
          <a:xfrm>
            <a:off x="4731446" y="2942971"/>
            <a:ext cx="8825108" cy="3229483"/>
          </a:xfrm>
          <a:prstGeom prst="rect">
            <a:avLst/>
          </a:prstGeom>
          <a:noFill/>
          <a:ln>
            <a:noFill/>
          </a:ln>
        </p:spPr>
        <p:txBody>
          <a:bodyPr spcFirstLastPara="1" wrap="square" lIns="0" tIns="0" rIns="0" bIns="0" anchor="t" anchorCtr="0">
            <a:spAutoFit/>
          </a:bodyPr>
          <a:lstStyle/>
          <a:p>
            <a:pPr marL="0" marR="0" lvl="0" indent="0" algn="ctr" rtl="0">
              <a:lnSpc>
                <a:spcPct val="134000"/>
              </a:lnSpc>
              <a:spcBef>
                <a:spcPts val="0"/>
              </a:spcBef>
              <a:spcAft>
                <a:spcPts val="0"/>
              </a:spcAft>
              <a:buNone/>
            </a:pPr>
            <a:r>
              <a:rPr lang="en-GB" sz="6400" b="1">
                <a:solidFill>
                  <a:srgbClr val="1C2120"/>
                </a:solidFill>
                <a:latin typeface="Montserrat"/>
                <a:ea typeface="Montserrat"/>
                <a:cs typeface="Montserrat"/>
                <a:sym typeface="Montserrat"/>
              </a:rPr>
              <a:t>Top 3 Innovations Introduced and their Results</a:t>
            </a:r>
            <a:endParaRPr/>
          </a:p>
        </p:txBody>
      </p:sp>
      <p:sp>
        <p:nvSpPr>
          <p:cNvPr id="297" name="Google Shape;297;p9"/>
          <p:cNvSpPr/>
          <p:nvPr/>
        </p:nvSpPr>
        <p:spPr>
          <a:xfrm>
            <a:off x="4762836" y="7099800"/>
            <a:ext cx="8762328" cy="91347"/>
          </a:xfrm>
          <a:prstGeom prst="rect">
            <a:avLst/>
          </a:prstGeom>
          <a:solidFill>
            <a:srgbClr val="1C212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98" name="Google Shape;298;p9"/>
          <p:cNvGrpSpPr/>
          <p:nvPr/>
        </p:nvGrpSpPr>
        <p:grpSpPr>
          <a:xfrm>
            <a:off x="1028700" y="8770953"/>
            <a:ext cx="16230606" cy="487347"/>
            <a:chOff x="0" y="0"/>
            <a:chExt cx="21640808" cy="649796"/>
          </a:xfrm>
        </p:grpSpPr>
        <p:sp>
          <p:nvSpPr>
            <p:cNvPr id="299" name="Google Shape;299;p9"/>
            <p:cNvSpPr/>
            <p:nvPr/>
          </p:nvSpPr>
          <p:spPr>
            <a:xfrm>
              <a:off x="0" y="0"/>
              <a:ext cx="21640808" cy="649796"/>
            </a:xfrm>
            <a:prstGeom prst="rect">
              <a:avLst/>
            </a:prstGeom>
            <a:solidFill>
              <a:srgbClr val="1C212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 name="Google Shape;300;p9"/>
            <p:cNvSpPr txBox="1"/>
            <p:nvPr/>
          </p:nvSpPr>
          <p:spPr>
            <a:xfrm>
              <a:off x="998193" y="85715"/>
              <a:ext cx="19644415" cy="440266"/>
            </a:xfrm>
            <a:prstGeom prst="rect">
              <a:avLst/>
            </a:prstGeom>
            <a:noFill/>
            <a:ln>
              <a:noFill/>
            </a:ln>
          </p:spPr>
          <p:txBody>
            <a:bodyPr spcFirstLastPara="1" wrap="square" lIns="0" tIns="0" rIns="0" bIns="0" anchor="t" anchorCtr="0">
              <a:spAutoFit/>
            </a:bodyPr>
            <a:lstStyle/>
            <a:p>
              <a:pPr marL="0" marR="0" lvl="0" indent="0" algn="just" rtl="0">
                <a:lnSpc>
                  <a:spcPct val="140000"/>
                </a:lnSpc>
                <a:spcBef>
                  <a:spcPts val="0"/>
                </a:spcBef>
                <a:spcAft>
                  <a:spcPts val="0"/>
                </a:spcAft>
                <a:buNone/>
              </a:pPr>
              <a:r>
                <a:rPr lang="en-GB" sz="2000" b="1">
                  <a:solidFill>
                    <a:srgbClr val="FDFDFD"/>
                  </a:solidFill>
                  <a:latin typeface="Montserrat"/>
                  <a:ea typeface="Montserrat"/>
                  <a:cs typeface="Montserrat"/>
                  <a:sym typeface="Montserrat"/>
                </a:rPr>
                <a:t>DTI- SME DEVELOPMENT DIVISION│NC│CARP│TPU│EDU</a:t>
              </a:r>
              <a:endParaRPr/>
            </a:p>
          </p:txBody>
        </p:sp>
      </p:gr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Shape 308"/>
        <p:cNvGrpSpPr/>
        <p:nvPr/>
      </p:nvGrpSpPr>
      <p:grpSpPr>
        <a:xfrm>
          <a:off x="0" y="0"/>
          <a:ext cx="0" cy="0"/>
          <a:chOff x="0" y="0"/>
          <a:chExt cx="0" cy="0"/>
        </a:xfrm>
      </p:grpSpPr>
      <p:sp>
        <p:nvSpPr>
          <p:cNvPr id="309" name="Google Shape;309;p10"/>
          <p:cNvSpPr/>
          <p:nvPr/>
        </p:nvSpPr>
        <p:spPr>
          <a:xfrm>
            <a:off x="1028700" y="453061"/>
            <a:ext cx="1553339" cy="1518126"/>
          </a:xfrm>
          <a:custGeom>
            <a:avLst/>
            <a:gdLst/>
            <a:ahLst/>
            <a:cxnLst/>
            <a:rect l="l" t="t" r="r" b="b"/>
            <a:pathLst>
              <a:path w="1553339" h="1518126" extrusionOk="0">
                <a:moveTo>
                  <a:pt x="0" y="0"/>
                </a:moveTo>
                <a:lnTo>
                  <a:pt x="1553339" y="0"/>
                </a:lnTo>
                <a:lnTo>
                  <a:pt x="1553339" y="1518126"/>
                </a:lnTo>
                <a:lnTo>
                  <a:pt x="0" y="1518126"/>
                </a:lnTo>
                <a:lnTo>
                  <a:pt x="0" y="0"/>
                </a:lnTo>
                <a:close/>
              </a:path>
            </a:pathLst>
          </a:custGeom>
          <a:blipFill rotWithShape="1">
            <a:blip r:embed="rId3">
              <a:alphaModFix/>
            </a:blip>
            <a:stretch>
              <a:fillRect l="-31436" t="-10272" r="-26916" b="-57554"/>
            </a:stretch>
          </a:blipFill>
          <a:ln>
            <a:noFill/>
          </a:ln>
        </p:spPr>
      </p:sp>
      <p:cxnSp>
        <p:nvCxnSpPr>
          <p:cNvPr id="310" name="Google Shape;310;p10"/>
          <p:cNvCxnSpPr/>
          <p:nvPr/>
        </p:nvCxnSpPr>
        <p:spPr>
          <a:xfrm>
            <a:off x="2582039" y="1019175"/>
            <a:ext cx="14677261" cy="9525"/>
          </a:xfrm>
          <a:prstGeom prst="straightConnector1">
            <a:avLst/>
          </a:prstGeom>
          <a:noFill/>
          <a:ln w="19050" cap="flat" cmpd="sng">
            <a:solidFill>
              <a:srgbClr val="1C2120"/>
            </a:solidFill>
            <a:prstDash val="solid"/>
            <a:round/>
            <a:headEnd type="none" w="sm" len="sm"/>
            <a:tailEnd type="none" w="sm" len="sm"/>
          </a:ln>
        </p:spPr>
      </p:cxnSp>
      <p:grpSp>
        <p:nvGrpSpPr>
          <p:cNvPr id="311" name="Google Shape;311;p10"/>
          <p:cNvGrpSpPr/>
          <p:nvPr/>
        </p:nvGrpSpPr>
        <p:grpSpPr>
          <a:xfrm>
            <a:off x="1219200" y="9294057"/>
            <a:ext cx="16230606" cy="487347"/>
            <a:chOff x="0" y="0"/>
            <a:chExt cx="21640808" cy="649796"/>
          </a:xfrm>
        </p:grpSpPr>
        <p:sp>
          <p:nvSpPr>
            <p:cNvPr id="312" name="Google Shape;312;p10"/>
            <p:cNvSpPr/>
            <p:nvPr/>
          </p:nvSpPr>
          <p:spPr>
            <a:xfrm>
              <a:off x="0" y="0"/>
              <a:ext cx="21640808" cy="649796"/>
            </a:xfrm>
            <a:prstGeom prst="rect">
              <a:avLst/>
            </a:prstGeom>
            <a:solidFill>
              <a:srgbClr val="1C212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 name="Google Shape;313;p10"/>
            <p:cNvSpPr txBox="1"/>
            <p:nvPr/>
          </p:nvSpPr>
          <p:spPr>
            <a:xfrm>
              <a:off x="998196" y="104764"/>
              <a:ext cx="19644415" cy="440267"/>
            </a:xfrm>
            <a:prstGeom prst="rect">
              <a:avLst/>
            </a:prstGeom>
            <a:noFill/>
            <a:ln>
              <a:noFill/>
            </a:ln>
          </p:spPr>
          <p:txBody>
            <a:bodyPr spcFirstLastPara="1" wrap="square" lIns="0" tIns="0" rIns="0" bIns="0" anchor="t" anchorCtr="0">
              <a:spAutoFit/>
            </a:bodyPr>
            <a:lstStyle/>
            <a:p>
              <a:pPr marL="0" marR="0" lvl="0" indent="0" algn="just" rtl="0">
                <a:lnSpc>
                  <a:spcPct val="140000"/>
                </a:lnSpc>
                <a:spcBef>
                  <a:spcPts val="0"/>
                </a:spcBef>
                <a:spcAft>
                  <a:spcPts val="0"/>
                </a:spcAft>
                <a:buNone/>
              </a:pPr>
              <a:r>
                <a:rPr lang="en-GB" sz="2000" b="1">
                  <a:solidFill>
                    <a:srgbClr val="FDFDFD"/>
                  </a:solidFill>
                  <a:latin typeface="Montserrat"/>
                  <a:ea typeface="Montserrat"/>
                  <a:cs typeface="Montserrat"/>
                  <a:sym typeface="Montserrat"/>
                </a:rPr>
                <a:t>DTI- SME DEVELOPMENT DIVISION│NC│CARP│TPU│EDU</a:t>
              </a:r>
              <a:endParaRPr/>
            </a:p>
          </p:txBody>
        </p:sp>
      </p:grpSp>
      <p:sp>
        <p:nvSpPr>
          <p:cNvPr id="314" name="Google Shape;314;p10"/>
          <p:cNvSpPr txBox="1"/>
          <p:nvPr/>
        </p:nvSpPr>
        <p:spPr>
          <a:xfrm>
            <a:off x="2209800" y="2628900"/>
            <a:ext cx="14706600"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nvGrpSpPr>
          <p:cNvPr id="315" name="Google Shape;315;p10"/>
          <p:cNvGrpSpPr/>
          <p:nvPr/>
        </p:nvGrpSpPr>
        <p:grpSpPr>
          <a:xfrm>
            <a:off x="473572" y="2172110"/>
            <a:ext cx="16662019" cy="4425196"/>
            <a:chOff x="457200" y="2525278"/>
            <a:chExt cx="13763757" cy="4425196"/>
          </a:xfrm>
        </p:grpSpPr>
        <p:sp>
          <p:nvSpPr>
            <p:cNvPr id="316" name="Google Shape;316;p10"/>
            <p:cNvSpPr/>
            <p:nvPr/>
          </p:nvSpPr>
          <p:spPr>
            <a:xfrm>
              <a:off x="2323450" y="2525278"/>
              <a:ext cx="11716443" cy="715340"/>
            </a:xfrm>
            <a:prstGeom prst="roundRect">
              <a:avLst>
                <a:gd name="adj" fmla="val 16667"/>
              </a:avLst>
            </a:prstGeom>
            <a:solidFill>
              <a:srgbClr val="DAE5F1"/>
            </a:solidFill>
            <a:ln w="25400" cap="flat"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B7CCE4"/>
                </a:solidFill>
                <a:latin typeface="Calibri"/>
                <a:ea typeface="Calibri"/>
                <a:cs typeface="Calibri"/>
                <a:sym typeface="Calibri"/>
              </a:endParaRPr>
            </a:p>
          </p:txBody>
        </p:sp>
        <p:sp>
          <p:nvSpPr>
            <p:cNvPr id="317" name="Google Shape;317;p10"/>
            <p:cNvSpPr txBox="1"/>
            <p:nvPr/>
          </p:nvSpPr>
          <p:spPr>
            <a:xfrm>
              <a:off x="2473623" y="2566564"/>
              <a:ext cx="9794577" cy="58477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3200" b="1">
                  <a:solidFill>
                    <a:schemeClr val="dk1"/>
                  </a:solidFill>
                  <a:latin typeface="Poppins"/>
                  <a:ea typeface="Poppins"/>
                  <a:cs typeface="Poppins"/>
                  <a:sym typeface="Poppins"/>
                </a:rPr>
                <a:t>Organized OTOPreneurs  Producers Associations</a:t>
              </a:r>
              <a:endParaRPr/>
            </a:p>
          </p:txBody>
        </p:sp>
        <p:sp>
          <p:nvSpPr>
            <p:cNvPr id="318" name="Google Shape;318;p10"/>
            <p:cNvSpPr txBox="1"/>
            <p:nvPr/>
          </p:nvSpPr>
          <p:spPr>
            <a:xfrm>
              <a:off x="457200" y="2628900"/>
              <a:ext cx="2920884" cy="641201"/>
            </a:xfrm>
            <a:prstGeom prst="rect">
              <a:avLst/>
            </a:prstGeom>
            <a:noFill/>
            <a:ln>
              <a:noFill/>
            </a:ln>
          </p:spPr>
          <p:txBody>
            <a:bodyPr spcFirstLastPara="1" wrap="square" lIns="0" tIns="0" rIns="0" bIns="0" anchor="t" anchorCtr="0">
              <a:spAutoFit/>
            </a:bodyPr>
            <a:lstStyle/>
            <a:p>
              <a:pPr marL="0" marR="0" lvl="0" indent="0" algn="ctr" rtl="0">
                <a:lnSpc>
                  <a:spcPct val="93333"/>
                </a:lnSpc>
                <a:spcBef>
                  <a:spcPts val="0"/>
                </a:spcBef>
                <a:spcAft>
                  <a:spcPts val="0"/>
                </a:spcAft>
                <a:buNone/>
              </a:pPr>
              <a:r>
                <a:rPr lang="en-GB" sz="5400" b="1">
                  <a:solidFill>
                    <a:schemeClr val="dk2"/>
                  </a:solidFill>
                  <a:latin typeface="Montserrat"/>
                  <a:ea typeface="Montserrat"/>
                  <a:cs typeface="Montserrat"/>
                  <a:sym typeface="Montserrat"/>
                </a:rPr>
                <a:t>1</a:t>
              </a:r>
              <a:endParaRPr/>
            </a:p>
          </p:txBody>
        </p:sp>
        <p:sp>
          <p:nvSpPr>
            <p:cNvPr id="319" name="Google Shape;319;p10"/>
            <p:cNvSpPr txBox="1"/>
            <p:nvPr/>
          </p:nvSpPr>
          <p:spPr>
            <a:xfrm>
              <a:off x="2521557" y="3348674"/>
              <a:ext cx="11699400" cy="3601800"/>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n-GB" sz="2400" i="1">
                  <a:solidFill>
                    <a:schemeClr val="dk1"/>
                  </a:solidFill>
                  <a:latin typeface="Century Gothic"/>
                  <a:ea typeface="Century Gothic"/>
                  <a:cs typeface="Century Gothic"/>
                  <a:sym typeface="Century Gothic"/>
                </a:rPr>
                <a:t>These associations are always being tapped to sell their products to the different conventions conducted resulted to a more focused private sector and LGU partnerships and collaborations.</a:t>
              </a:r>
              <a:endParaRPr/>
            </a:p>
            <a:p>
              <a:pPr marL="0" marR="0" lvl="0" indent="0" algn="just" rtl="0">
                <a:spcBef>
                  <a:spcPts val="0"/>
                </a:spcBef>
                <a:spcAft>
                  <a:spcPts val="0"/>
                </a:spcAft>
                <a:buNone/>
              </a:pPr>
              <a:endParaRPr sz="1200">
                <a:solidFill>
                  <a:schemeClr val="dk1"/>
                </a:solidFill>
                <a:latin typeface="Century Gothic"/>
                <a:ea typeface="Century Gothic"/>
                <a:cs typeface="Century Gothic"/>
                <a:sym typeface="Century Gothic"/>
              </a:endParaRPr>
            </a:p>
            <a:p>
              <a:pPr marL="0" marR="0" lvl="0" indent="0" algn="just" rtl="0">
                <a:spcBef>
                  <a:spcPts val="0"/>
                </a:spcBef>
                <a:spcAft>
                  <a:spcPts val="0"/>
                </a:spcAft>
                <a:buNone/>
              </a:pPr>
              <a:r>
                <a:rPr lang="en-GB" sz="2400" b="1">
                  <a:solidFill>
                    <a:schemeClr val="dk1"/>
                  </a:solidFill>
                  <a:latin typeface="Century Gothic"/>
                  <a:ea typeface="Century Gothic"/>
                  <a:cs typeface="Century Gothic"/>
                  <a:sym typeface="Century Gothic"/>
                </a:rPr>
                <a:t>Caraga Regional Association of Traders and Entrepreneurs in Food (CReATE Inc)</a:t>
              </a:r>
              <a:endParaRPr b="1"/>
            </a:p>
            <a:p>
              <a:pPr marL="0" marR="0" lvl="0" indent="0" algn="just" rtl="0">
                <a:spcBef>
                  <a:spcPts val="0"/>
                </a:spcBef>
                <a:spcAft>
                  <a:spcPts val="0"/>
                </a:spcAft>
                <a:buNone/>
              </a:pPr>
              <a:r>
                <a:rPr lang="en-GB" sz="2400" b="1">
                  <a:solidFill>
                    <a:schemeClr val="dk1"/>
                  </a:solidFill>
                  <a:latin typeface="Century Gothic"/>
                  <a:ea typeface="Century Gothic"/>
                  <a:cs typeface="Century Gothic"/>
                  <a:sym typeface="Century Gothic"/>
                </a:rPr>
                <a:t>Butuan On Producers Association, Inc. (BOPAI)</a:t>
              </a:r>
              <a:endParaRPr b="1"/>
            </a:p>
            <a:p>
              <a:pPr marL="0" marR="0" lvl="0" indent="0" algn="just" rtl="0">
                <a:spcBef>
                  <a:spcPts val="0"/>
                </a:spcBef>
                <a:spcAft>
                  <a:spcPts val="0"/>
                </a:spcAft>
                <a:buNone/>
              </a:pPr>
              <a:r>
                <a:rPr lang="en-GB" sz="2400" b="1">
                  <a:solidFill>
                    <a:schemeClr val="dk1"/>
                  </a:solidFill>
                  <a:latin typeface="Century Gothic"/>
                  <a:ea typeface="Century Gothic"/>
                  <a:cs typeface="Century Gothic"/>
                  <a:sym typeface="Century Gothic"/>
                </a:rPr>
                <a:t>Innovative Producers Association of Agusan del Norte, Inc. (IPAADNI)</a:t>
              </a:r>
              <a:endParaRPr b="1"/>
            </a:p>
            <a:p>
              <a:pPr marL="0" marR="0" lvl="0" indent="0" algn="just" rtl="0">
                <a:spcBef>
                  <a:spcPts val="0"/>
                </a:spcBef>
                <a:spcAft>
                  <a:spcPts val="0"/>
                </a:spcAft>
                <a:buNone/>
              </a:pPr>
              <a:r>
                <a:rPr lang="en-GB" sz="2400" b="1">
                  <a:solidFill>
                    <a:schemeClr val="dk1"/>
                  </a:solidFill>
                  <a:latin typeface="Century Gothic"/>
                  <a:ea typeface="Century Gothic"/>
                  <a:cs typeface="Century Gothic"/>
                  <a:sym typeface="Century Gothic"/>
                </a:rPr>
                <a:t>Integrated Producers Association of Prosperidad of Agusan del Sur, Inc. (IPAPADSI)</a:t>
              </a:r>
              <a:endParaRPr b="1"/>
            </a:p>
            <a:p>
              <a:pPr marL="0" marR="0" lvl="0" indent="0" algn="just" rtl="0">
                <a:spcBef>
                  <a:spcPts val="0"/>
                </a:spcBef>
                <a:spcAft>
                  <a:spcPts val="0"/>
                </a:spcAft>
                <a:buNone/>
              </a:pPr>
              <a:r>
                <a:rPr lang="en-GB" sz="2400" b="1">
                  <a:solidFill>
                    <a:schemeClr val="dk1"/>
                  </a:solidFill>
                  <a:latin typeface="Century Gothic"/>
                  <a:ea typeface="Century Gothic"/>
                  <a:cs typeface="Century Gothic"/>
                  <a:sym typeface="Century Gothic"/>
                </a:rPr>
                <a:t>Surigao del Norte Producers and Exhibitors Association, Inc.</a:t>
              </a:r>
              <a:endParaRPr b="1"/>
            </a:p>
            <a:p>
              <a:pPr marL="0" marR="0" lvl="0" indent="0" algn="just" rtl="0">
                <a:spcBef>
                  <a:spcPts val="0"/>
                </a:spcBef>
                <a:spcAft>
                  <a:spcPts val="0"/>
                </a:spcAft>
                <a:buNone/>
              </a:pPr>
              <a:endParaRPr sz="2400">
                <a:solidFill>
                  <a:schemeClr val="dk1"/>
                </a:solidFill>
                <a:latin typeface="Century Gothic"/>
                <a:ea typeface="Century Gothic"/>
                <a:cs typeface="Century Gothic"/>
                <a:sym typeface="Century Gothic"/>
              </a:endParaRPr>
            </a:p>
          </p:txBody>
        </p:sp>
      </p:grpSp>
      <p:grpSp>
        <p:nvGrpSpPr>
          <p:cNvPr id="320" name="Google Shape;320;p10"/>
          <p:cNvGrpSpPr/>
          <p:nvPr/>
        </p:nvGrpSpPr>
        <p:grpSpPr>
          <a:xfrm>
            <a:off x="551742" y="6343699"/>
            <a:ext cx="16562573" cy="2884456"/>
            <a:chOff x="457200" y="2525278"/>
            <a:chExt cx="13979214" cy="2884456"/>
          </a:xfrm>
        </p:grpSpPr>
        <p:sp>
          <p:nvSpPr>
            <p:cNvPr id="321" name="Google Shape;321;p10"/>
            <p:cNvSpPr/>
            <p:nvPr/>
          </p:nvSpPr>
          <p:spPr>
            <a:xfrm>
              <a:off x="2323450" y="2525278"/>
              <a:ext cx="11697350" cy="712952"/>
            </a:xfrm>
            <a:prstGeom prst="roundRect">
              <a:avLst>
                <a:gd name="adj" fmla="val 16667"/>
              </a:avLst>
            </a:prstGeom>
            <a:solidFill>
              <a:srgbClr val="DAE5F1"/>
            </a:solidFill>
            <a:ln w="25400" cap="flat"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B7CCE4"/>
                </a:solidFill>
                <a:latin typeface="Calibri"/>
                <a:ea typeface="Calibri"/>
                <a:cs typeface="Calibri"/>
                <a:sym typeface="Calibri"/>
              </a:endParaRPr>
            </a:p>
          </p:txBody>
        </p:sp>
        <p:sp>
          <p:nvSpPr>
            <p:cNvPr id="322" name="Google Shape;322;p10"/>
            <p:cNvSpPr txBox="1"/>
            <p:nvPr/>
          </p:nvSpPr>
          <p:spPr>
            <a:xfrm>
              <a:off x="2473622" y="2566564"/>
              <a:ext cx="11435397" cy="58477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3200" b="1">
                  <a:solidFill>
                    <a:schemeClr val="dk1"/>
                  </a:solidFill>
                  <a:latin typeface="Poppins"/>
                  <a:ea typeface="Poppins"/>
                  <a:cs typeface="Poppins"/>
                  <a:sym typeface="Poppins"/>
                </a:rPr>
                <a:t>Empowering MSMEs Through Digital Transformation</a:t>
              </a:r>
              <a:endParaRPr/>
            </a:p>
          </p:txBody>
        </p:sp>
        <p:sp>
          <p:nvSpPr>
            <p:cNvPr id="323" name="Google Shape;323;p10"/>
            <p:cNvSpPr txBox="1"/>
            <p:nvPr/>
          </p:nvSpPr>
          <p:spPr>
            <a:xfrm>
              <a:off x="457200" y="2628900"/>
              <a:ext cx="2920884" cy="641201"/>
            </a:xfrm>
            <a:prstGeom prst="rect">
              <a:avLst/>
            </a:prstGeom>
            <a:noFill/>
            <a:ln>
              <a:noFill/>
            </a:ln>
          </p:spPr>
          <p:txBody>
            <a:bodyPr spcFirstLastPara="1" wrap="square" lIns="0" tIns="0" rIns="0" bIns="0" anchor="t" anchorCtr="0">
              <a:spAutoFit/>
            </a:bodyPr>
            <a:lstStyle/>
            <a:p>
              <a:pPr marL="0" marR="0" lvl="0" indent="0" algn="ctr" rtl="0">
                <a:lnSpc>
                  <a:spcPct val="93333"/>
                </a:lnSpc>
                <a:spcBef>
                  <a:spcPts val="0"/>
                </a:spcBef>
                <a:spcAft>
                  <a:spcPts val="0"/>
                </a:spcAft>
                <a:buNone/>
              </a:pPr>
              <a:r>
                <a:rPr lang="en-GB" sz="5400" b="1">
                  <a:solidFill>
                    <a:schemeClr val="dk2"/>
                  </a:solidFill>
                  <a:latin typeface="Montserrat"/>
                  <a:ea typeface="Montserrat"/>
                  <a:cs typeface="Montserrat"/>
                  <a:sym typeface="Montserrat"/>
                </a:rPr>
                <a:t>2</a:t>
              </a:r>
              <a:endParaRPr sz="5400" b="1">
                <a:solidFill>
                  <a:schemeClr val="dk2"/>
                </a:solidFill>
                <a:latin typeface="Montserrat"/>
                <a:ea typeface="Montserrat"/>
                <a:cs typeface="Montserrat"/>
                <a:sym typeface="Montserrat"/>
              </a:endParaRPr>
            </a:p>
          </p:txBody>
        </p:sp>
        <p:sp>
          <p:nvSpPr>
            <p:cNvPr id="324" name="Google Shape;324;p10"/>
            <p:cNvSpPr txBox="1"/>
            <p:nvPr/>
          </p:nvSpPr>
          <p:spPr>
            <a:xfrm>
              <a:off x="2455614" y="3239534"/>
              <a:ext cx="11980800" cy="21702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2400" b="1">
                  <a:solidFill>
                    <a:schemeClr val="dk1"/>
                  </a:solidFill>
                  <a:latin typeface="Century Gothic"/>
                  <a:ea typeface="Century Gothic"/>
                  <a:cs typeface="Century Gothic"/>
                  <a:sym typeface="Century Gothic"/>
                </a:rPr>
                <a:t>9,314 OTOPreneurs doing E-Commerce</a:t>
              </a:r>
              <a:endParaRPr b="1"/>
            </a:p>
            <a:p>
              <a:pPr marL="0" marR="0" lvl="0" indent="0" algn="l" rtl="0">
                <a:spcBef>
                  <a:spcPts val="0"/>
                </a:spcBef>
                <a:spcAft>
                  <a:spcPts val="0"/>
                </a:spcAft>
                <a:buNone/>
              </a:pPr>
              <a:endParaRPr sz="1500">
                <a:solidFill>
                  <a:schemeClr val="dk1"/>
                </a:solidFill>
                <a:latin typeface="Century Gothic"/>
                <a:ea typeface="Century Gothic"/>
                <a:cs typeface="Century Gothic"/>
                <a:sym typeface="Century Gothic"/>
              </a:endParaRPr>
            </a:p>
            <a:p>
              <a:pPr marL="0" marR="0" lvl="0" indent="0" algn="l" rtl="0">
                <a:spcBef>
                  <a:spcPts val="0"/>
                </a:spcBef>
                <a:spcAft>
                  <a:spcPts val="0"/>
                </a:spcAft>
                <a:buNone/>
              </a:pPr>
              <a:r>
                <a:rPr lang="en-GB" sz="2400" i="1">
                  <a:solidFill>
                    <a:schemeClr val="dk1"/>
                  </a:solidFill>
                  <a:latin typeface="Century Gothic"/>
                  <a:ea typeface="Century Gothic"/>
                  <a:cs typeface="Century Gothic"/>
                  <a:sym typeface="Century Gothic"/>
                </a:rPr>
                <a:t>Initiating digital marketing efforts to encourage MSMES to digitize, utilizing group chats for timely trade fair updates and development. Facilitating enrollment onto online platforms. DTI Caraga conducted somago briefing last February 14, 2023.Onboarded a total of  19 MSMEs on the Somago Platform</a:t>
              </a:r>
              <a:endParaRPr/>
            </a:p>
          </p:txBody>
        </p:sp>
      </p:grpSp>
      <p:pic>
        <p:nvPicPr>
          <p:cNvPr id="325" name="Google Shape;325;p10"/>
          <p:cNvPicPr preferRelativeResize="0"/>
          <p:nvPr/>
        </p:nvPicPr>
        <p:blipFill rotWithShape="1">
          <a:blip r:embed="rId4">
            <a:alphaModFix/>
          </a:blip>
          <a:srcRect t="21555" b="25110"/>
          <a:stretch/>
        </p:blipFill>
        <p:spPr>
          <a:xfrm>
            <a:off x="2582039" y="743841"/>
            <a:ext cx="2143125" cy="1143000"/>
          </a:xfrm>
          <a:prstGeom prst="rect">
            <a:avLst/>
          </a:prstGeom>
          <a:noFill/>
          <a:ln>
            <a:noFill/>
          </a:ln>
        </p:spPr>
      </p:pic>
      <p:sp>
        <p:nvSpPr>
          <p:cNvPr id="326" name="Google Shape;326;p10"/>
          <p:cNvSpPr txBox="1"/>
          <p:nvPr/>
        </p:nvSpPr>
        <p:spPr>
          <a:xfrm>
            <a:off x="4572000" y="1381330"/>
            <a:ext cx="9838329" cy="438150"/>
          </a:xfrm>
          <a:prstGeom prst="rect">
            <a:avLst/>
          </a:prstGeom>
          <a:noFill/>
          <a:ln>
            <a:noFill/>
          </a:ln>
        </p:spPr>
        <p:txBody>
          <a:bodyPr spcFirstLastPara="1" wrap="square" lIns="0" tIns="0" rIns="0" bIns="0" anchor="t" anchorCtr="0">
            <a:spAutoFit/>
          </a:bodyPr>
          <a:lstStyle/>
          <a:p>
            <a:pPr marL="0" marR="0" lvl="0" indent="0" algn="ctr" rtl="0">
              <a:lnSpc>
                <a:spcPct val="110000"/>
              </a:lnSpc>
              <a:spcBef>
                <a:spcPts val="0"/>
              </a:spcBef>
              <a:spcAft>
                <a:spcPts val="0"/>
              </a:spcAft>
              <a:buNone/>
            </a:pPr>
            <a:r>
              <a:rPr lang="en-GB" sz="3000" b="1">
                <a:solidFill>
                  <a:srgbClr val="1C2120"/>
                </a:solidFill>
                <a:latin typeface="Montserrat"/>
                <a:ea typeface="Montserrat"/>
                <a:cs typeface="Montserrat"/>
                <a:sym typeface="Montserrat"/>
              </a:rPr>
              <a:t>TRADE PROMOTION UNIT</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Shape 334"/>
        <p:cNvGrpSpPr/>
        <p:nvPr/>
      </p:nvGrpSpPr>
      <p:grpSpPr>
        <a:xfrm>
          <a:off x="0" y="0"/>
          <a:ext cx="0" cy="0"/>
          <a:chOff x="0" y="0"/>
          <a:chExt cx="0" cy="0"/>
        </a:xfrm>
      </p:grpSpPr>
      <p:sp>
        <p:nvSpPr>
          <p:cNvPr id="335" name="Google Shape;335;g263844f09a0_0_0"/>
          <p:cNvSpPr/>
          <p:nvPr/>
        </p:nvSpPr>
        <p:spPr>
          <a:xfrm>
            <a:off x="1028700" y="453061"/>
            <a:ext cx="1553339" cy="1518126"/>
          </a:xfrm>
          <a:custGeom>
            <a:avLst/>
            <a:gdLst/>
            <a:ahLst/>
            <a:cxnLst/>
            <a:rect l="l" t="t" r="r" b="b"/>
            <a:pathLst>
              <a:path w="1553339" h="1518126" extrusionOk="0">
                <a:moveTo>
                  <a:pt x="0" y="0"/>
                </a:moveTo>
                <a:lnTo>
                  <a:pt x="1553339" y="0"/>
                </a:lnTo>
                <a:lnTo>
                  <a:pt x="1553339" y="1518126"/>
                </a:lnTo>
                <a:lnTo>
                  <a:pt x="0" y="1518126"/>
                </a:lnTo>
                <a:lnTo>
                  <a:pt x="0" y="0"/>
                </a:lnTo>
                <a:close/>
              </a:path>
            </a:pathLst>
          </a:custGeom>
          <a:blipFill rotWithShape="1">
            <a:blip r:embed="rId3">
              <a:alphaModFix/>
            </a:blip>
            <a:stretch>
              <a:fillRect l="-31438" t="-10269" r="-26919" b="-57558"/>
            </a:stretch>
          </a:blipFill>
          <a:ln>
            <a:noFill/>
          </a:ln>
        </p:spPr>
      </p:sp>
      <p:cxnSp>
        <p:nvCxnSpPr>
          <p:cNvPr id="336" name="Google Shape;336;g263844f09a0_0_0"/>
          <p:cNvCxnSpPr/>
          <p:nvPr/>
        </p:nvCxnSpPr>
        <p:spPr>
          <a:xfrm>
            <a:off x="2582039" y="1019175"/>
            <a:ext cx="14677200" cy="9600"/>
          </a:xfrm>
          <a:prstGeom prst="straightConnector1">
            <a:avLst/>
          </a:prstGeom>
          <a:noFill/>
          <a:ln w="19050" cap="flat" cmpd="sng">
            <a:solidFill>
              <a:srgbClr val="1C2120"/>
            </a:solidFill>
            <a:prstDash val="solid"/>
            <a:round/>
            <a:headEnd type="none" w="sm" len="sm"/>
            <a:tailEnd type="none" w="sm" len="sm"/>
          </a:ln>
        </p:spPr>
      </p:cxnSp>
      <p:grpSp>
        <p:nvGrpSpPr>
          <p:cNvPr id="337" name="Google Shape;337;g263844f09a0_0_0"/>
          <p:cNvGrpSpPr/>
          <p:nvPr/>
        </p:nvGrpSpPr>
        <p:grpSpPr>
          <a:xfrm>
            <a:off x="1219200" y="9294057"/>
            <a:ext cx="16230600" cy="487350"/>
            <a:chOff x="0" y="0"/>
            <a:chExt cx="21640800" cy="649800"/>
          </a:xfrm>
        </p:grpSpPr>
        <p:sp>
          <p:nvSpPr>
            <p:cNvPr id="338" name="Google Shape;338;g263844f09a0_0_0"/>
            <p:cNvSpPr/>
            <p:nvPr/>
          </p:nvSpPr>
          <p:spPr>
            <a:xfrm>
              <a:off x="0" y="0"/>
              <a:ext cx="21640800" cy="649800"/>
            </a:xfrm>
            <a:prstGeom prst="rect">
              <a:avLst/>
            </a:prstGeom>
            <a:solidFill>
              <a:srgbClr val="1C212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9" name="Google Shape;339;g263844f09a0_0_0"/>
            <p:cNvSpPr txBox="1"/>
            <p:nvPr/>
          </p:nvSpPr>
          <p:spPr>
            <a:xfrm>
              <a:off x="998196" y="104764"/>
              <a:ext cx="19644300" cy="410400"/>
            </a:xfrm>
            <a:prstGeom prst="rect">
              <a:avLst/>
            </a:prstGeom>
            <a:noFill/>
            <a:ln>
              <a:noFill/>
            </a:ln>
          </p:spPr>
          <p:txBody>
            <a:bodyPr spcFirstLastPara="1" wrap="square" lIns="0" tIns="0" rIns="0" bIns="0" anchor="t" anchorCtr="0">
              <a:spAutoFit/>
            </a:bodyPr>
            <a:lstStyle/>
            <a:p>
              <a:pPr marL="0" marR="0" lvl="0" indent="0" algn="just" rtl="0">
                <a:lnSpc>
                  <a:spcPct val="140000"/>
                </a:lnSpc>
                <a:spcBef>
                  <a:spcPts val="0"/>
                </a:spcBef>
                <a:spcAft>
                  <a:spcPts val="0"/>
                </a:spcAft>
                <a:buNone/>
              </a:pPr>
              <a:r>
                <a:rPr lang="en-GB" sz="2000" b="1">
                  <a:solidFill>
                    <a:srgbClr val="FDFDFD"/>
                  </a:solidFill>
                  <a:latin typeface="Montserrat"/>
                  <a:ea typeface="Montserrat"/>
                  <a:cs typeface="Montserrat"/>
                  <a:sym typeface="Montserrat"/>
                </a:rPr>
                <a:t>DTI- SME DEVELOPMENT DIVISION│NC│CARP│TPU│EDU</a:t>
              </a:r>
              <a:endParaRPr/>
            </a:p>
          </p:txBody>
        </p:sp>
      </p:grpSp>
      <p:sp>
        <p:nvSpPr>
          <p:cNvPr id="340" name="Google Shape;340;g263844f09a0_0_0"/>
          <p:cNvSpPr txBox="1"/>
          <p:nvPr/>
        </p:nvSpPr>
        <p:spPr>
          <a:xfrm>
            <a:off x="2209800" y="2628900"/>
            <a:ext cx="14706600" cy="3693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nvGrpSpPr>
          <p:cNvPr id="341" name="Google Shape;341;g263844f09a0_0_0"/>
          <p:cNvGrpSpPr/>
          <p:nvPr/>
        </p:nvGrpSpPr>
        <p:grpSpPr>
          <a:xfrm>
            <a:off x="450067" y="2195571"/>
            <a:ext cx="16359873" cy="2698259"/>
            <a:chOff x="457200" y="-1392775"/>
            <a:chExt cx="13808130" cy="2698259"/>
          </a:xfrm>
        </p:grpSpPr>
        <p:sp>
          <p:nvSpPr>
            <p:cNvPr id="342" name="Google Shape;342;g263844f09a0_0_0"/>
            <p:cNvSpPr/>
            <p:nvPr/>
          </p:nvSpPr>
          <p:spPr>
            <a:xfrm>
              <a:off x="2214360" y="-1361422"/>
              <a:ext cx="11697300" cy="713100"/>
            </a:xfrm>
            <a:prstGeom prst="roundRect">
              <a:avLst>
                <a:gd name="adj" fmla="val 16667"/>
              </a:avLst>
            </a:prstGeom>
            <a:solidFill>
              <a:srgbClr val="DAE5F1"/>
            </a:solidFill>
            <a:ln w="25400" cap="flat"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B7CCE4"/>
                </a:solidFill>
                <a:latin typeface="Calibri"/>
                <a:ea typeface="Calibri"/>
                <a:cs typeface="Calibri"/>
                <a:sym typeface="Calibri"/>
              </a:endParaRPr>
            </a:p>
          </p:txBody>
        </p:sp>
        <p:sp>
          <p:nvSpPr>
            <p:cNvPr id="343" name="Google Shape;343;g263844f09a0_0_0"/>
            <p:cNvSpPr txBox="1"/>
            <p:nvPr/>
          </p:nvSpPr>
          <p:spPr>
            <a:xfrm>
              <a:off x="2284539" y="-1297373"/>
              <a:ext cx="11435400" cy="5850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3200" b="1">
                  <a:solidFill>
                    <a:schemeClr val="dk1"/>
                  </a:solidFill>
                  <a:latin typeface="Poppins"/>
                  <a:ea typeface="Poppins"/>
                  <a:cs typeface="Poppins"/>
                  <a:sym typeface="Poppins"/>
                </a:rPr>
                <a:t>caraga-estore.com and onboarding MSMEs to the platform</a:t>
              </a:r>
              <a:endParaRPr/>
            </a:p>
          </p:txBody>
        </p:sp>
        <p:sp>
          <p:nvSpPr>
            <p:cNvPr id="344" name="Google Shape;344;g263844f09a0_0_0"/>
            <p:cNvSpPr txBox="1"/>
            <p:nvPr/>
          </p:nvSpPr>
          <p:spPr>
            <a:xfrm>
              <a:off x="457200" y="-1392775"/>
              <a:ext cx="2920800" cy="775800"/>
            </a:xfrm>
            <a:prstGeom prst="rect">
              <a:avLst/>
            </a:prstGeom>
            <a:noFill/>
            <a:ln>
              <a:noFill/>
            </a:ln>
          </p:spPr>
          <p:txBody>
            <a:bodyPr spcFirstLastPara="1" wrap="square" lIns="0" tIns="0" rIns="0" bIns="0" anchor="t" anchorCtr="0">
              <a:spAutoFit/>
            </a:bodyPr>
            <a:lstStyle/>
            <a:p>
              <a:pPr marL="0" marR="0" lvl="0" indent="0" algn="ctr" rtl="0">
                <a:lnSpc>
                  <a:spcPct val="93333"/>
                </a:lnSpc>
                <a:spcBef>
                  <a:spcPts val="0"/>
                </a:spcBef>
                <a:spcAft>
                  <a:spcPts val="0"/>
                </a:spcAft>
                <a:buNone/>
              </a:pPr>
              <a:r>
                <a:rPr lang="en-GB" sz="5400" b="1">
                  <a:solidFill>
                    <a:schemeClr val="dk2"/>
                  </a:solidFill>
                  <a:latin typeface="Montserrat"/>
                  <a:ea typeface="Montserrat"/>
                  <a:cs typeface="Montserrat"/>
                  <a:sym typeface="Montserrat"/>
                </a:rPr>
                <a:t>3</a:t>
              </a:r>
              <a:endParaRPr sz="5400" b="1">
                <a:solidFill>
                  <a:schemeClr val="dk2"/>
                </a:solidFill>
                <a:latin typeface="Montserrat"/>
                <a:ea typeface="Montserrat"/>
                <a:cs typeface="Montserrat"/>
                <a:sym typeface="Montserrat"/>
              </a:endParaRPr>
            </a:p>
          </p:txBody>
        </p:sp>
        <p:sp>
          <p:nvSpPr>
            <p:cNvPr id="345" name="Google Shape;345;g263844f09a0_0_0"/>
            <p:cNvSpPr txBox="1"/>
            <p:nvPr/>
          </p:nvSpPr>
          <p:spPr>
            <a:xfrm>
              <a:off x="2284530" y="-264416"/>
              <a:ext cx="11980800" cy="15699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2400" i="1">
                  <a:solidFill>
                    <a:schemeClr val="dk1"/>
                  </a:solidFill>
                  <a:latin typeface="Century Gothic"/>
                  <a:ea typeface="Century Gothic"/>
                  <a:cs typeface="Century Gothic"/>
                  <a:sym typeface="Century Gothic"/>
                </a:rPr>
                <a:t>Launching of caraga’s e-commerce platform during the opening of 2023 BCBC December Edition last December 6, 2023 and onboarding OTOPreneurs to the platform. The e-commerce platform functions as virtual product catalogue and act as an e-marketing collateral granting accessibility to Caraga products anytime and from anywhere.</a:t>
              </a:r>
              <a:endParaRPr sz="2400" i="1">
                <a:solidFill>
                  <a:schemeClr val="dk1"/>
                </a:solidFill>
                <a:latin typeface="Century Gothic"/>
                <a:ea typeface="Century Gothic"/>
                <a:cs typeface="Century Gothic"/>
                <a:sym typeface="Century Gothic"/>
              </a:endParaRPr>
            </a:p>
          </p:txBody>
        </p:sp>
      </p:grpSp>
      <p:pic>
        <p:nvPicPr>
          <p:cNvPr id="346" name="Google Shape;346;g263844f09a0_0_0"/>
          <p:cNvPicPr preferRelativeResize="0"/>
          <p:nvPr/>
        </p:nvPicPr>
        <p:blipFill rotWithShape="1">
          <a:blip r:embed="rId4">
            <a:alphaModFix/>
          </a:blip>
          <a:srcRect t="21557" b="25109"/>
          <a:stretch/>
        </p:blipFill>
        <p:spPr>
          <a:xfrm>
            <a:off x="2582039" y="743841"/>
            <a:ext cx="2143125" cy="1143000"/>
          </a:xfrm>
          <a:prstGeom prst="rect">
            <a:avLst/>
          </a:prstGeom>
          <a:noFill/>
          <a:ln>
            <a:noFill/>
          </a:ln>
        </p:spPr>
      </p:pic>
      <p:sp>
        <p:nvSpPr>
          <p:cNvPr id="347" name="Google Shape;347;g263844f09a0_0_0"/>
          <p:cNvSpPr txBox="1"/>
          <p:nvPr/>
        </p:nvSpPr>
        <p:spPr>
          <a:xfrm>
            <a:off x="4572000" y="1381330"/>
            <a:ext cx="9838200" cy="461700"/>
          </a:xfrm>
          <a:prstGeom prst="rect">
            <a:avLst/>
          </a:prstGeom>
          <a:noFill/>
          <a:ln>
            <a:noFill/>
          </a:ln>
        </p:spPr>
        <p:txBody>
          <a:bodyPr spcFirstLastPara="1" wrap="square" lIns="0" tIns="0" rIns="0" bIns="0" anchor="t" anchorCtr="0">
            <a:spAutoFit/>
          </a:bodyPr>
          <a:lstStyle/>
          <a:p>
            <a:pPr marL="0" marR="0" lvl="0" indent="0" algn="ctr" rtl="0">
              <a:lnSpc>
                <a:spcPct val="110000"/>
              </a:lnSpc>
              <a:spcBef>
                <a:spcPts val="0"/>
              </a:spcBef>
              <a:spcAft>
                <a:spcPts val="0"/>
              </a:spcAft>
              <a:buNone/>
            </a:pPr>
            <a:r>
              <a:rPr lang="en-GB" sz="3000" b="1">
                <a:solidFill>
                  <a:srgbClr val="1C2120"/>
                </a:solidFill>
                <a:latin typeface="Montserrat"/>
                <a:ea typeface="Montserrat"/>
                <a:cs typeface="Montserrat"/>
                <a:sym typeface="Montserrat"/>
              </a:rPr>
              <a:t>TRADE PROMOTION UNIT</a:t>
            </a:r>
            <a:endParaRPr/>
          </a:p>
        </p:txBody>
      </p:sp>
      <p:pic>
        <p:nvPicPr>
          <p:cNvPr id="348" name="Google Shape;348;g263844f09a0_0_0"/>
          <p:cNvPicPr preferRelativeResize="0"/>
          <p:nvPr/>
        </p:nvPicPr>
        <p:blipFill rotWithShape="1">
          <a:blip r:embed="rId5">
            <a:alphaModFix/>
          </a:blip>
          <a:srcRect t="3753"/>
          <a:stretch/>
        </p:blipFill>
        <p:spPr>
          <a:xfrm>
            <a:off x="8166300" y="5123013"/>
            <a:ext cx="7280750" cy="3941849"/>
          </a:xfrm>
          <a:prstGeom prst="rect">
            <a:avLst/>
          </a:prstGeom>
          <a:noFill/>
          <a:ln>
            <a:noFill/>
          </a:ln>
        </p:spPr>
      </p:pic>
      <p:sp>
        <p:nvSpPr>
          <p:cNvPr id="349" name="Google Shape;349;g263844f09a0_0_0"/>
          <p:cNvSpPr txBox="1"/>
          <p:nvPr/>
        </p:nvSpPr>
        <p:spPr>
          <a:xfrm>
            <a:off x="3585400" y="6107775"/>
            <a:ext cx="4110000" cy="17547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GB" sz="3400" b="1">
                <a:solidFill>
                  <a:schemeClr val="dk1"/>
                </a:solidFill>
                <a:latin typeface="Century Gothic"/>
                <a:ea typeface="Century Gothic"/>
                <a:cs typeface="Century Gothic"/>
                <a:sym typeface="Century Gothic"/>
              </a:rPr>
              <a:t>Around 10 MSMEs now onboarded to the platform.</a:t>
            </a:r>
            <a:endParaRPr sz="2400" b="1">
              <a:solidFill>
                <a:schemeClr val="dk1"/>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Shape 357"/>
        <p:cNvGrpSpPr/>
        <p:nvPr/>
      </p:nvGrpSpPr>
      <p:grpSpPr>
        <a:xfrm>
          <a:off x="0" y="0"/>
          <a:ext cx="0" cy="0"/>
          <a:chOff x="0" y="0"/>
          <a:chExt cx="0" cy="0"/>
        </a:xfrm>
      </p:grpSpPr>
      <p:sp>
        <p:nvSpPr>
          <p:cNvPr id="358" name="Google Shape;358;p11"/>
          <p:cNvSpPr/>
          <p:nvPr/>
        </p:nvSpPr>
        <p:spPr>
          <a:xfrm>
            <a:off x="1028700" y="453061"/>
            <a:ext cx="1553339" cy="1518126"/>
          </a:xfrm>
          <a:custGeom>
            <a:avLst/>
            <a:gdLst/>
            <a:ahLst/>
            <a:cxnLst/>
            <a:rect l="l" t="t" r="r" b="b"/>
            <a:pathLst>
              <a:path w="1553339" h="1518126" extrusionOk="0">
                <a:moveTo>
                  <a:pt x="0" y="0"/>
                </a:moveTo>
                <a:lnTo>
                  <a:pt x="1553339" y="0"/>
                </a:lnTo>
                <a:lnTo>
                  <a:pt x="1553339" y="1518126"/>
                </a:lnTo>
                <a:lnTo>
                  <a:pt x="0" y="1518126"/>
                </a:lnTo>
                <a:lnTo>
                  <a:pt x="0" y="0"/>
                </a:lnTo>
                <a:close/>
              </a:path>
            </a:pathLst>
          </a:custGeom>
          <a:blipFill rotWithShape="1">
            <a:blip r:embed="rId3">
              <a:alphaModFix/>
            </a:blip>
            <a:stretch>
              <a:fillRect l="-31436" t="-10272" r="-26916" b="-57554"/>
            </a:stretch>
          </a:blipFill>
          <a:ln>
            <a:noFill/>
          </a:ln>
        </p:spPr>
      </p:sp>
      <p:cxnSp>
        <p:nvCxnSpPr>
          <p:cNvPr id="359" name="Google Shape;359;p11"/>
          <p:cNvCxnSpPr/>
          <p:nvPr/>
        </p:nvCxnSpPr>
        <p:spPr>
          <a:xfrm>
            <a:off x="2582039" y="1019175"/>
            <a:ext cx="14677261" cy="9525"/>
          </a:xfrm>
          <a:prstGeom prst="straightConnector1">
            <a:avLst/>
          </a:prstGeom>
          <a:noFill/>
          <a:ln w="19050" cap="flat" cmpd="sng">
            <a:solidFill>
              <a:srgbClr val="1C2120"/>
            </a:solidFill>
            <a:prstDash val="solid"/>
            <a:round/>
            <a:headEnd type="none" w="sm" len="sm"/>
            <a:tailEnd type="none" w="sm" len="sm"/>
          </a:ln>
        </p:spPr>
      </p:cxnSp>
      <p:grpSp>
        <p:nvGrpSpPr>
          <p:cNvPr id="360" name="Google Shape;360;p11"/>
          <p:cNvGrpSpPr/>
          <p:nvPr/>
        </p:nvGrpSpPr>
        <p:grpSpPr>
          <a:xfrm>
            <a:off x="1219200" y="9294057"/>
            <a:ext cx="16230606" cy="487347"/>
            <a:chOff x="0" y="0"/>
            <a:chExt cx="21640808" cy="649796"/>
          </a:xfrm>
        </p:grpSpPr>
        <p:sp>
          <p:nvSpPr>
            <p:cNvPr id="361" name="Google Shape;361;p11"/>
            <p:cNvSpPr/>
            <p:nvPr/>
          </p:nvSpPr>
          <p:spPr>
            <a:xfrm>
              <a:off x="0" y="0"/>
              <a:ext cx="21640808" cy="649796"/>
            </a:xfrm>
            <a:prstGeom prst="rect">
              <a:avLst/>
            </a:prstGeom>
            <a:solidFill>
              <a:srgbClr val="1C212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2" name="Google Shape;362;p11"/>
            <p:cNvSpPr txBox="1"/>
            <p:nvPr/>
          </p:nvSpPr>
          <p:spPr>
            <a:xfrm>
              <a:off x="998196" y="104764"/>
              <a:ext cx="19644415" cy="440267"/>
            </a:xfrm>
            <a:prstGeom prst="rect">
              <a:avLst/>
            </a:prstGeom>
            <a:noFill/>
            <a:ln>
              <a:noFill/>
            </a:ln>
          </p:spPr>
          <p:txBody>
            <a:bodyPr spcFirstLastPara="1" wrap="square" lIns="0" tIns="0" rIns="0" bIns="0" anchor="t" anchorCtr="0">
              <a:spAutoFit/>
            </a:bodyPr>
            <a:lstStyle/>
            <a:p>
              <a:pPr marL="0" marR="0" lvl="0" indent="0" algn="just" rtl="0">
                <a:lnSpc>
                  <a:spcPct val="140000"/>
                </a:lnSpc>
                <a:spcBef>
                  <a:spcPts val="0"/>
                </a:spcBef>
                <a:spcAft>
                  <a:spcPts val="0"/>
                </a:spcAft>
                <a:buNone/>
              </a:pPr>
              <a:r>
                <a:rPr lang="en-GB" sz="2000" b="1">
                  <a:solidFill>
                    <a:srgbClr val="FDFDFD"/>
                  </a:solidFill>
                  <a:latin typeface="Montserrat"/>
                  <a:ea typeface="Montserrat"/>
                  <a:cs typeface="Montserrat"/>
                  <a:sym typeface="Montserrat"/>
                </a:rPr>
                <a:t>DTI- SME DEVELOPMENT DIVISION│NC│CARP│TPU│EDU</a:t>
              </a:r>
              <a:endParaRPr/>
            </a:p>
          </p:txBody>
        </p:sp>
      </p:grpSp>
      <p:sp>
        <p:nvSpPr>
          <p:cNvPr id="363" name="Google Shape;363;p11"/>
          <p:cNvSpPr txBox="1"/>
          <p:nvPr/>
        </p:nvSpPr>
        <p:spPr>
          <a:xfrm>
            <a:off x="2209800" y="2628900"/>
            <a:ext cx="14706600"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nvGrpSpPr>
          <p:cNvPr id="364" name="Google Shape;364;p11"/>
          <p:cNvGrpSpPr/>
          <p:nvPr/>
        </p:nvGrpSpPr>
        <p:grpSpPr>
          <a:xfrm>
            <a:off x="-65692" y="2812867"/>
            <a:ext cx="16960756" cy="2361428"/>
            <a:chOff x="457200" y="2525278"/>
            <a:chExt cx="14750584" cy="2361428"/>
          </a:xfrm>
        </p:grpSpPr>
        <p:sp>
          <p:nvSpPr>
            <p:cNvPr id="365" name="Google Shape;365;p11"/>
            <p:cNvSpPr/>
            <p:nvPr/>
          </p:nvSpPr>
          <p:spPr>
            <a:xfrm>
              <a:off x="2323450" y="2525278"/>
              <a:ext cx="12130039" cy="744823"/>
            </a:xfrm>
            <a:prstGeom prst="roundRect">
              <a:avLst>
                <a:gd name="adj" fmla="val 16667"/>
              </a:avLst>
            </a:prstGeom>
            <a:solidFill>
              <a:srgbClr val="DAE5F1"/>
            </a:solidFill>
            <a:ln w="25400" cap="flat"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B7CCE4"/>
                </a:solidFill>
                <a:latin typeface="Calibri"/>
                <a:ea typeface="Calibri"/>
                <a:cs typeface="Calibri"/>
                <a:sym typeface="Calibri"/>
              </a:endParaRPr>
            </a:p>
          </p:txBody>
        </p:sp>
        <p:sp>
          <p:nvSpPr>
            <p:cNvPr id="366" name="Google Shape;366;p11"/>
            <p:cNvSpPr txBox="1"/>
            <p:nvPr/>
          </p:nvSpPr>
          <p:spPr>
            <a:xfrm>
              <a:off x="2473623" y="2566564"/>
              <a:ext cx="11052082" cy="58477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3200" b="1">
                  <a:solidFill>
                    <a:schemeClr val="dk1"/>
                  </a:solidFill>
                  <a:latin typeface="Poppins"/>
                  <a:ea typeface="Poppins"/>
                  <a:cs typeface="Poppins"/>
                  <a:sym typeface="Poppins"/>
                </a:rPr>
                <a:t>Partnership </a:t>
              </a:r>
              <a:endParaRPr/>
            </a:p>
          </p:txBody>
        </p:sp>
        <p:sp>
          <p:nvSpPr>
            <p:cNvPr id="367" name="Google Shape;367;p11"/>
            <p:cNvSpPr txBox="1"/>
            <p:nvPr/>
          </p:nvSpPr>
          <p:spPr>
            <a:xfrm>
              <a:off x="457200" y="2628900"/>
              <a:ext cx="2920884" cy="641201"/>
            </a:xfrm>
            <a:prstGeom prst="rect">
              <a:avLst/>
            </a:prstGeom>
            <a:noFill/>
            <a:ln>
              <a:noFill/>
            </a:ln>
          </p:spPr>
          <p:txBody>
            <a:bodyPr spcFirstLastPara="1" wrap="square" lIns="0" tIns="0" rIns="0" bIns="0" anchor="t" anchorCtr="0">
              <a:spAutoFit/>
            </a:bodyPr>
            <a:lstStyle/>
            <a:p>
              <a:pPr marL="0" marR="0" lvl="0" indent="0" algn="ctr" rtl="0">
                <a:lnSpc>
                  <a:spcPct val="93333"/>
                </a:lnSpc>
                <a:spcBef>
                  <a:spcPts val="0"/>
                </a:spcBef>
                <a:spcAft>
                  <a:spcPts val="0"/>
                </a:spcAft>
                <a:buNone/>
              </a:pPr>
              <a:r>
                <a:rPr lang="en-GB" sz="5400" b="1">
                  <a:solidFill>
                    <a:schemeClr val="dk2"/>
                  </a:solidFill>
                  <a:latin typeface="Montserrat"/>
                  <a:ea typeface="Montserrat"/>
                  <a:cs typeface="Montserrat"/>
                  <a:sym typeface="Montserrat"/>
                </a:rPr>
                <a:t>1</a:t>
              </a:r>
              <a:endParaRPr/>
            </a:p>
          </p:txBody>
        </p:sp>
        <p:sp>
          <p:nvSpPr>
            <p:cNvPr id="368" name="Google Shape;368;p11"/>
            <p:cNvSpPr txBox="1"/>
            <p:nvPr/>
          </p:nvSpPr>
          <p:spPr>
            <a:xfrm>
              <a:off x="2473623" y="3317046"/>
              <a:ext cx="12734161" cy="156966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2400">
                  <a:solidFill>
                    <a:schemeClr val="dk1"/>
                  </a:solidFill>
                  <a:latin typeface="Century Gothic"/>
                  <a:ea typeface="Century Gothic"/>
                  <a:cs typeface="Century Gothic"/>
                  <a:sym typeface="Century Gothic"/>
                </a:rPr>
                <a:t>Reporting Template for MSMED Council Accomplishment</a:t>
              </a:r>
              <a:endParaRPr/>
            </a:p>
            <a:p>
              <a:pPr marL="0" marR="0" lvl="0" indent="0" algn="l" rtl="0">
                <a:spcBef>
                  <a:spcPts val="0"/>
                </a:spcBef>
                <a:spcAft>
                  <a:spcPts val="0"/>
                </a:spcAft>
                <a:buNone/>
              </a:pPr>
              <a:r>
                <a:rPr lang="en-GB" sz="2400">
                  <a:solidFill>
                    <a:schemeClr val="dk1"/>
                  </a:solidFill>
                  <a:latin typeface="Century Gothic"/>
                  <a:ea typeface="Century Gothic"/>
                  <a:cs typeface="Century Gothic"/>
                  <a:sym typeface="Century Gothic"/>
                </a:rPr>
                <a:t>Template provided to Provincial Offices and partner agencies</a:t>
              </a:r>
              <a:endParaRPr/>
            </a:p>
            <a:p>
              <a:pPr marL="0" marR="0" lvl="0" indent="0" algn="l" rtl="0">
                <a:spcBef>
                  <a:spcPts val="0"/>
                </a:spcBef>
                <a:spcAft>
                  <a:spcPts val="0"/>
                </a:spcAft>
                <a:buNone/>
              </a:pPr>
              <a:r>
                <a:rPr lang="en-GB" sz="2400">
                  <a:solidFill>
                    <a:schemeClr val="dk1"/>
                  </a:solidFill>
                  <a:latin typeface="Century Gothic"/>
                  <a:ea typeface="Century Gothic"/>
                  <a:cs typeface="Century Gothic"/>
                  <a:sym typeface="Century Gothic"/>
                </a:rPr>
                <a:t>The content of the template was based on the 2017-2022 MSMED Development Plan Key Performance Indicators</a:t>
              </a:r>
              <a:endParaRPr sz="2400">
                <a:solidFill>
                  <a:schemeClr val="dk1"/>
                </a:solidFill>
                <a:latin typeface="Century Gothic"/>
                <a:ea typeface="Century Gothic"/>
                <a:cs typeface="Century Gothic"/>
                <a:sym typeface="Century Gothic"/>
              </a:endParaRPr>
            </a:p>
          </p:txBody>
        </p:sp>
      </p:grpSp>
      <p:pic>
        <p:nvPicPr>
          <p:cNvPr id="369" name="Google Shape;369;p11"/>
          <p:cNvPicPr preferRelativeResize="0"/>
          <p:nvPr/>
        </p:nvPicPr>
        <p:blipFill rotWithShape="1">
          <a:blip r:embed="rId4">
            <a:alphaModFix/>
          </a:blip>
          <a:srcRect/>
          <a:stretch/>
        </p:blipFill>
        <p:spPr>
          <a:xfrm>
            <a:off x="2580025" y="831615"/>
            <a:ext cx="1822571" cy="1069905"/>
          </a:xfrm>
          <a:prstGeom prst="rect">
            <a:avLst/>
          </a:prstGeom>
          <a:noFill/>
          <a:ln>
            <a:noFill/>
          </a:ln>
        </p:spPr>
      </p:pic>
      <p:pic>
        <p:nvPicPr>
          <p:cNvPr id="370" name="Google Shape;370;p11"/>
          <p:cNvPicPr preferRelativeResize="0"/>
          <p:nvPr/>
        </p:nvPicPr>
        <p:blipFill rotWithShape="1">
          <a:blip r:embed="rId5">
            <a:alphaModFix/>
          </a:blip>
          <a:srcRect/>
          <a:stretch/>
        </p:blipFill>
        <p:spPr>
          <a:xfrm>
            <a:off x="13411200" y="702288"/>
            <a:ext cx="2368483" cy="1199232"/>
          </a:xfrm>
          <a:prstGeom prst="rect">
            <a:avLst/>
          </a:prstGeom>
          <a:noFill/>
          <a:ln>
            <a:noFill/>
          </a:ln>
        </p:spPr>
      </p:pic>
      <p:pic>
        <p:nvPicPr>
          <p:cNvPr id="371" name="Google Shape;371;p11"/>
          <p:cNvPicPr preferRelativeResize="0"/>
          <p:nvPr/>
        </p:nvPicPr>
        <p:blipFill rotWithShape="1">
          <a:blip r:embed="rId6">
            <a:alphaModFix/>
          </a:blip>
          <a:srcRect/>
          <a:stretch/>
        </p:blipFill>
        <p:spPr>
          <a:xfrm>
            <a:off x="15900404" y="569177"/>
            <a:ext cx="1516310" cy="1516310"/>
          </a:xfrm>
          <a:prstGeom prst="rect">
            <a:avLst/>
          </a:prstGeom>
          <a:noFill/>
          <a:ln>
            <a:noFill/>
          </a:ln>
        </p:spPr>
      </p:pic>
      <p:sp>
        <p:nvSpPr>
          <p:cNvPr id="372" name="Google Shape;372;p11"/>
          <p:cNvSpPr txBox="1"/>
          <p:nvPr/>
        </p:nvSpPr>
        <p:spPr>
          <a:xfrm>
            <a:off x="4110215" y="1371212"/>
            <a:ext cx="9838329" cy="438150"/>
          </a:xfrm>
          <a:prstGeom prst="rect">
            <a:avLst/>
          </a:prstGeom>
          <a:noFill/>
          <a:ln>
            <a:noFill/>
          </a:ln>
        </p:spPr>
        <p:txBody>
          <a:bodyPr spcFirstLastPara="1" wrap="square" lIns="0" tIns="0" rIns="0" bIns="0" anchor="t" anchorCtr="0">
            <a:spAutoFit/>
          </a:bodyPr>
          <a:lstStyle/>
          <a:p>
            <a:pPr marL="0" marR="0" lvl="0" indent="0" algn="ctr" rtl="0">
              <a:lnSpc>
                <a:spcPct val="110000"/>
              </a:lnSpc>
              <a:spcBef>
                <a:spcPts val="0"/>
              </a:spcBef>
              <a:spcAft>
                <a:spcPts val="0"/>
              </a:spcAft>
              <a:buNone/>
            </a:pPr>
            <a:r>
              <a:rPr lang="en-GB" sz="3000" b="1">
                <a:solidFill>
                  <a:srgbClr val="1C2120"/>
                </a:solidFill>
                <a:latin typeface="Montserrat"/>
                <a:ea typeface="Montserrat"/>
                <a:cs typeface="Montserrat"/>
                <a:sym typeface="Montserrat"/>
              </a:rPr>
              <a:t>ENTERPRISE DEVELOPMENT UNIT</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Shape 376"/>
        <p:cNvGrpSpPr/>
        <p:nvPr/>
      </p:nvGrpSpPr>
      <p:grpSpPr>
        <a:xfrm>
          <a:off x="0" y="0"/>
          <a:ext cx="0" cy="0"/>
          <a:chOff x="0" y="0"/>
          <a:chExt cx="0" cy="0"/>
        </a:xfrm>
      </p:grpSpPr>
      <p:sp>
        <p:nvSpPr>
          <p:cNvPr id="377" name="Google Shape;377;p12"/>
          <p:cNvSpPr/>
          <p:nvPr/>
        </p:nvSpPr>
        <p:spPr>
          <a:xfrm>
            <a:off x="1058777" y="429656"/>
            <a:ext cx="1553339" cy="1518126"/>
          </a:xfrm>
          <a:custGeom>
            <a:avLst/>
            <a:gdLst/>
            <a:ahLst/>
            <a:cxnLst/>
            <a:rect l="l" t="t" r="r" b="b"/>
            <a:pathLst>
              <a:path w="1553339" h="1518126" extrusionOk="0">
                <a:moveTo>
                  <a:pt x="0" y="0"/>
                </a:moveTo>
                <a:lnTo>
                  <a:pt x="1553339" y="0"/>
                </a:lnTo>
                <a:lnTo>
                  <a:pt x="1553339" y="1518126"/>
                </a:lnTo>
                <a:lnTo>
                  <a:pt x="0" y="1518126"/>
                </a:lnTo>
                <a:lnTo>
                  <a:pt x="0" y="0"/>
                </a:lnTo>
                <a:close/>
              </a:path>
            </a:pathLst>
          </a:custGeom>
          <a:blipFill rotWithShape="1">
            <a:blip r:embed="rId3">
              <a:alphaModFix/>
            </a:blip>
            <a:stretch>
              <a:fillRect l="-31436" t="-10272" r="-26916" b="-57554"/>
            </a:stretch>
          </a:blipFill>
          <a:ln>
            <a:noFill/>
          </a:ln>
        </p:spPr>
      </p:sp>
      <p:cxnSp>
        <p:nvCxnSpPr>
          <p:cNvPr id="378" name="Google Shape;378;p12"/>
          <p:cNvCxnSpPr/>
          <p:nvPr/>
        </p:nvCxnSpPr>
        <p:spPr>
          <a:xfrm>
            <a:off x="2582039" y="1019175"/>
            <a:ext cx="14677261" cy="9525"/>
          </a:xfrm>
          <a:prstGeom prst="straightConnector1">
            <a:avLst/>
          </a:prstGeom>
          <a:noFill/>
          <a:ln w="19050" cap="flat" cmpd="sng">
            <a:solidFill>
              <a:srgbClr val="1C2120"/>
            </a:solidFill>
            <a:prstDash val="solid"/>
            <a:round/>
            <a:headEnd type="none" w="sm" len="sm"/>
            <a:tailEnd type="none" w="sm" len="sm"/>
          </a:ln>
        </p:spPr>
      </p:cxnSp>
      <p:pic>
        <p:nvPicPr>
          <p:cNvPr id="379" name="Google Shape;379;p12" descr="Coffins, ceramics products to be displayed in Go Negosyo Center - iOrbit  News Online"/>
          <p:cNvPicPr preferRelativeResize="0"/>
          <p:nvPr/>
        </p:nvPicPr>
        <p:blipFill rotWithShape="1">
          <a:blip r:embed="rId4">
            <a:alphaModFix/>
          </a:blip>
          <a:srcRect t="23333" b="24667"/>
          <a:stretch/>
        </p:blipFill>
        <p:spPr>
          <a:xfrm>
            <a:off x="7848600" y="1114762"/>
            <a:ext cx="2834847" cy="982746"/>
          </a:xfrm>
          <a:prstGeom prst="rect">
            <a:avLst/>
          </a:prstGeom>
          <a:noFill/>
          <a:ln>
            <a:noFill/>
          </a:ln>
        </p:spPr>
      </p:pic>
      <p:grpSp>
        <p:nvGrpSpPr>
          <p:cNvPr id="380" name="Google Shape;380;p12"/>
          <p:cNvGrpSpPr/>
          <p:nvPr/>
        </p:nvGrpSpPr>
        <p:grpSpPr>
          <a:xfrm>
            <a:off x="1065269" y="9428327"/>
            <a:ext cx="16230606" cy="515773"/>
            <a:chOff x="0" y="85715"/>
            <a:chExt cx="21640808" cy="687697"/>
          </a:xfrm>
        </p:grpSpPr>
        <p:sp>
          <p:nvSpPr>
            <p:cNvPr id="381" name="Google Shape;381;p12"/>
            <p:cNvSpPr/>
            <p:nvPr/>
          </p:nvSpPr>
          <p:spPr>
            <a:xfrm>
              <a:off x="0" y="123616"/>
              <a:ext cx="21640808" cy="649796"/>
            </a:xfrm>
            <a:prstGeom prst="rect">
              <a:avLst/>
            </a:prstGeom>
            <a:solidFill>
              <a:srgbClr val="1C212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2" name="Google Shape;382;p12"/>
            <p:cNvSpPr txBox="1"/>
            <p:nvPr/>
          </p:nvSpPr>
          <p:spPr>
            <a:xfrm>
              <a:off x="998193" y="85715"/>
              <a:ext cx="19644415" cy="440266"/>
            </a:xfrm>
            <a:prstGeom prst="rect">
              <a:avLst/>
            </a:prstGeom>
            <a:noFill/>
            <a:ln>
              <a:noFill/>
            </a:ln>
          </p:spPr>
          <p:txBody>
            <a:bodyPr spcFirstLastPara="1" wrap="square" lIns="0" tIns="0" rIns="0" bIns="0" anchor="t" anchorCtr="0">
              <a:spAutoFit/>
            </a:bodyPr>
            <a:lstStyle/>
            <a:p>
              <a:pPr marL="0" marR="0" lvl="0" indent="0" algn="just" rtl="0">
                <a:lnSpc>
                  <a:spcPct val="140000"/>
                </a:lnSpc>
                <a:spcBef>
                  <a:spcPts val="0"/>
                </a:spcBef>
                <a:spcAft>
                  <a:spcPts val="0"/>
                </a:spcAft>
                <a:buNone/>
              </a:pPr>
              <a:r>
                <a:rPr lang="en-GB" sz="2000" b="1">
                  <a:solidFill>
                    <a:srgbClr val="FDFDFD"/>
                  </a:solidFill>
                  <a:latin typeface="Montserrat"/>
                  <a:ea typeface="Montserrat"/>
                  <a:cs typeface="Montserrat"/>
                  <a:sym typeface="Montserrat"/>
                </a:rPr>
                <a:t>DTI- SME DEVELOPMENT DIVISION│NC│CARP│TPU│EDU</a:t>
              </a:r>
              <a:endParaRPr/>
            </a:p>
          </p:txBody>
        </p:sp>
      </p:grpSp>
      <p:grpSp>
        <p:nvGrpSpPr>
          <p:cNvPr id="383" name="Google Shape;383;p12"/>
          <p:cNvGrpSpPr/>
          <p:nvPr/>
        </p:nvGrpSpPr>
        <p:grpSpPr>
          <a:xfrm>
            <a:off x="-560492" y="3037287"/>
            <a:ext cx="18631458" cy="1231089"/>
            <a:chOff x="457200" y="2525278"/>
            <a:chExt cx="14777392" cy="1231089"/>
          </a:xfrm>
        </p:grpSpPr>
        <p:sp>
          <p:nvSpPr>
            <p:cNvPr id="384" name="Google Shape;384;p12"/>
            <p:cNvSpPr/>
            <p:nvPr/>
          </p:nvSpPr>
          <p:spPr>
            <a:xfrm>
              <a:off x="2323450" y="2525278"/>
              <a:ext cx="11711555" cy="744823"/>
            </a:xfrm>
            <a:prstGeom prst="roundRect">
              <a:avLst>
                <a:gd name="adj" fmla="val 16667"/>
              </a:avLst>
            </a:prstGeom>
            <a:solidFill>
              <a:srgbClr val="DAE5F1"/>
            </a:solidFill>
            <a:ln w="25400" cap="flat"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B7CCE4"/>
                </a:solidFill>
                <a:latin typeface="Calibri"/>
                <a:ea typeface="Calibri"/>
                <a:cs typeface="Calibri"/>
                <a:sym typeface="Calibri"/>
              </a:endParaRPr>
            </a:p>
          </p:txBody>
        </p:sp>
        <p:sp>
          <p:nvSpPr>
            <p:cNvPr id="385" name="Google Shape;385;p12"/>
            <p:cNvSpPr txBox="1"/>
            <p:nvPr/>
          </p:nvSpPr>
          <p:spPr>
            <a:xfrm>
              <a:off x="2473623" y="2566564"/>
              <a:ext cx="11052082" cy="58477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3200" b="1">
                  <a:solidFill>
                    <a:schemeClr val="dk1"/>
                  </a:solidFill>
                  <a:latin typeface="Poppins"/>
                  <a:ea typeface="Poppins"/>
                  <a:cs typeface="Poppins"/>
                  <a:sym typeface="Poppins"/>
                </a:rPr>
                <a:t>Formulation of KMME Program Monitoring Survey Form</a:t>
              </a:r>
              <a:endParaRPr sz="3200" b="1">
                <a:solidFill>
                  <a:schemeClr val="dk1"/>
                </a:solidFill>
                <a:latin typeface="Poppins"/>
                <a:ea typeface="Poppins"/>
                <a:cs typeface="Poppins"/>
                <a:sym typeface="Poppins"/>
              </a:endParaRPr>
            </a:p>
          </p:txBody>
        </p:sp>
        <p:sp>
          <p:nvSpPr>
            <p:cNvPr id="386" name="Google Shape;386;p12"/>
            <p:cNvSpPr txBox="1"/>
            <p:nvPr/>
          </p:nvSpPr>
          <p:spPr>
            <a:xfrm>
              <a:off x="457200" y="2628900"/>
              <a:ext cx="2920884" cy="641201"/>
            </a:xfrm>
            <a:prstGeom prst="rect">
              <a:avLst/>
            </a:prstGeom>
            <a:noFill/>
            <a:ln>
              <a:noFill/>
            </a:ln>
          </p:spPr>
          <p:txBody>
            <a:bodyPr spcFirstLastPara="1" wrap="square" lIns="0" tIns="0" rIns="0" bIns="0" anchor="t" anchorCtr="0">
              <a:spAutoFit/>
            </a:bodyPr>
            <a:lstStyle/>
            <a:p>
              <a:pPr marL="0" marR="0" lvl="0" indent="0" algn="ctr" rtl="0">
                <a:lnSpc>
                  <a:spcPct val="93333"/>
                </a:lnSpc>
                <a:spcBef>
                  <a:spcPts val="0"/>
                </a:spcBef>
                <a:spcAft>
                  <a:spcPts val="0"/>
                </a:spcAft>
                <a:buNone/>
              </a:pPr>
              <a:r>
                <a:rPr lang="en-GB" sz="5400" b="1">
                  <a:solidFill>
                    <a:schemeClr val="dk2"/>
                  </a:solidFill>
                  <a:latin typeface="Montserrat"/>
                  <a:ea typeface="Montserrat"/>
                  <a:cs typeface="Montserrat"/>
                  <a:sym typeface="Montserrat"/>
                </a:rPr>
                <a:t>1</a:t>
              </a:r>
              <a:endParaRPr/>
            </a:p>
          </p:txBody>
        </p:sp>
        <p:sp>
          <p:nvSpPr>
            <p:cNvPr id="387" name="Google Shape;387;p12"/>
            <p:cNvSpPr txBox="1"/>
            <p:nvPr/>
          </p:nvSpPr>
          <p:spPr>
            <a:xfrm>
              <a:off x="2500431" y="3294702"/>
              <a:ext cx="12734161"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2400">
                  <a:solidFill>
                    <a:schemeClr val="dk1"/>
                  </a:solidFill>
                  <a:latin typeface="Century Gothic"/>
                  <a:ea typeface="Century Gothic"/>
                  <a:cs typeface="Century Gothic"/>
                  <a:sym typeface="Century Gothic"/>
                </a:rPr>
                <a:t>Map out the status of KMME Graduates in Caraga region from 2017-2022</a:t>
              </a:r>
              <a:endParaRPr/>
            </a:p>
          </p:txBody>
        </p:sp>
      </p:grpSp>
      <p:grpSp>
        <p:nvGrpSpPr>
          <p:cNvPr id="388" name="Google Shape;388;p12"/>
          <p:cNvGrpSpPr/>
          <p:nvPr/>
        </p:nvGrpSpPr>
        <p:grpSpPr>
          <a:xfrm>
            <a:off x="-548300" y="4899724"/>
            <a:ext cx="17119909" cy="2078027"/>
            <a:chOff x="-299080" y="5027108"/>
            <a:chExt cx="16990262" cy="2078027"/>
          </a:xfrm>
        </p:grpSpPr>
        <p:grpSp>
          <p:nvGrpSpPr>
            <p:cNvPr id="389" name="Google Shape;389;p12"/>
            <p:cNvGrpSpPr/>
            <p:nvPr/>
          </p:nvGrpSpPr>
          <p:grpSpPr>
            <a:xfrm>
              <a:off x="-299080" y="5027108"/>
              <a:ext cx="16990262" cy="1118504"/>
              <a:chOff x="457200" y="2525278"/>
              <a:chExt cx="13563600" cy="1118504"/>
            </a:xfrm>
          </p:grpSpPr>
          <p:sp>
            <p:nvSpPr>
              <p:cNvPr id="390" name="Google Shape;390;p12"/>
              <p:cNvSpPr/>
              <p:nvPr/>
            </p:nvSpPr>
            <p:spPr>
              <a:xfrm>
                <a:off x="2323450" y="2525278"/>
                <a:ext cx="11697350" cy="1118504"/>
              </a:xfrm>
              <a:prstGeom prst="roundRect">
                <a:avLst>
                  <a:gd name="adj" fmla="val 16667"/>
                </a:avLst>
              </a:prstGeom>
              <a:solidFill>
                <a:srgbClr val="DAE5F1"/>
              </a:solidFill>
              <a:ln w="25400" cap="flat"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B7CCE4"/>
                  </a:solidFill>
                  <a:latin typeface="Calibri"/>
                  <a:ea typeface="Calibri"/>
                  <a:cs typeface="Calibri"/>
                  <a:sym typeface="Calibri"/>
                </a:endParaRPr>
              </a:p>
            </p:txBody>
          </p:sp>
          <p:sp>
            <p:nvSpPr>
              <p:cNvPr id="391" name="Google Shape;391;p12"/>
              <p:cNvSpPr txBox="1"/>
              <p:nvPr/>
            </p:nvSpPr>
            <p:spPr>
              <a:xfrm>
                <a:off x="2473622" y="2566564"/>
                <a:ext cx="11037414" cy="1077218"/>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3200" b="1">
                    <a:solidFill>
                      <a:schemeClr val="dk1"/>
                    </a:solidFill>
                    <a:latin typeface="Poppins"/>
                    <a:ea typeface="Poppins"/>
                    <a:cs typeface="Poppins"/>
                    <a:sym typeface="Poppins"/>
                  </a:rPr>
                  <a:t>Partnership with the RAPID Growth Program for funding support on the implementation of KMME-MME Online and SBCC activities</a:t>
                </a:r>
                <a:endParaRPr sz="2400" b="1" i="1">
                  <a:solidFill>
                    <a:schemeClr val="dk1"/>
                  </a:solidFill>
                  <a:latin typeface="Poppins"/>
                  <a:ea typeface="Poppins"/>
                  <a:cs typeface="Poppins"/>
                  <a:sym typeface="Poppins"/>
                </a:endParaRPr>
              </a:p>
            </p:txBody>
          </p:sp>
          <p:sp>
            <p:nvSpPr>
              <p:cNvPr id="392" name="Google Shape;392;p12"/>
              <p:cNvSpPr txBox="1"/>
              <p:nvPr/>
            </p:nvSpPr>
            <p:spPr>
              <a:xfrm>
                <a:off x="457200" y="2628900"/>
                <a:ext cx="2920884" cy="641201"/>
              </a:xfrm>
              <a:prstGeom prst="rect">
                <a:avLst/>
              </a:prstGeom>
              <a:noFill/>
              <a:ln>
                <a:noFill/>
              </a:ln>
            </p:spPr>
            <p:txBody>
              <a:bodyPr spcFirstLastPara="1" wrap="square" lIns="0" tIns="0" rIns="0" bIns="0" anchor="t" anchorCtr="0">
                <a:spAutoFit/>
              </a:bodyPr>
              <a:lstStyle/>
              <a:p>
                <a:pPr marL="0" marR="0" lvl="0" indent="0" algn="ctr" rtl="0">
                  <a:lnSpc>
                    <a:spcPct val="93333"/>
                  </a:lnSpc>
                  <a:spcBef>
                    <a:spcPts val="0"/>
                  </a:spcBef>
                  <a:spcAft>
                    <a:spcPts val="0"/>
                  </a:spcAft>
                  <a:buNone/>
                </a:pPr>
                <a:r>
                  <a:rPr lang="en-GB" sz="5400" b="1">
                    <a:solidFill>
                      <a:schemeClr val="dk2"/>
                    </a:solidFill>
                    <a:latin typeface="Montserrat"/>
                    <a:ea typeface="Montserrat"/>
                    <a:cs typeface="Montserrat"/>
                    <a:sym typeface="Montserrat"/>
                  </a:rPr>
                  <a:t>2</a:t>
                </a:r>
                <a:endParaRPr sz="5400" b="1">
                  <a:solidFill>
                    <a:schemeClr val="dk2"/>
                  </a:solidFill>
                  <a:latin typeface="Montserrat"/>
                  <a:ea typeface="Montserrat"/>
                  <a:cs typeface="Montserrat"/>
                  <a:sym typeface="Montserrat"/>
                </a:endParaRPr>
              </a:p>
            </p:txBody>
          </p:sp>
        </p:grpSp>
        <p:sp>
          <p:nvSpPr>
            <p:cNvPr id="393" name="Google Shape;393;p12"/>
            <p:cNvSpPr txBox="1"/>
            <p:nvPr/>
          </p:nvSpPr>
          <p:spPr>
            <a:xfrm>
              <a:off x="2273994" y="6274138"/>
              <a:ext cx="14327151" cy="830997"/>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n-GB" sz="2400">
                  <a:solidFill>
                    <a:schemeClr val="dk1"/>
                  </a:solidFill>
                  <a:latin typeface="Century Gothic"/>
                  <a:ea typeface="Century Gothic"/>
                  <a:cs typeface="Century Gothic"/>
                  <a:sym typeface="Century Gothic"/>
                </a:rPr>
                <a:t>Successful runs of the capacity development initiatives for MSMEs (KMME and RAPID) and Negosyo Center Business Counsellors (DTI) due to funding adequacy and effective collaboration</a:t>
              </a:r>
              <a:endParaRPr sz="1800" i="1">
                <a:solidFill>
                  <a:schemeClr val="dk1"/>
                </a:solidFill>
                <a:latin typeface="Century Gothic"/>
                <a:ea typeface="Century Gothic"/>
                <a:cs typeface="Century Gothic"/>
                <a:sym typeface="Century Gothic"/>
              </a:endParaRPr>
            </a:p>
          </p:txBody>
        </p:sp>
      </p:gr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Shape 401"/>
        <p:cNvGrpSpPr/>
        <p:nvPr/>
      </p:nvGrpSpPr>
      <p:grpSpPr>
        <a:xfrm>
          <a:off x="0" y="0"/>
          <a:ext cx="0" cy="0"/>
          <a:chOff x="0" y="0"/>
          <a:chExt cx="0" cy="0"/>
        </a:xfrm>
      </p:grpSpPr>
      <p:sp>
        <p:nvSpPr>
          <p:cNvPr id="402" name="Google Shape;402;p13"/>
          <p:cNvSpPr/>
          <p:nvPr/>
        </p:nvSpPr>
        <p:spPr>
          <a:xfrm>
            <a:off x="1028700" y="453061"/>
            <a:ext cx="1553339" cy="1518126"/>
          </a:xfrm>
          <a:custGeom>
            <a:avLst/>
            <a:gdLst/>
            <a:ahLst/>
            <a:cxnLst/>
            <a:rect l="l" t="t" r="r" b="b"/>
            <a:pathLst>
              <a:path w="1553339" h="1518126" extrusionOk="0">
                <a:moveTo>
                  <a:pt x="0" y="0"/>
                </a:moveTo>
                <a:lnTo>
                  <a:pt x="1553339" y="0"/>
                </a:lnTo>
                <a:lnTo>
                  <a:pt x="1553339" y="1518126"/>
                </a:lnTo>
                <a:lnTo>
                  <a:pt x="0" y="1518126"/>
                </a:lnTo>
                <a:lnTo>
                  <a:pt x="0" y="0"/>
                </a:lnTo>
                <a:close/>
              </a:path>
            </a:pathLst>
          </a:custGeom>
          <a:blipFill rotWithShape="1">
            <a:blip r:embed="rId3">
              <a:alphaModFix/>
            </a:blip>
            <a:stretch>
              <a:fillRect l="-31436" t="-10272" r="-26916" b="-57554"/>
            </a:stretch>
          </a:blipFill>
          <a:ln>
            <a:noFill/>
          </a:ln>
        </p:spPr>
      </p:sp>
      <p:cxnSp>
        <p:nvCxnSpPr>
          <p:cNvPr id="403" name="Google Shape;403;p13"/>
          <p:cNvCxnSpPr/>
          <p:nvPr/>
        </p:nvCxnSpPr>
        <p:spPr>
          <a:xfrm>
            <a:off x="2582039" y="1019175"/>
            <a:ext cx="14677261" cy="9525"/>
          </a:xfrm>
          <a:prstGeom prst="straightConnector1">
            <a:avLst/>
          </a:prstGeom>
          <a:noFill/>
          <a:ln w="19050" cap="flat" cmpd="sng">
            <a:solidFill>
              <a:srgbClr val="1C2120"/>
            </a:solidFill>
            <a:prstDash val="solid"/>
            <a:round/>
            <a:headEnd type="none" w="sm" len="sm"/>
            <a:tailEnd type="none" w="sm" len="sm"/>
          </a:ln>
        </p:spPr>
      </p:cxnSp>
      <p:grpSp>
        <p:nvGrpSpPr>
          <p:cNvPr id="404" name="Google Shape;404;p13"/>
          <p:cNvGrpSpPr/>
          <p:nvPr/>
        </p:nvGrpSpPr>
        <p:grpSpPr>
          <a:xfrm>
            <a:off x="1061357" y="9029700"/>
            <a:ext cx="16230606" cy="487347"/>
            <a:chOff x="0" y="0"/>
            <a:chExt cx="21640808" cy="649796"/>
          </a:xfrm>
        </p:grpSpPr>
        <p:sp>
          <p:nvSpPr>
            <p:cNvPr id="405" name="Google Shape;405;p13"/>
            <p:cNvSpPr/>
            <p:nvPr/>
          </p:nvSpPr>
          <p:spPr>
            <a:xfrm>
              <a:off x="0" y="0"/>
              <a:ext cx="21640808" cy="649796"/>
            </a:xfrm>
            <a:prstGeom prst="rect">
              <a:avLst/>
            </a:prstGeom>
            <a:solidFill>
              <a:srgbClr val="1C212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 name="Google Shape;406;p13"/>
            <p:cNvSpPr txBox="1"/>
            <p:nvPr/>
          </p:nvSpPr>
          <p:spPr>
            <a:xfrm>
              <a:off x="998196" y="104764"/>
              <a:ext cx="19644415" cy="440267"/>
            </a:xfrm>
            <a:prstGeom prst="rect">
              <a:avLst/>
            </a:prstGeom>
            <a:noFill/>
            <a:ln>
              <a:noFill/>
            </a:ln>
          </p:spPr>
          <p:txBody>
            <a:bodyPr spcFirstLastPara="1" wrap="square" lIns="0" tIns="0" rIns="0" bIns="0" anchor="t" anchorCtr="0">
              <a:spAutoFit/>
            </a:bodyPr>
            <a:lstStyle/>
            <a:p>
              <a:pPr marL="0" marR="0" lvl="0" indent="0" algn="just" rtl="0">
                <a:lnSpc>
                  <a:spcPct val="140000"/>
                </a:lnSpc>
                <a:spcBef>
                  <a:spcPts val="0"/>
                </a:spcBef>
                <a:spcAft>
                  <a:spcPts val="0"/>
                </a:spcAft>
                <a:buNone/>
              </a:pPr>
              <a:r>
                <a:rPr lang="en-GB" sz="2000" b="1">
                  <a:solidFill>
                    <a:srgbClr val="FDFDFD"/>
                  </a:solidFill>
                  <a:latin typeface="Montserrat"/>
                  <a:ea typeface="Montserrat"/>
                  <a:cs typeface="Montserrat"/>
                  <a:sym typeface="Montserrat"/>
                </a:rPr>
                <a:t>DTI- SME DEVELOPMENT DIVISION│NC│CARP│TPU│EDU</a:t>
              </a:r>
              <a:endParaRPr/>
            </a:p>
          </p:txBody>
        </p:sp>
      </p:grpSp>
      <p:pic>
        <p:nvPicPr>
          <p:cNvPr id="407" name="Google Shape;407;p13"/>
          <p:cNvPicPr preferRelativeResize="0"/>
          <p:nvPr/>
        </p:nvPicPr>
        <p:blipFill rotWithShape="1">
          <a:blip r:embed="rId4">
            <a:alphaModFix/>
          </a:blip>
          <a:srcRect t="14907" b="15064"/>
          <a:stretch/>
        </p:blipFill>
        <p:spPr>
          <a:xfrm>
            <a:off x="7543800" y="1050852"/>
            <a:ext cx="3709766" cy="1143000"/>
          </a:xfrm>
          <a:prstGeom prst="rect">
            <a:avLst/>
          </a:prstGeom>
          <a:noFill/>
          <a:ln>
            <a:noFill/>
          </a:ln>
        </p:spPr>
      </p:pic>
      <p:grpSp>
        <p:nvGrpSpPr>
          <p:cNvPr id="408" name="Google Shape;408;p13"/>
          <p:cNvGrpSpPr/>
          <p:nvPr/>
        </p:nvGrpSpPr>
        <p:grpSpPr>
          <a:xfrm>
            <a:off x="0" y="2912575"/>
            <a:ext cx="16786596" cy="1599867"/>
            <a:chOff x="457200" y="2525278"/>
            <a:chExt cx="13577805" cy="1599867"/>
          </a:xfrm>
        </p:grpSpPr>
        <p:sp>
          <p:nvSpPr>
            <p:cNvPr id="409" name="Google Shape;409;p13"/>
            <p:cNvSpPr/>
            <p:nvPr/>
          </p:nvSpPr>
          <p:spPr>
            <a:xfrm>
              <a:off x="2323450" y="2525278"/>
              <a:ext cx="11711555" cy="744823"/>
            </a:xfrm>
            <a:prstGeom prst="roundRect">
              <a:avLst>
                <a:gd name="adj" fmla="val 16667"/>
              </a:avLst>
            </a:prstGeom>
            <a:solidFill>
              <a:srgbClr val="DAE5F1"/>
            </a:solidFill>
            <a:ln w="25400" cap="flat"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B7CCE4"/>
                </a:solidFill>
                <a:latin typeface="Calibri"/>
                <a:ea typeface="Calibri"/>
                <a:cs typeface="Calibri"/>
                <a:sym typeface="Calibri"/>
              </a:endParaRPr>
            </a:p>
          </p:txBody>
        </p:sp>
        <p:sp>
          <p:nvSpPr>
            <p:cNvPr id="410" name="Google Shape;410;p13"/>
            <p:cNvSpPr txBox="1"/>
            <p:nvPr/>
          </p:nvSpPr>
          <p:spPr>
            <a:xfrm>
              <a:off x="2473623" y="2566564"/>
              <a:ext cx="11052082" cy="58477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3200" b="1">
                  <a:solidFill>
                    <a:schemeClr val="dk1"/>
                  </a:solidFill>
                  <a:latin typeface="Poppins"/>
                  <a:ea typeface="Poppins"/>
                  <a:cs typeface="Poppins"/>
                  <a:sym typeface="Poppins"/>
                </a:rPr>
                <a:t>DTI-CARP MSME Database</a:t>
              </a:r>
              <a:endParaRPr sz="3200" b="1">
                <a:solidFill>
                  <a:schemeClr val="dk1"/>
                </a:solidFill>
                <a:latin typeface="Poppins"/>
                <a:ea typeface="Poppins"/>
                <a:cs typeface="Poppins"/>
                <a:sym typeface="Poppins"/>
              </a:endParaRPr>
            </a:p>
          </p:txBody>
        </p:sp>
        <p:sp>
          <p:nvSpPr>
            <p:cNvPr id="411" name="Google Shape;411;p13"/>
            <p:cNvSpPr txBox="1"/>
            <p:nvPr/>
          </p:nvSpPr>
          <p:spPr>
            <a:xfrm>
              <a:off x="457200" y="2628900"/>
              <a:ext cx="2920884" cy="641201"/>
            </a:xfrm>
            <a:prstGeom prst="rect">
              <a:avLst/>
            </a:prstGeom>
            <a:noFill/>
            <a:ln>
              <a:noFill/>
            </a:ln>
          </p:spPr>
          <p:txBody>
            <a:bodyPr spcFirstLastPara="1" wrap="square" lIns="0" tIns="0" rIns="0" bIns="0" anchor="t" anchorCtr="0">
              <a:spAutoFit/>
            </a:bodyPr>
            <a:lstStyle/>
            <a:p>
              <a:pPr marL="0" marR="0" lvl="0" indent="0" algn="ctr" rtl="0">
                <a:lnSpc>
                  <a:spcPct val="93333"/>
                </a:lnSpc>
                <a:spcBef>
                  <a:spcPts val="0"/>
                </a:spcBef>
                <a:spcAft>
                  <a:spcPts val="0"/>
                </a:spcAft>
                <a:buNone/>
              </a:pPr>
              <a:r>
                <a:rPr lang="en-GB" sz="5400" b="1">
                  <a:solidFill>
                    <a:schemeClr val="dk2"/>
                  </a:solidFill>
                  <a:latin typeface="Montserrat"/>
                  <a:ea typeface="Montserrat"/>
                  <a:cs typeface="Montserrat"/>
                  <a:sym typeface="Montserrat"/>
                </a:rPr>
                <a:t>1</a:t>
              </a:r>
              <a:endParaRPr/>
            </a:p>
          </p:txBody>
        </p:sp>
        <p:sp>
          <p:nvSpPr>
            <p:cNvPr id="412" name="Google Shape;412;p13"/>
            <p:cNvSpPr txBox="1"/>
            <p:nvPr/>
          </p:nvSpPr>
          <p:spPr>
            <a:xfrm>
              <a:off x="2348895" y="3294148"/>
              <a:ext cx="11574432" cy="830997"/>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n-GB" sz="2400">
                  <a:solidFill>
                    <a:schemeClr val="dk1"/>
                  </a:solidFill>
                  <a:latin typeface="Century Gothic"/>
                  <a:ea typeface="Century Gothic"/>
                  <a:cs typeface="Century Gothic"/>
                  <a:sym typeface="Century Gothic"/>
                </a:rPr>
                <a:t>Developed and categorized assisted MSMEs in Industry Cluster, Enterprise Development Track Level, and Level of Digitalization. </a:t>
              </a:r>
              <a:endParaRPr sz="2400">
                <a:solidFill>
                  <a:schemeClr val="dk1"/>
                </a:solidFill>
                <a:latin typeface="Century Gothic"/>
                <a:ea typeface="Century Gothic"/>
                <a:cs typeface="Century Gothic"/>
                <a:sym typeface="Century Gothic"/>
              </a:endParaRPr>
            </a:p>
          </p:txBody>
        </p:sp>
      </p:grpSp>
      <p:grpSp>
        <p:nvGrpSpPr>
          <p:cNvPr id="413" name="Google Shape;413;p13"/>
          <p:cNvGrpSpPr/>
          <p:nvPr/>
        </p:nvGrpSpPr>
        <p:grpSpPr>
          <a:xfrm>
            <a:off x="0" y="5106801"/>
            <a:ext cx="16683462" cy="2442171"/>
            <a:chOff x="457200" y="2525282"/>
            <a:chExt cx="13577947" cy="2442171"/>
          </a:xfrm>
        </p:grpSpPr>
        <p:sp>
          <p:nvSpPr>
            <p:cNvPr id="414" name="Google Shape;414;p13"/>
            <p:cNvSpPr/>
            <p:nvPr/>
          </p:nvSpPr>
          <p:spPr>
            <a:xfrm>
              <a:off x="2323447" y="2525282"/>
              <a:ext cx="11711700" cy="1599900"/>
            </a:xfrm>
            <a:prstGeom prst="roundRect">
              <a:avLst>
                <a:gd name="adj" fmla="val 16667"/>
              </a:avLst>
            </a:prstGeom>
            <a:solidFill>
              <a:srgbClr val="DAE5F1"/>
            </a:solidFill>
            <a:ln w="25400" cap="flat"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B7CCE4"/>
                </a:solidFill>
                <a:latin typeface="Calibri"/>
                <a:ea typeface="Calibri"/>
                <a:cs typeface="Calibri"/>
                <a:sym typeface="Calibri"/>
              </a:endParaRPr>
            </a:p>
          </p:txBody>
        </p:sp>
        <p:sp>
          <p:nvSpPr>
            <p:cNvPr id="415" name="Google Shape;415;p13"/>
            <p:cNvSpPr txBox="1"/>
            <p:nvPr/>
          </p:nvSpPr>
          <p:spPr>
            <a:xfrm>
              <a:off x="2473626" y="2566552"/>
              <a:ext cx="11052000" cy="15699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3200" b="1">
                  <a:solidFill>
                    <a:schemeClr val="dk1"/>
                  </a:solidFill>
                  <a:latin typeface="Poppins"/>
                  <a:ea typeface="Poppins"/>
                  <a:cs typeface="Poppins"/>
                  <a:sym typeface="Poppins"/>
                </a:rPr>
                <a:t>Production of Promotion Collateral Videos highlighting the Business Journey of assisted Agrarian Reform Beneficiary Organizations.</a:t>
              </a:r>
              <a:endParaRPr sz="3200" b="1">
                <a:solidFill>
                  <a:schemeClr val="dk1"/>
                </a:solidFill>
                <a:latin typeface="Poppins"/>
                <a:ea typeface="Poppins"/>
                <a:cs typeface="Poppins"/>
                <a:sym typeface="Poppins"/>
              </a:endParaRPr>
            </a:p>
          </p:txBody>
        </p:sp>
        <p:sp>
          <p:nvSpPr>
            <p:cNvPr id="416" name="Google Shape;416;p13"/>
            <p:cNvSpPr txBox="1"/>
            <p:nvPr/>
          </p:nvSpPr>
          <p:spPr>
            <a:xfrm>
              <a:off x="457200" y="2628900"/>
              <a:ext cx="2920884" cy="641201"/>
            </a:xfrm>
            <a:prstGeom prst="rect">
              <a:avLst/>
            </a:prstGeom>
            <a:noFill/>
            <a:ln>
              <a:noFill/>
            </a:ln>
          </p:spPr>
          <p:txBody>
            <a:bodyPr spcFirstLastPara="1" wrap="square" lIns="0" tIns="0" rIns="0" bIns="0" anchor="t" anchorCtr="0">
              <a:spAutoFit/>
            </a:bodyPr>
            <a:lstStyle/>
            <a:p>
              <a:pPr marL="0" marR="0" lvl="0" indent="0" algn="ctr" rtl="0">
                <a:lnSpc>
                  <a:spcPct val="93333"/>
                </a:lnSpc>
                <a:spcBef>
                  <a:spcPts val="0"/>
                </a:spcBef>
                <a:spcAft>
                  <a:spcPts val="0"/>
                </a:spcAft>
                <a:buNone/>
              </a:pPr>
              <a:r>
                <a:rPr lang="en-GB" sz="5400" b="1">
                  <a:solidFill>
                    <a:schemeClr val="dk2"/>
                  </a:solidFill>
                  <a:latin typeface="Montserrat"/>
                  <a:ea typeface="Montserrat"/>
                  <a:cs typeface="Montserrat"/>
                  <a:sym typeface="Montserrat"/>
                </a:rPr>
                <a:t>2</a:t>
              </a:r>
              <a:endParaRPr sz="5400" b="1">
                <a:solidFill>
                  <a:schemeClr val="dk2"/>
                </a:solidFill>
                <a:latin typeface="Montserrat"/>
                <a:ea typeface="Montserrat"/>
                <a:cs typeface="Montserrat"/>
                <a:sym typeface="Montserrat"/>
              </a:endParaRPr>
            </a:p>
          </p:txBody>
        </p:sp>
        <p:sp>
          <p:nvSpPr>
            <p:cNvPr id="417" name="Google Shape;417;p13"/>
            <p:cNvSpPr txBox="1"/>
            <p:nvPr/>
          </p:nvSpPr>
          <p:spPr>
            <a:xfrm>
              <a:off x="2325804" y="4136453"/>
              <a:ext cx="11561400" cy="831000"/>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n-GB" sz="2400">
                  <a:solidFill>
                    <a:schemeClr val="dk1"/>
                  </a:solidFill>
                  <a:latin typeface="Century Gothic"/>
                  <a:ea typeface="Century Gothic"/>
                  <a:cs typeface="Century Gothic"/>
                  <a:sym typeface="Century Gothic"/>
                </a:rPr>
                <a:t>Increased reach of audience as compared to the previous infographic, resulting to wider promotion of products offered</a:t>
              </a:r>
              <a:endParaRPr sz="2400">
                <a:solidFill>
                  <a:schemeClr val="dk1"/>
                </a:solidFill>
                <a:latin typeface="Century Gothic"/>
                <a:ea typeface="Century Gothic"/>
                <a:cs typeface="Century Gothic"/>
                <a:sym typeface="Century Gothic"/>
              </a:endParaRPr>
            </a:p>
          </p:txBody>
        </p:sp>
      </p:gr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Shape 421"/>
        <p:cNvGrpSpPr/>
        <p:nvPr/>
      </p:nvGrpSpPr>
      <p:grpSpPr>
        <a:xfrm>
          <a:off x="0" y="0"/>
          <a:ext cx="0" cy="0"/>
          <a:chOff x="0" y="0"/>
          <a:chExt cx="0" cy="0"/>
        </a:xfrm>
      </p:grpSpPr>
      <p:sp>
        <p:nvSpPr>
          <p:cNvPr id="422" name="Google Shape;422;p14"/>
          <p:cNvSpPr/>
          <p:nvPr/>
        </p:nvSpPr>
        <p:spPr>
          <a:xfrm>
            <a:off x="1028700" y="453061"/>
            <a:ext cx="1553339" cy="1518126"/>
          </a:xfrm>
          <a:custGeom>
            <a:avLst/>
            <a:gdLst/>
            <a:ahLst/>
            <a:cxnLst/>
            <a:rect l="l" t="t" r="r" b="b"/>
            <a:pathLst>
              <a:path w="1553339" h="1518126" extrusionOk="0">
                <a:moveTo>
                  <a:pt x="0" y="0"/>
                </a:moveTo>
                <a:lnTo>
                  <a:pt x="1553339" y="0"/>
                </a:lnTo>
                <a:lnTo>
                  <a:pt x="1553339" y="1518126"/>
                </a:lnTo>
                <a:lnTo>
                  <a:pt x="0" y="1518126"/>
                </a:lnTo>
                <a:lnTo>
                  <a:pt x="0" y="0"/>
                </a:lnTo>
                <a:close/>
              </a:path>
            </a:pathLst>
          </a:custGeom>
          <a:blipFill rotWithShape="1">
            <a:blip r:embed="rId3">
              <a:alphaModFix/>
            </a:blip>
            <a:stretch>
              <a:fillRect l="-31436" t="-10272" r="-26916" b="-57554"/>
            </a:stretch>
          </a:blipFill>
          <a:ln>
            <a:noFill/>
          </a:ln>
        </p:spPr>
      </p:sp>
      <p:cxnSp>
        <p:nvCxnSpPr>
          <p:cNvPr id="423" name="Google Shape;423;p14"/>
          <p:cNvCxnSpPr/>
          <p:nvPr/>
        </p:nvCxnSpPr>
        <p:spPr>
          <a:xfrm>
            <a:off x="2582039" y="1019175"/>
            <a:ext cx="14677261" cy="9525"/>
          </a:xfrm>
          <a:prstGeom prst="straightConnector1">
            <a:avLst/>
          </a:prstGeom>
          <a:noFill/>
          <a:ln w="19050" cap="flat" cmpd="sng">
            <a:solidFill>
              <a:srgbClr val="1C2120"/>
            </a:solidFill>
            <a:prstDash val="solid"/>
            <a:round/>
            <a:headEnd type="none" w="sm" len="sm"/>
            <a:tailEnd type="none" w="sm" len="sm"/>
          </a:ln>
        </p:spPr>
      </p:cxnSp>
      <p:sp>
        <p:nvSpPr>
          <p:cNvPr id="424" name="Google Shape;424;p14"/>
          <p:cNvSpPr txBox="1"/>
          <p:nvPr/>
        </p:nvSpPr>
        <p:spPr>
          <a:xfrm>
            <a:off x="4495800" y="3730617"/>
            <a:ext cx="8825108" cy="2089226"/>
          </a:xfrm>
          <a:prstGeom prst="rect">
            <a:avLst/>
          </a:prstGeom>
          <a:noFill/>
          <a:ln>
            <a:noFill/>
          </a:ln>
        </p:spPr>
        <p:txBody>
          <a:bodyPr spcFirstLastPara="1" wrap="square" lIns="0" tIns="0" rIns="0" bIns="0" anchor="t" anchorCtr="0">
            <a:spAutoFit/>
          </a:bodyPr>
          <a:lstStyle/>
          <a:p>
            <a:pPr marL="0" marR="0" lvl="0" indent="0" algn="ctr" rtl="0">
              <a:lnSpc>
                <a:spcPct val="134000"/>
              </a:lnSpc>
              <a:spcBef>
                <a:spcPts val="0"/>
              </a:spcBef>
              <a:spcAft>
                <a:spcPts val="0"/>
              </a:spcAft>
              <a:buNone/>
            </a:pPr>
            <a:r>
              <a:rPr lang="en-GB" sz="6400" b="1">
                <a:solidFill>
                  <a:srgbClr val="1C2120"/>
                </a:solidFill>
                <a:latin typeface="Montserrat"/>
                <a:ea typeface="Montserrat"/>
                <a:cs typeface="Montserrat"/>
                <a:sym typeface="Montserrat"/>
              </a:rPr>
              <a:t>Intervening Accomplishment</a:t>
            </a:r>
            <a:endParaRPr sz="6400" b="1">
              <a:solidFill>
                <a:srgbClr val="1C2120"/>
              </a:solidFill>
              <a:latin typeface="Montserrat"/>
              <a:ea typeface="Montserrat"/>
              <a:cs typeface="Montserrat"/>
              <a:sym typeface="Montserrat"/>
            </a:endParaRPr>
          </a:p>
        </p:txBody>
      </p:sp>
      <p:sp>
        <p:nvSpPr>
          <p:cNvPr id="425" name="Google Shape;425;p14"/>
          <p:cNvSpPr/>
          <p:nvPr/>
        </p:nvSpPr>
        <p:spPr>
          <a:xfrm>
            <a:off x="4762836" y="6421878"/>
            <a:ext cx="8762328" cy="91347"/>
          </a:xfrm>
          <a:prstGeom prst="rect">
            <a:avLst/>
          </a:prstGeom>
          <a:solidFill>
            <a:srgbClr val="1C212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6" name="Google Shape;426;p14"/>
          <p:cNvSpPr txBox="1"/>
          <p:nvPr/>
        </p:nvSpPr>
        <p:spPr>
          <a:xfrm>
            <a:off x="1777345" y="8835239"/>
            <a:ext cx="14733311" cy="330200"/>
          </a:xfrm>
          <a:prstGeom prst="rect">
            <a:avLst/>
          </a:prstGeom>
          <a:noFill/>
          <a:ln>
            <a:noFill/>
          </a:ln>
        </p:spPr>
        <p:txBody>
          <a:bodyPr spcFirstLastPara="1" wrap="square" lIns="0" tIns="0" rIns="0" bIns="0" anchor="t" anchorCtr="0">
            <a:spAutoFit/>
          </a:bodyPr>
          <a:lstStyle/>
          <a:p>
            <a:pPr marL="0" marR="0" lvl="0" indent="0" algn="just" rtl="0">
              <a:lnSpc>
                <a:spcPct val="140000"/>
              </a:lnSpc>
              <a:spcBef>
                <a:spcPts val="0"/>
              </a:spcBef>
              <a:spcAft>
                <a:spcPts val="0"/>
              </a:spcAft>
              <a:buNone/>
            </a:pPr>
            <a:r>
              <a:rPr lang="en-GB" sz="2000" b="1">
                <a:solidFill>
                  <a:srgbClr val="FDFDFD"/>
                </a:solidFill>
                <a:latin typeface="Montserrat"/>
                <a:ea typeface="Montserrat"/>
                <a:cs typeface="Montserrat"/>
                <a:sym typeface="Montserrat"/>
              </a:rPr>
              <a:t>DTI- SME DEVELOPMENT DIVISION│NC│CARP│TPU│EDU</a:t>
            </a:r>
            <a:endParaRPr/>
          </a:p>
        </p:txBody>
      </p:sp>
      <p:grpSp>
        <p:nvGrpSpPr>
          <p:cNvPr id="427" name="Google Shape;427;p14"/>
          <p:cNvGrpSpPr/>
          <p:nvPr/>
        </p:nvGrpSpPr>
        <p:grpSpPr>
          <a:xfrm>
            <a:off x="1028694" y="9767474"/>
            <a:ext cx="16230606" cy="487347"/>
            <a:chOff x="0" y="0"/>
            <a:chExt cx="21640808" cy="649796"/>
          </a:xfrm>
        </p:grpSpPr>
        <p:sp>
          <p:nvSpPr>
            <p:cNvPr id="428" name="Google Shape;428;p14"/>
            <p:cNvSpPr/>
            <p:nvPr/>
          </p:nvSpPr>
          <p:spPr>
            <a:xfrm>
              <a:off x="0" y="0"/>
              <a:ext cx="21640808" cy="649796"/>
            </a:xfrm>
            <a:prstGeom prst="rect">
              <a:avLst/>
            </a:prstGeom>
            <a:solidFill>
              <a:srgbClr val="1C212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9" name="Google Shape;429;p14"/>
            <p:cNvSpPr txBox="1"/>
            <p:nvPr/>
          </p:nvSpPr>
          <p:spPr>
            <a:xfrm>
              <a:off x="998193" y="85715"/>
              <a:ext cx="19644415" cy="440266"/>
            </a:xfrm>
            <a:prstGeom prst="rect">
              <a:avLst/>
            </a:prstGeom>
            <a:noFill/>
            <a:ln>
              <a:noFill/>
            </a:ln>
          </p:spPr>
          <p:txBody>
            <a:bodyPr spcFirstLastPara="1" wrap="square" lIns="0" tIns="0" rIns="0" bIns="0" anchor="t" anchorCtr="0">
              <a:spAutoFit/>
            </a:bodyPr>
            <a:lstStyle/>
            <a:p>
              <a:pPr marL="0" marR="0" lvl="0" indent="0" algn="just" rtl="0">
                <a:lnSpc>
                  <a:spcPct val="140000"/>
                </a:lnSpc>
                <a:spcBef>
                  <a:spcPts val="0"/>
                </a:spcBef>
                <a:spcAft>
                  <a:spcPts val="0"/>
                </a:spcAft>
                <a:buNone/>
              </a:pPr>
              <a:r>
                <a:rPr lang="en-GB" sz="2000" b="1">
                  <a:solidFill>
                    <a:srgbClr val="FDFDFD"/>
                  </a:solidFill>
                  <a:latin typeface="Montserrat"/>
                  <a:ea typeface="Montserrat"/>
                  <a:cs typeface="Montserrat"/>
                  <a:sym typeface="Montserrat"/>
                </a:rPr>
                <a:t>DTI- SME DEVELOPMENT DIVISION│NC│CARP│TPU│EDU</a:t>
              </a:r>
              <a:endParaRPr/>
            </a:p>
          </p:txBody>
        </p:sp>
      </p:gr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Shape 437"/>
        <p:cNvGrpSpPr/>
        <p:nvPr/>
      </p:nvGrpSpPr>
      <p:grpSpPr>
        <a:xfrm>
          <a:off x="0" y="0"/>
          <a:ext cx="0" cy="0"/>
          <a:chOff x="0" y="0"/>
          <a:chExt cx="0" cy="0"/>
        </a:xfrm>
      </p:grpSpPr>
      <p:sp>
        <p:nvSpPr>
          <p:cNvPr id="438" name="Google Shape;438;p15"/>
          <p:cNvSpPr/>
          <p:nvPr/>
        </p:nvSpPr>
        <p:spPr>
          <a:xfrm>
            <a:off x="1028700" y="453061"/>
            <a:ext cx="1553339" cy="1518126"/>
          </a:xfrm>
          <a:custGeom>
            <a:avLst/>
            <a:gdLst/>
            <a:ahLst/>
            <a:cxnLst/>
            <a:rect l="l" t="t" r="r" b="b"/>
            <a:pathLst>
              <a:path w="1553339" h="1518126" extrusionOk="0">
                <a:moveTo>
                  <a:pt x="0" y="0"/>
                </a:moveTo>
                <a:lnTo>
                  <a:pt x="1553339" y="0"/>
                </a:lnTo>
                <a:lnTo>
                  <a:pt x="1553339" y="1518126"/>
                </a:lnTo>
                <a:lnTo>
                  <a:pt x="0" y="1518126"/>
                </a:lnTo>
                <a:lnTo>
                  <a:pt x="0" y="0"/>
                </a:lnTo>
                <a:close/>
              </a:path>
            </a:pathLst>
          </a:custGeom>
          <a:blipFill rotWithShape="1">
            <a:blip r:embed="rId3">
              <a:alphaModFix/>
            </a:blip>
            <a:stretch>
              <a:fillRect l="-31436" t="-10272" r="-26916" b="-57554"/>
            </a:stretch>
          </a:blipFill>
          <a:ln>
            <a:noFill/>
          </a:ln>
        </p:spPr>
      </p:sp>
      <p:cxnSp>
        <p:nvCxnSpPr>
          <p:cNvPr id="439" name="Google Shape;439;p15"/>
          <p:cNvCxnSpPr/>
          <p:nvPr/>
        </p:nvCxnSpPr>
        <p:spPr>
          <a:xfrm>
            <a:off x="2582039" y="1019175"/>
            <a:ext cx="14677261" cy="9525"/>
          </a:xfrm>
          <a:prstGeom prst="straightConnector1">
            <a:avLst/>
          </a:prstGeom>
          <a:noFill/>
          <a:ln w="19050" cap="flat" cmpd="sng">
            <a:solidFill>
              <a:srgbClr val="1C2120"/>
            </a:solidFill>
            <a:prstDash val="solid"/>
            <a:round/>
            <a:headEnd type="none" w="sm" len="sm"/>
            <a:tailEnd type="none" w="sm" len="sm"/>
          </a:ln>
        </p:spPr>
      </p:cxnSp>
      <p:grpSp>
        <p:nvGrpSpPr>
          <p:cNvPr id="440" name="Google Shape;440;p15"/>
          <p:cNvGrpSpPr/>
          <p:nvPr/>
        </p:nvGrpSpPr>
        <p:grpSpPr>
          <a:xfrm>
            <a:off x="1219200" y="9294057"/>
            <a:ext cx="16230606" cy="487347"/>
            <a:chOff x="0" y="0"/>
            <a:chExt cx="21640808" cy="649796"/>
          </a:xfrm>
        </p:grpSpPr>
        <p:sp>
          <p:nvSpPr>
            <p:cNvPr id="441" name="Google Shape;441;p15"/>
            <p:cNvSpPr/>
            <p:nvPr/>
          </p:nvSpPr>
          <p:spPr>
            <a:xfrm>
              <a:off x="0" y="0"/>
              <a:ext cx="21640808" cy="649796"/>
            </a:xfrm>
            <a:prstGeom prst="rect">
              <a:avLst/>
            </a:prstGeom>
            <a:solidFill>
              <a:srgbClr val="1C212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2" name="Google Shape;442;p15"/>
            <p:cNvSpPr txBox="1"/>
            <p:nvPr/>
          </p:nvSpPr>
          <p:spPr>
            <a:xfrm>
              <a:off x="998196" y="104764"/>
              <a:ext cx="19644415" cy="440267"/>
            </a:xfrm>
            <a:prstGeom prst="rect">
              <a:avLst/>
            </a:prstGeom>
            <a:noFill/>
            <a:ln>
              <a:noFill/>
            </a:ln>
          </p:spPr>
          <p:txBody>
            <a:bodyPr spcFirstLastPara="1" wrap="square" lIns="0" tIns="0" rIns="0" bIns="0" anchor="t" anchorCtr="0">
              <a:spAutoFit/>
            </a:bodyPr>
            <a:lstStyle/>
            <a:p>
              <a:pPr marL="0" marR="0" lvl="0" indent="0" algn="just" rtl="0">
                <a:lnSpc>
                  <a:spcPct val="140000"/>
                </a:lnSpc>
                <a:spcBef>
                  <a:spcPts val="0"/>
                </a:spcBef>
                <a:spcAft>
                  <a:spcPts val="0"/>
                </a:spcAft>
                <a:buNone/>
              </a:pPr>
              <a:r>
                <a:rPr lang="en-GB" sz="2000" b="1">
                  <a:solidFill>
                    <a:srgbClr val="FDFDFD"/>
                  </a:solidFill>
                  <a:latin typeface="Montserrat"/>
                  <a:ea typeface="Montserrat"/>
                  <a:cs typeface="Montserrat"/>
                  <a:sym typeface="Montserrat"/>
                </a:rPr>
                <a:t>DTI- SME DEVELOPMENT DIVISION│NC│CARP│TPU│EDU</a:t>
              </a:r>
              <a:endParaRPr/>
            </a:p>
          </p:txBody>
        </p:sp>
      </p:grpSp>
      <p:sp>
        <p:nvSpPr>
          <p:cNvPr id="443" name="Google Shape;443;p15"/>
          <p:cNvSpPr txBox="1"/>
          <p:nvPr/>
        </p:nvSpPr>
        <p:spPr>
          <a:xfrm>
            <a:off x="2209800" y="2628900"/>
            <a:ext cx="14706600" cy="3693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nvGrpSpPr>
          <p:cNvPr id="444" name="Google Shape;444;p15"/>
          <p:cNvGrpSpPr/>
          <p:nvPr/>
        </p:nvGrpSpPr>
        <p:grpSpPr>
          <a:xfrm>
            <a:off x="-151900" y="2405564"/>
            <a:ext cx="16807233" cy="2074195"/>
            <a:chOff x="457200" y="2525278"/>
            <a:chExt cx="14617527" cy="954838"/>
          </a:xfrm>
        </p:grpSpPr>
        <p:sp>
          <p:nvSpPr>
            <p:cNvPr id="445" name="Google Shape;445;p15"/>
            <p:cNvSpPr/>
            <p:nvPr/>
          </p:nvSpPr>
          <p:spPr>
            <a:xfrm>
              <a:off x="2323450" y="2525278"/>
              <a:ext cx="11697350" cy="715340"/>
            </a:xfrm>
            <a:prstGeom prst="roundRect">
              <a:avLst>
                <a:gd name="adj" fmla="val 16667"/>
              </a:avLst>
            </a:prstGeom>
            <a:solidFill>
              <a:srgbClr val="DAE5F1"/>
            </a:solidFill>
            <a:ln w="25400" cap="flat"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B7CCE4"/>
                </a:solidFill>
                <a:latin typeface="Calibri"/>
                <a:ea typeface="Calibri"/>
                <a:cs typeface="Calibri"/>
                <a:sym typeface="Calibri"/>
              </a:endParaRPr>
            </a:p>
          </p:txBody>
        </p:sp>
        <p:sp>
          <p:nvSpPr>
            <p:cNvPr id="446" name="Google Shape;446;p15"/>
            <p:cNvSpPr txBox="1"/>
            <p:nvPr/>
          </p:nvSpPr>
          <p:spPr>
            <a:xfrm>
              <a:off x="2392256" y="2566564"/>
              <a:ext cx="11531100" cy="7227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3200" b="1">
                  <a:solidFill>
                    <a:schemeClr val="dk1"/>
                  </a:solidFill>
                  <a:latin typeface="Poppins"/>
                  <a:ea typeface="Poppins"/>
                  <a:cs typeface="Poppins"/>
                  <a:sym typeface="Poppins"/>
                </a:rPr>
                <a:t>Facilitated OTOPreneurs in their participation to the DOLE’s TUPAD Project Trade Fairs (April 28, 2023; May 1, 2023 &amp; December 1, 2023)</a:t>
              </a:r>
              <a:endParaRPr sz="3200" b="1">
                <a:solidFill>
                  <a:schemeClr val="dk1"/>
                </a:solidFill>
                <a:latin typeface="Poppins"/>
                <a:ea typeface="Poppins"/>
                <a:cs typeface="Poppins"/>
                <a:sym typeface="Poppins"/>
              </a:endParaRPr>
            </a:p>
          </p:txBody>
        </p:sp>
        <p:sp>
          <p:nvSpPr>
            <p:cNvPr id="447" name="Google Shape;447;p15"/>
            <p:cNvSpPr txBox="1"/>
            <p:nvPr/>
          </p:nvSpPr>
          <p:spPr>
            <a:xfrm>
              <a:off x="457200" y="2628900"/>
              <a:ext cx="2920800" cy="357000"/>
            </a:xfrm>
            <a:prstGeom prst="rect">
              <a:avLst/>
            </a:prstGeom>
            <a:noFill/>
            <a:ln>
              <a:noFill/>
            </a:ln>
          </p:spPr>
          <p:txBody>
            <a:bodyPr spcFirstLastPara="1" wrap="square" lIns="0" tIns="0" rIns="0" bIns="0" anchor="t" anchorCtr="0">
              <a:spAutoFit/>
            </a:bodyPr>
            <a:lstStyle/>
            <a:p>
              <a:pPr marL="0" marR="0" lvl="0" indent="0" algn="ctr" rtl="0">
                <a:lnSpc>
                  <a:spcPct val="93333"/>
                </a:lnSpc>
                <a:spcBef>
                  <a:spcPts val="0"/>
                </a:spcBef>
                <a:spcAft>
                  <a:spcPts val="0"/>
                </a:spcAft>
                <a:buNone/>
              </a:pPr>
              <a:r>
                <a:rPr lang="en-GB" sz="5400" b="1">
                  <a:solidFill>
                    <a:schemeClr val="dk2"/>
                  </a:solidFill>
                  <a:latin typeface="Montserrat"/>
                  <a:ea typeface="Montserrat"/>
                  <a:cs typeface="Montserrat"/>
                  <a:sym typeface="Montserrat"/>
                </a:rPr>
                <a:t>1</a:t>
              </a:r>
              <a:endParaRPr sz="5400" b="1">
                <a:solidFill>
                  <a:schemeClr val="dk2"/>
                </a:solidFill>
                <a:latin typeface="Montserrat"/>
                <a:ea typeface="Montserrat"/>
                <a:cs typeface="Montserrat"/>
                <a:sym typeface="Montserrat"/>
              </a:endParaRPr>
            </a:p>
          </p:txBody>
        </p:sp>
        <p:sp>
          <p:nvSpPr>
            <p:cNvPr id="448" name="Google Shape;448;p15"/>
            <p:cNvSpPr txBox="1"/>
            <p:nvPr/>
          </p:nvSpPr>
          <p:spPr>
            <a:xfrm>
              <a:off x="2340627" y="3267416"/>
              <a:ext cx="12734100" cy="212700"/>
            </a:xfrm>
            <a:prstGeom prst="rect">
              <a:avLst/>
            </a:prstGeom>
            <a:noFill/>
            <a:ln>
              <a:noFill/>
            </a:ln>
          </p:spPr>
          <p:txBody>
            <a:bodyPr spcFirstLastPara="1" wrap="square" lIns="91425" tIns="45700" rIns="91425" bIns="45700" anchor="t" anchorCtr="0">
              <a:spAutoFit/>
            </a:bodyPr>
            <a:lstStyle/>
            <a:p>
              <a:pPr marL="0" lvl="0" indent="0" algn="l" rtl="0">
                <a:spcBef>
                  <a:spcPts val="0"/>
                </a:spcBef>
                <a:spcAft>
                  <a:spcPts val="0"/>
                </a:spcAft>
                <a:buNone/>
              </a:pPr>
              <a:r>
                <a:rPr lang="en-GB" sz="2400">
                  <a:solidFill>
                    <a:schemeClr val="dk1"/>
                  </a:solidFill>
                  <a:latin typeface="Century Gothic"/>
                  <a:ea typeface="Century Gothic"/>
                  <a:cs typeface="Century Gothic"/>
                  <a:sym typeface="Century Gothic"/>
                </a:rPr>
                <a:t>5 DTI assisted Association/Organization; 25 pax worker-beneficiaries</a:t>
              </a:r>
              <a:endParaRPr sz="2400">
                <a:solidFill>
                  <a:schemeClr val="dk1"/>
                </a:solidFill>
                <a:latin typeface="Century Gothic"/>
                <a:ea typeface="Century Gothic"/>
                <a:cs typeface="Century Gothic"/>
                <a:sym typeface="Century Gothic"/>
              </a:endParaRPr>
            </a:p>
          </p:txBody>
        </p:sp>
      </p:grpSp>
      <p:grpSp>
        <p:nvGrpSpPr>
          <p:cNvPr id="449" name="Google Shape;449;p15"/>
          <p:cNvGrpSpPr/>
          <p:nvPr/>
        </p:nvGrpSpPr>
        <p:grpSpPr>
          <a:xfrm>
            <a:off x="-137750" y="5091306"/>
            <a:ext cx="15581864" cy="2106112"/>
            <a:chOff x="457200" y="2525278"/>
            <a:chExt cx="13563600" cy="1401645"/>
          </a:xfrm>
        </p:grpSpPr>
        <p:sp>
          <p:nvSpPr>
            <p:cNvPr id="450" name="Google Shape;450;p15"/>
            <p:cNvSpPr/>
            <p:nvPr/>
          </p:nvSpPr>
          <p:spPr>
            <a:xfrm>
              <a:off x="2323450" y="2525278"/>
              <a:ext cx="11697350" cy="744823"/>
            </a:xfrm>
            <a:prstGeom prst="roundRect">
              <a:avLst>
                <a:gd name="adj" fmla="val 16667"/>
              </a:avLst>
            </a:prstGeom>
            <a:solidFill>
              <a:srgbClr val="DAE5F1"/>
            </a:solidFill>
            <a:ln w="25400" cap="flat"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B7CCE4"/>
                </a:solidFill>
                <a:latin typeface="Calibri"/>
                <a:ea typeface="Calibri"/>
                <a:cs typeface="Calibri"/>
                <a:sym typeface="Calibri"/>
              </a:endParaRPr>
            </a:p>
          </p:txBody>
        </p:sp>
        <p:sp>
          <p:nvSpPr>
            <p:cNvPr id="451" name="Google Shape;451;p15"/>
            <p:cNvSpPr txBox="1"/>
            <p:nvPr/>
          </p:nvSpPr>
          <p:spPr>
            <a:xfrm>
              <a:off x="2473622" y="2566564"/>
              <a:ext cx="11435400" cy="7170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3200" b="1">
                  <a:solidFill>
                    <a:schemeClr val="dk1"/>
                  </a:solidFill>
                  <a:latin typeface="Poppins"/>
                  <a:ea typeface="Poppins"/>
                  <a:cs typeface="Poppins"/>
                  <a:sym typeface="Poppins"/>
                </a:rPr>
                <a:t>Conduct of DTI-EMB’s Usapang Export - Export Opportunities for Caraga Businesses (August 15, 2023/ Pavilion Hotel)</a:t>
              </a:r>
              <a:endParaRPr sz="3200" b="1">
                <a:solidFill>
                  <a:schemeClr val="dk1"/>
                </a:solidFill>
                <a:latin typeface="Poppins"/>
                <a:ea typeface="Poppins"/>
                <a:cs typeface="Poppins"/>
                <a:sym typeface="Poppins"/>
              </a:endParaRPr>
            </a:p>
          </p:txBody>
        </p:sp>
        <p:sp>
          <p:nvSpPr>
            <p:cNvPr id="452" name="Google Shape;452;p15"/>
            <p:cNvSpPr txBox="1"/>
            <p:nvPr/>
          </p:nvSpPr>
          <p:spPr>
            <a:xfrm>
              <a:off x="457200" y="2628900"/>
              <a:ext cx="2920800" cy="516300"/>
            </a:xfrm>
            <a:prstGeom prst="rect">
              <a:avLst/>
            </a:prstGeom>
            <a:noFill/>
            <a:ln>
              <a:noFill/>
            </a:ln>
          </p:spPr>
          <p:txBody>
            <a:bodyPr spcFirstLastPara="1" wrap="square" lIns="0" tIns="0" rIns="0" bIns="0" anchor="t" anchorCtr="0">
              <a:spAutoFit/>
            </a:bodyPr>
            <a:lstStyle/>
            <a:p>
              <a:pPr marL="0" marR="0" lvl="0" indent="0" algn="ctr" rtl="0">
                <a:lnSpc>
                  <a:spcPct val="93333"/>
                </a:lnSpc>
                <a:spcBef>
                  <a:spcPts val="0"/>
                </a:spcBef>
                <a:spcAft>
                  <a:spcPts val="0"/>
                </a:spcAft>
                <a:buNone/>
              </a:pPr>
              <a:r>
                <a:rPr lang="en-GB" sz="5400" b="1">
                  <a:solidFill>
                    <a:schemeClr val="dk2"/>
                  </a:solidFill>
                  <a:latin typeface="Montserrat"/>
                  <a:ea typeface="Montserrat"/>
                  <a:cs typeface="Montserrat"/>
                  <a:sym typeface="Montserrat"/>
                </a:rPr>
                <a:t>2</a:t>
              </a:r>
              <a:endParaRPr sz="5400" b="1">
                <a:solidFill>
                  <a:schemeClr val="dk2"/>
                </a:solidFill>
                <a:latin typeface="Montserrat"/>
                <a:ea typeface="Montserrat"/>
                <a:cs typeface="Montserrat"/>
                <a:sym typeface="Montserrat"/>
              </a:endParaRPr>
            </a:p>
          </p:txBody>
        </p:sp>
        <p:sp>
          <p:nvSpPr>
            <p:cNvPr id="453" name="Google Shape;453;p15"/>
            <p:cNvSpPr txBox="1"/>
            <p:nvPr/>
          </p:nvSpPr>
          <p:spPr>
            <a:xfrm>
              <a:off x="2501474" y="3373723"/>
              <a:ext cx="11515800" cy="5532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2400">
                  <a:solidFill>
                    <a:schemeClr val="dk1"/>
                  </a:solidFill>
                  <a:latin typeface="Century Gothic"/>
                  <a:ea typeface="Century Gothic"/>
                  <a:cs typeface="Century Gothic"/>
                  <a:sym typeface="Century Gothic"/>
                </a:rPr>
                <a:t>Record attendance of 141 participants representing Exports and Would-be exporters, RLAs, LGUs, Chambers and Media.</a:t>
              </a:r>
              <a:endParaRPr sz="2400">
                <a:solidFill>
                  <a:schemeClr val="dk1"/>
                </a:solidFill>
                <a:latin typeface="Century Gothic"/>
                <a:ea typeface="Century Gothic"/>
                <a:cs typeface="Century Gothic"/>
                <a:sym typeface="Century Gothic"/>
              </a:endParaRPr>
            </a:p>
          </p:txBody>
        </p:sp>
      </p:grpSp>
      <p:pic>
        <p:nvPicPr>
          <p:cNvPr id="454" name="Google Shape;454;p15"/>
          <p:cNvPicPr preferRelativeResize="0"/>
          <p:nvPr/>
        </p:nvPicPr>
        <p:blipFill rotWithShape="1">
          <a:blip r:embed="rId4">
            <a:alphaModFix/>
          </a:blip>
          <a:srcRect t="21555" b="25110"/>
          <a:stretch/>
        </p:blipFill>
        <p:spPr>
          <a:xfrm>
            <a:off x="2582039" y="743841"/>
            <a:ext cx="2143125" cy="1143000"/>
          </a:xfrm>
          <a:prstGeom prst="rect">
            <a:avLst/>
          </a:prstGeom>
          <a:noFill/>
          <a:ln>
            <a:noFill/>
          </a:ln>
        </p:spPr>
      </p:pic>
      <p:sp>
        <p:nvSpPr>
          <p:cNvPr id="455" name="Google Shape;455;p15"/>
          <p:cNvSpPr txBox="1"/>
          <p:nvPr/>
        </p:nvSpPr>
        <p:spPr>
          <a:xfrm>
            <a:off x="4572000" y="1381330"/>
            <a:ext cx="9838329" cy="438150"/>
          </a:xfrm>
          <a:prstGeom prst="rect">
            <a:avLst/>
          </a:prstGeom>
          <a:noFill/>
          <a:ln>
            <a:noFill/>
          </a:ln>
        </p:spPr>
        <p:txBody>
          <a:bodyPr spcFirstLastPara="1" wrap="square" lIns="0" tIns="0" rIns="0" bIns="0" anchor="t" anchorCtr="0">
            <a:spAutoFit/>
          </a:bodyPr>
          <a:lstStyle/>
          <a:p>
            <a:pPr marL="0" marR="0" lvl="0" indent="0" algn="ctr" rtl="0">
              <a:lnSpc>
                <a:spcPct val="110000"/>
              </a:lnSpc>
              <a:spcBef>
                <a:spcPts val="0"/>
              </a:spcBef>
              <a:spcAft>
                <a:spcPts val="0"/>
              </a:spcAft>
              <a:buNone/>
            </a:pPr>
            <a:r>
              <a:rPr lang="en-GB" sz="3000" b="1">
                <a:solidFill>
                  <a:srgbClr val="1C2120"/>
                </a:solidFill>
                <a:latin typeface="Montserrat"/>
                <a:ea typeface="Montserrat"/>
                <a:cs typeface="Montserrat"/>
                <a:sym typeface="Montserrat"/>
              </a:rPr>
              <a:t>TRADE PROMOTION UNIT</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Shape 463"/>
        <p:cNvGrpSpPr/>
        <p:nvPr/>
      </p:nvGrpSpPr>
      <p:grpSpPr>
        <a:xfrm>
          <a:off x="0" y="0"/>
          <a:ext cx="0" cy="0"/>
          <a:chOff x="0" y="0"/>
          <a:chExt cx="0" cy="0"/>
        </a:xfrm>
      </p:grpSpPr>
      <p:sp>
        <p:nvSpPr>
          <p:cNvPr id="464" name="Google Shape;464;p16"/>
          <p:cNvSpPr/>
          <p:nvPr/>
        </p:nvSpPr>
        <p:spPr>
          <a:xfrm>
            <a:off x="1028700" y="453061"/>
            <a:ext cx="1553339" cy="1518126"/>
          </a:xfrm>
          <a:custGeom>
            <a:avLst/>
            <a:gdLst/>
            <a:ahLst/>
            <a:cxnLst/>
            <a:rect l="l" t="t" r="r" b="b"/>
            <a:pathLst>
              <a:path w="1553339" h="1518126" extrusionOk="0">
                <a:moveTo>
                  <a:pt x="0" y="0"/>
                </a:moveTo>
                <a:lnTo>
                  <a:pt x="1553339" y="0"/>
                </a:lnTo>
                <a:lnTo>
                  <a:pt x="1553339" y="1518126"/>
                </a:lnTo>
                <a:lnTo>
                  <a:pt x="0" y="1518126"/>
                </a:lnTo>
                <a:lnTo>
                  <a:pt x="0" y="0"/>
                </a:lnTo>
                <a:close/>
              </a:path>
            </a:pathLst>
          </a:custGeom>
          <a:blipFill rotWithShape="1">
            <a:blip r:embed="rId3">
              <a:alphaModFix/>
            </a:blip>
            <a:stretch>
              <a:fillRect l="-31436" t="-10272" r="-26916" b="-57554"/>
            </a:stretch>
          </a:blipFill>
          <a:ln>
            <a:noFill/>
          </a:ln>
        </p:spPr>
      </p:sp>
      <p:cxnSp>
        <p:nvCxnSpPr>
          <p:cNvPr id="465" name="Google Shape;465;p16"/>
          <p:cNvCxnSpPr/>
          <p:nvPr/>
        </p:nvCxnSpPr>
        <p:spPr>
          <a:xfrm>
            <a:off x="2582039" y="1019175"/>
            <a:ext cx="14677261" cy="9525"/>
          </a:xfrm>
          <a:prstGeom prst="straightConnector1">
            <a:avLst/>
          </a:prstGeom>
          <a:noFill/>
          <a:ln w="19050" cap="flat" cmpd="sng">
            <a:solidFill>
              <a:srgbClr val="1C2120"/>
            </a:solidFill>
            <a:prstDash val="solid"/>
            <a:round/>
            <a:headEnd type="none" w="sm" len="sm"/>
            <a:tailEnd type="none" w="sm" len="sm"/>
          </a:ln>
        </p:spPr>
      </p:cxnSp>
      <p:grpSp>
        <p:nvGrpSpPr>
          <p:cNvPr id="466" name="Google Shape;466;p16"/>
          <p:cNvGrpSpPr/>
          <p:nvPr/>
        </p:nvGrpSpPr>
        <p:grpSpPr>
          <a:xfrm>
            <a:off x="1219200" y="9294057"/>
            <a:ext cx="16230606" cy="487347"/>
            <a:chOff x="0" y="0"/>
            <a:chExt cx="21640808" cy="649796"/>
          </a:xfrm>
        </p:grpSpPr>
        <p:sp>
          <p:nvSpPr>
            <p:cNvPr id="467" name="Google Shape;467;p16"/>
            <p:cNvSpPr/>
            <p:nvPr/>
          </p:nvSpPr>
          <p:spPr>
            <a:xfrm>
              <a:off x="0" y="0"/>
              <a:ext cx="21640808" cy="649796"/>
            </a:xfrm>
            <a:prstGeom prst="rect">
              <a:avLst/>
            </a:prstGeom>
            <a:solidFill>
              <a:srgbClr val="1C212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8" name="Google Shape;468;p16"/>
            <p:cNvSpPr txBox="1"/>
            <p:nvPr/>
          </p:nvSpPr>
          <p:spPr>
            <a:xfrm>
              <a:off x="998196" y="104764"/>
              <a:ext cx="19644415" cy="440267"/>
            </a:xfrm>
            <a:prstGeom prst="rect">
              <a:avLst/>
            </a:prstGeom>
            <a:noFill/>
            <a:ln>
              <a:noFill/>
            </a:ln>
          </p:spPr>
          <p:txBody>
            <a:bodyPr spcFirstLastPara="1" wrap="square" lIns="0" tIns="0" rIns="0" bIns="0" anchor="t" anchorCtr="0">
              <a:spAutoFit/>
            </a:bodyPr>
            <a:lstStyle/>
            <a:p>
              <a:pPr marL="0" marR="0" lvl="0" indent="0" algn="just" rtl="0">
                <a:lnSpc>
                  <a:spcPct val="140000"/>
                </a:lnSpc>
                <a:spcBef>
                  <a:spcPts val="0"/>
                </a:spcBef>
                <a:spcAft>
                  <a:spcPts val="0"/>
                </a:spcAft>
                <a:buNone/>
              </a:pPr>
              <a:r>
                <a:rPr lang="en-GB" sz="2000" b="1">
                  <a:solidFill>
                    <a:srgbClr val="FDFDFD"/>
                  </a:solidFill>
                  <a:latin typeface="Montserrat"/>
                  <a:ea typeface="Montserrat"/>
                  <a:cs typeface="Montserrat"/>
                  <a:sym typeface="Montserrat"/>
                </a:rPr>
                <a:t>DTI- SME DEVELOPMENT DIVISION│NC│CARP│TPU│EDU</a:t>
              </a:r>
              <a:endParaRPr/>
            </a:p>
          </p:txBody>
        </p:sp>
      </p:grpSp>
      <p:sp>
        <p:nvSpPr>
          <p:cNvPr id="469" name="Google Shape;469;p16"/>
          <p:cNvSpPr txBox="1"/>
          <p:nvPr/>
        </p:nvSpPr>
        <p:spPr>
          <a:xfrm>
            <a:off x="2209800" y="2628900"/>
            <a:ext cx="14706600"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nvGrpSpPr>
          <p:cNvPr id="470" name="Google Shape;470;p16"/>
          <p:cNvGrpSpPr/>
          <p:nvPr/>
        </p:nvGrpSpPr>
        <p:grpSpPr>
          <a:xfrm>
            <a:off x="-56524" y="2628691"/>
            <a:ext cx="16093440" cy="1106750"/>
            <a:chOff x="457200" y="2525278"/>
            <a:chExt cx="13996289" cy="1547221"/>
          </a:xfrm>
        </p:grpSpPr>
        <p:sp>
          <p:nvSpPr>
            <p:cNvPr id="471" name="Google Shape;471;p16"/>
            <p:cNvSpPr/>
            <p:nvPr/>
          </p:nvSpPr>
          <p:spPr>
            <a:xfrm>
              <a:off x="2323450" y="2525278"/>
              <a:ext cx="12130039" cy="1547221"/>
            </a:xfrm>
            <a:prstGeom prst="roundRect">
              <a:avLst>
                <a:gd name="adj" fmla="val 16667"/>
              </a:avLst>
            </a:prstGeom>
            <a:solidFill>
              <a:srgbClr val="DAE5F1"/>
            </a:solidFill>
            <a:ln w="25400" cap="flat"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B7CCE4"/>
                </a:solidFill>
                <a:latin typeface="Calibri"/>
                <a:ea typeface="Calibri"/>
                <a:cs typeface="Calibri"/>
                <a:sym typeface="Calibri"/>
              </a:endParaRPr>
            </a:p>
          </p:txBody>
        </p:sp>
        <p:sp>
          <p:nvSpPr>
            <p:cNvPr id="472" name="Google Shape;472;p16"/>
            <p:cNvSpPr txBox="1"/>
            <p:nvPr/>
          </p:nvSpPr>
          <p:spPr>
            <a:xfrm>
              <a:off x="2473622" y="2566563"/>
              <a:ext cx="11756153" cy="1505935"/>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n-GB" sz="3200" b="1">
                  <a:solidFill>
                    <a:schemeClr val="dk1"/>
                  </a:solidFill>
                  <a:latin typeface="Poppins"/>
                  <a:ea typeface="Poppins"/>
                  <a:cs typeface="Poppins"/>
                  <a:sym typeface="Poppins"/>
                </a:rPr>
                <a:t>Facilitated the participation of Regional MSMED Council members to the National MSME Summit last July 19, 2023. </a:t>
              </a:r>
              <a:endParaRPr sz="3200" b="1">
                <a:solidFill>
                  <a:schemeClr val="dk1"/>
                </a:solidFill>
                <a:latin typeface="Poppins"/>
                <a:ea typeface="Poppins"/>
                <a:cs typeface="Poppins"/>
                <a:sym typeface="Poppins"/>
              </a:endParaRPr>
            </a:p>
          </p:txBody>
        </p:sp>
        <p:sp>
          <p:nvSpPr>
            <p:cNvPr id="473" name="Google Shape;473;p16"/>
            <p:cNvSpPr txBox="1"/>
            <p:nvPr/>
          </p:nvSpPr>
          <p:spPr>
            <a:xfrm>
              <a:off x="457200" y="2628900"/>
              <a:ext cx="2920884" cy="641201"/>
            </a:xfrm>
            <a:prstGeom prst="rect">
              <a:avLst/>
            </a:prstGeom>
            <a:noFill/>
            <a:ln>
              <a:noFill/>
            </a:ln>
          </p:spPr>
          <p:txBody>
            <a:bodyPr spcFirstLastPara="1" wrap="square" lIns="0" tIns="0" rIns="0" bIns="0" anchor="t" anchorCtr="0">
              <a:spAutoFit/>
            </a:bodyPr>
            <a:lstStyle/>
            <a:p>
              <a:pPr marL="0" marR="0" lvl="0" indent="0" algn="ctr" rtl="0">
                <a:lnSpc>
                  <a:spcPct val="93333"/>
                </a:lnSpc>
                <a:spcBef>
                  <a:spcPts val="0"/>
                </a:spcBef>
                <a:spcAft>
                  <a:spcPts val="0"/>
                </a:spcAft>
                <a:buNone/>
              </a:pPr>
              <a:r>
                <a:rPr lang="en-GB" sz="5400" b="1">
                  <a:solidFill>
                    <a:schemeClr val="dk2"/>
                  </a:solidFill>
                  <a:latin typeface="Montserrat"/>
                  <a:ea typeface="Montserrat"/>
                  <a:cs typeface="Montserrat"/>
                  <a:sym typeface="Montserrat"/>
                </a:rPr>
                <a:t>1</a:t>
              </a:r>
              <a:endParaRPr/>
            </a:p>
          </p:txBody>
        </p:sp>
      </p:grpSp>
      <p:pic>
        <p:nvPicPr>
          <p:cNvPr id="474" name="Google Shape;474;p16"/>
          <p:cNvPicPr preferRelativeResize="0"/>
          <p:nvPr/>
        </p:nvPicPr>
        <p:blipFill rotWithShape="1">
          <a:blip r:embed="rId4">
            <a:alphaModFix/>
          </a:blip>
          <a:srcRect/>
          <a:stretch/>
        </p:blipFill>
        <p:spPr>
          <a:xfrm>
            <a:off x="2580025" y="831615"/>
            <a:ext cx="1822571" cy="1069905"/>
          </a:xfrm>
          <a:prstGeom prst="rect">
            <a:avLst/>
          </a:prstGeom>
          <a:noFill/>
          <a:ln>
            <a:noFill/>
          </a:ln>
        </p:spPr>
      </p:pic>
      <p:pic>
        <p:nvPicPr>
          <p:cNvPr id="475" name="Google Shape;475;p16"/>
          <p:cNvPicPr preferRelativeResize="0"/>
          <p:nvPr/>
        </p:nvPicPr>
        <p:blipFill rotWithShape="1">
          <a:blip r:embed="rId5">
            <a:alphaModFix/>
          </a:blip>
          <a:srcRect/>
          <a:stretch/>
        </p:blipFill>
        <p:spPr>
          <a:xfrm>
            <a:off x="13411200" y="702288"/>
            <a:ext cx="2368483" cy="1199232"/>
          </a:xfrm>
          <a:prstGeom prst="rect">
            <a:avLst/>
          </a:prstGeom>
          <a:noFill/>
          <a:ln>
            <a:noFill/>
          </a:ln>
        </p:spPr>
      </p:pic>
      <p:pic>
        <p:nvPicPr>
          <p:cNvPr id="476" name="Google Shape;476;p16"/>
          <p:cNvPicPr preferRelativeResize="0"/>
          <p:nvPr/>
        </p:nvPicPr>
        <p:blipFill rotWithShape="1">
          <a:blip r:embed="rId6">
            <a:alphaModFix/>
          </a:blip>
          <a:srcRect/>
          <a:stretch/>
        </p:blipFill>
        <p:spPr>
          <a:xfrm>
            <a:off x="15900404" y="569177"/>
            <a:ext cx="1516310" cy="1516310"/>
          </a:xfrm>
          <a:prstGeom prst="rect">
            <a:avLst/>
          </a:prstGeom>
          <a:noFill/>
          <a:ln>
            <a:noFill/>
          </a:ln>
        </p:spPr>
      </p:pic>
      <p:sp>
        <p:nvSpPr>
          <p:cNvPr id="477" name="Google Shape;477;p16"/>
          <p:cNvSpPr txBox="1"/>
          <p:nvPr/>
        </p:nvSpPr>
        <p:spPr>
          <a:xfrm>
            <a:off x="4110215" y="1371212"/>
            <a:ext cx="9838329" cy="438150"/>
          </a:xfrm>
          <a:prstGeom prst="rect">
            <a:avLst/>
          </a:prstGeom>
          <a:noFill/>
          <a:ln>
            <a:noFill/>
          </a:ln>
        </p:spPr>
        <p:txBody>
          <a:bodyPr spcFirstLastPara="1" wrap="square" lIns="0" tIns="0" rIns="0" bIns="0" anchor="t" anchorCtr="0">
            <a:spAutoFit/>
          </a:bodyPr>
          <a:lstStyle/>
          <a:p>
            <a:pPr marL="0" marR="0" lvl="0" indent="0" algn="ctr" rtl="0">
              <a:lnSpc>
                <a:spcPct val="110000"/>
              </a:lnSpc>
              <a:spcBef>
                <a:spcPts val="0"/>
              </a:spcBef>
              <a:spcAft>
                <a:spcPts val="0"/>
              </a:spcAft>
              <a:buNone/>
            </a:pPr>
            <a:r>
              <a:rPr lang="en-GB" sz="3000" b="1">
                <a:solidFill>
                  <a:srgbClr val="1C2120"/>
                </a:solidFill>
                <a:latin typeface="Montserrat"/>
                <a:ea typeface="Montserrat"/>
                <a:cs typeface="Montserrat"/>
                <a:sym typeface="Montserrat"/>
              </a:rPr>
              <a:t>ENTERPRISE DEVELOPMENT UNIT</a:t>
            </a:r>
            <a:endParaRPr/>
          </a:p>
        </p:txBody>
      </p:sp>
      <p:sp>
        <p:nvSpPr>
          <p:cNvPr id="478" name="Google Shape;478;p16"/>
          <p:cNvSpPr txBox="1"/>
          <p:nvPr/>
        </p:nvSpPr>
        <p:spPr>
          <a:xfrm>
            <a:off x="2554027" y="3837648"/>
            <a:ext cx="13346378" cy="83099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2400">
                <a:solidFill>
                  <a:schemeClr val="dk1"/>
                </a:solidFill>
                <a:latin typeface="Century Gothic"/>
                <a:ea typeface="Century Gothic"/>
                <a:cs typeface="Century Gothic"/>
                <a:sym typeface="Century Gothic"/>
              </a:rPr>
              <a:t>4 delegates attended the summit and the provincial MSMED Council were well represented.</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Shape 482"/>
        <p:cNvGrpSpPr/>
        <p:nvPr/>
      </p:nvGrpSpPr>
      <p:grpSpPr>
        <a:xfrm>
          <a:off x="0" y="0"/>
          <a:ext cx="0" cy="0"/>
          <a:chOff x="0" y="0"/>
          <a:chExt cx="0" cy="0"/>
        </a:xfrm>
      </p:grpSpPr>
      <p:sp>
        <p:nvSpPr>
          <p:cNvPr id="483" name="Google Shape;483;p17"/>
          <p:cNvSpPr/>
          <p:nvPr/>
        </p:nvSpPr>
        <p:spPr>
          <a:xfrm>
            <a:off x="1058777" y="429656"/>
            <a:ext cx="1553339" cy="1518126"/>
          </a:xfrm>
          <a:custGeom>
            <a:avLst/>
            <a:gdLst/>
            <a:ahLst/>
            <a:cxnLst/>
            <a:rect l="l" t="t" r="r" b="b"/>
            <a:pathLst>
              <a:path w="1553339" h="1518126" extrusionOk="0">
                <a:moveTo>
                  <a:pt x="0" y="0"/>
                </a:moveTo>
                <a:lnTo>
                  <a:pt x="1553339" y="0"/>
                </a:lnTo>
                <a:lnTo>
                  <a:pt x="1553339" y="1518126"/>
                </a:lnTo>
                <a:lnTo>
                  <a:pt x="0" y="1518126"/>
                </a:lnTo>
                <a:lnTo>
                  <a:pt x="0" y="0"/>
                </a:lnTo>
                <a:close/>
              </a:path>
            </a:pathLst>
          </a:custGeom>
          <a:blipFill rotWithShape="1">
            <a:blip r:embed="rId3">
              <a:alphaModFix/>
            </a:blip>
            <a:stretch>
              <a:fillRect l="-31436" t="-10272" r="-26916" b="-57554"/>
            </a:stretch>
          </a:blipFill>
          <a:ln>
            <a:noFill/>
          </a:ln>
        </p:spPr>
      </p:sp>
      <p:cxnSp>
        <p:nvCxnSpPr>
          <p:cNvPr id="484" name="Google Shape;484;p17"/>
          <p:cNvCxnSpPr/>
          <p:nvPr/>
        </p:nvCxnSpPr>
        <p:spPr>
          <a:xfrm>
            <a:off x="2582039" y="1019175"/>
            <a:ext cx="14677261" cy="9525"/>
          </a:xfrm>
          <a:prstGeom prst="straightConnector1">
            <a:avLst/>
          </a:prstGeom>
          <a:noFill/>
          <a:ln w="19050" cap="flat" cmpd="sng">
            <a:solidFill>
              <a:srgbClr val="1C2120"/>
            </a:solidFill>
            <a:prstDash val="solid"/>
            <a:round/>
            <a:headEnd type="none" w="sm" len="sm"/>
            <a:tailEnd type="none" w="sm" len="sm"/>
          </a:ln>
        </p:spPr>
      </p:cxnSp>
      <p:pic>
        <p:nvPicPr>
          <p:cNvPr id="485" name="Google Shape;485;p17" descr="Coffins, ceramics products to be displayed in Go Negosyo Center - iOrbit  News Online"/>
          <p:cNvPicPr preferRelativeResize="0"/>
          <p:nvPr/>
        </p:nvPicPr>
        <p:blipFill rotWithShape="1">
          <a:blip r:embed="rId4">
            <a:alphaModFix/>
          </a:blip>
          <a:srcRect t="23333" b="24667"/>
          <a:stretch/>
        </p:blipFill>
        <p:spPr>
          <a:xfrm>
            <a:off x="7848600" y="1114762"/>
            <a:ext cx="2834847" cy="982746"/>
          </a:xfrm>
          <a:prstGeom prst="rect">
            <a:avLst/>
          </a:prstGeom>
          <a:noFill/>
          <a:ln>
            <a:noFill/>
          </a:ln>
        </p:spPr>
      </p:pic>
      <p:grpSp>
        <p:nvGrpSpPr>
          <p:cNvPr id="486" name="Google Shape;486;p17"/>
          <p:cNvGrpSpPr/>
          <p:nvPr/>
        </p:nvGrpSpPr>
        <p:grpSpPr>
          <a:xfrm>
            <a:off x="1065269" y="9428327"/>
            <a:ext cx="16230606" cy="515773"/>
            <a:chOff x="0" y="85715"/>
            <a:chExt cx="21640808" cy="687697"/>
          </a:xfrm>
        </p:grpSpPr>
        <p:sp>
          <p:nvSpPr>
            <p:cNvPr id="487" name="Google Shape;487;p17"/>
            <p:cNvSpPr/>
            <p:nvPr/>
          </p:nvSpPr>
          <p:spPr>
            <a:xfrm>
              <a:off x="0" y="123616"/>
              <a:ext cx="21640808" cy="649796"/>
            </a:xfrm>
            <a:prstGeom prst="rect">
              <a:avLst/>
            </a:prstGeom>
            <a:solidFill>
              <a:srgbClr val="1C212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8" name="Google Shape;488;p17"/>
            <p:cNvSpPr txBox="1"/>
            <p:nvPr/>
          </p:nvSpPr>
          <p:spPr>
            <a:xfrm>
              <a:off x="998193" y="85715"/>
              <a:ext cx="19644415" cy="440266"/>
            </a:xfrm>
            <a:prstGeom prst="rect">
              <a:avLst/>
            </a:prstGeom>
            <a:noFill/>
            <a:ln>
              <a:noFill/>
            </a:ln>
          </p:spPr>
          <p:txBody>
            <a:bodyPr spcFirstLastPara="1" wrap="square" lIns="0" tIns="0" rIns="0" bIns="0" anchor="t" anchorCtr="0">
              <a:spAutoFit/>
            </a:bodyPr>
            <a:lstStyle/>
            <a:p>
              <a:pPr marL="0" marR="0" lvl="0" indent="0" algn="just" rtl="0">
                <a:lnSpc>
                  <a:spcPct val="140000"/>
                </a:lnSpc>
                <a:spcBef>
                  <a:spcPts val="0"/>
                </a:spcBef>
                <a:spcAft>
                  <a:spcPts val="0"/>
                </a:spcAft>
                <a:buNone/>
              </a:pPr>
              <a:r>
                <a:rPr lang="en-GB" sz="2000" b="1">
                  <a:solidFill>
                    <a:srgbClr val="FDFDFD"/>
                  </a:solidFill>
                  <a:latin typeface="Montserrat"/>
                  <a:ea typeface="Montserrat"/>
                  <a:cs typeface="Montserrat"/>
                  <a:sym typeface="Montserrat"/>
                </a:rPr>
                <a:t>DTI- SME DEVELOPMENT DIVISION│NC│CARP│TPU│EDU</a:t>
              </a:r>
              <a:endParaRPr/>
            </a:p>
          </p:txBody>
        </p:sp>
      </p:grpSp>
      <p:grpSp>
        <p:nvGrpSpPr>
          <p:cNvPr id="489" name="Google Shape;489;p17"/>
          <p:cNvGrpSpPr/>
          <p:nvPr/>
        </p:nvGrpSpPr>
        <p:grpSpPr>
          <a:xfrm>
            <a:off x="-483956" y="2537946"/>
            <a:ext cx="17643463" cy="1716903"/>
            <a:chOff x="457200" y="2853725"/>
            <a:chExt cx="13524673" cy="1716903"/>
          </a:xfrm>
        </p:grpSpPr>
        <p:sp>
          <p:nvSpPr>
            <p:cNvPr id="490" name="Google Shape;490;p17"/>
            <p:cNvSpPr/>
            <p:nvPr/>
          </p:nvSpPr>
          <p:spPr>
            <a:xfrm>
              <a:off x="2270173" y="2853728"/>
              <a:ext cx="11711700" cy="1716900"/>
            </a:xfrm>
            <a:prstGeom prst="roundRect">
              <a:avLst>
                <a:gd name="adj" fmla="val 16667"/>
              </a:avLst>
            </a:prstGeom>
            <a:solidFill>
              <a:srgbClr val="DAE5F1"/>
            </a:solidFill>
            <a:ln w="25400" cap="flat"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B7CCE4"/>
                </a:solidFill>
                <a:latin typeface="Calibri"/>
                <a:ea typeface="Calibri"/>
                <a:cs typeface="Calibri"/>
                <a:sym typeface="Calibri"/>
              </a:endParaRPr>
            </a:p>
          </p:txBody>
        </p:sp>
        <p:sp>
          <p:nvSpPr>
            <p:cNvPr id="491" name="Google Shape;491;p17"/>
            <p:cNvSpPr txBox="1"/>
            <p:nvPr/>
          </p:nvSpPr>
          <p:spPr>
            <a:xfrm>
              <a:off x="2485533" y="2999327"/>
              <a:ext cx="11387400" cy="15699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3200" b="1">
                  <a:solidFill>
                    <a:schemeClr val="dk1"/>
                  </a:solidFill>
                  <a:latin typeface="Poppins"/>
                  <a:ea typeface="Poppins"/>
                  <a:cs typeface="Poppins"/>
                  <a:sym typeface="Poppins"/>
                </a:rPr>
                <a:t>Represented DTI Caraga as one of the member of the panel of judges to the Department of Agriculture Caraga's Young Farmers Challenge Regional Pitching Competitions: (Upscale, Intercollegiate, Start Up)</a:t>
              </a:r>
              <a:endParaRPr sz="3200" b="1">
                <a:solidFill>
                  <a:schemeClr val="dk1"/>
                </a:solidFill>
                <a:latin typeface="Poppins"/>
                <a:ea typeface="Poppins"/>
                <a:cs typeface="Poppins"/>
                <a:sym typeface="Poppins"/>
              </a:endParaRPr>
            </a:p>
          </p:txBody>
        </p:sp>
        <p:sp>
          <p:nvSpPr>
            <p:cNvPr id="492" name="Google Shape;492;p17"/>
            <p:cNvSpPr txBox="1"/>
            <p:nvPr/>
          </p:nvSpPr>
          <p:spPr>
            <a:xfrm>
              <a:off x="457200" y="2853725"/>
              <a:ext cx="2920800" cy="775800"/>
            </a:xfrm>
            <a:prstGeom prst="rect">
              <a:avLst/>
            </a:prstGeom>
            <a:noFill/>
            <a:ln>
              <a:noFill/>
            </a:ln>
          </p:spPr>
          <p:txBody>
            <a:bodyPr spcFirstLastPara="1" wrap="square" lIns="0" tIns="0" rIns="0" bIns="0" anchor="t" anchorCtr="0">
              <a:spAutoFit/>
            </a:bodyPr>
            <a:lstStyle/>
            <a:p>
              <a:pPr marL="0" marR="0" lvl="0" indent="0" algn="ctr" rtl="0">
                <a:lnSpc>
                  <a:spcPct val="93333"/>
                </a:lnSpc>
                <a:spcBef>
                  <a:spcPts val="0"/>
                </a:spcBef>
                <a:spcAft>
                  <a:spcPts val="0"/>
                </a:spcAft>
                <a:buNone/>
              </a:pPr>
              <a:r>
                <a:rPr lang="en-GB" sz="5400" b="1">
                  <a:solidFill>
                    <a:schemeClr val="dk2"/>
                  </a:solidFill>
                  <a:latin typeface="Montserrat"/>
                  <a:ea typeface="Montserrat"/>
                  <a:cs typeface="Montserrat"/>
                  <a:sym typeface="Montserrat"/>
                </a:rPr>
                <a:t>1</a:t>
              </a:r>
              <a:endParaRPr/>
            </a:p>
          </p:txBody>
        </p:sp>
      </p:grpSp>
      <p:grpSp>
        <p:nvGrpSpPr>
          <p:cNvPr id="493" name="Google Shape;493;p17"/>
          <p:cNvGrpSpPr/>
          <p:nvPr/>
        </p:nvGrpSpPr>
        <p:grpSpPr>
          <a:xfrm>
            <a:off x="-483985" y="4296469"/>
            <a:ext cx="17565515" cy="1569900"/>
            <a:chOff x="318168" y="2682102"/>
            <a:chExt cx="13552592" cy="1569900"/>
          </a:xfrm>
        </p:grpSpPr>
        <p:sp>
          <p:nvSpPr>
            <p:cNvPr id="494" name="Google Shape;494;p17"/>
            <p:cNvSpPr/>
            <p:nvPr/>
          </p:nvSpPr>
          <p:spPr>
            <a:xfrm>
              <a:off x="2173423" y="2918340"/>
              <a:ext cx="11697300" cy="1221600"/>
            </a:xfrm>
            <a:prstGeom prst="roundRect">
              <a:avLst>
                <a:gd name="adj" fmla="val 16667"/>
              </a:avLst>
            </a:prstGeom>
            <a:solidFill>
              <a:srgbClr val="DAE5F1"/>
            </a:solidFill>
            <a:ln w="25400" cap="flat"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B7CCE4"/>
                </a:solidFill>
                <a:latin typeface="Calibri"/>
                <a:ea typeface="Calibri"/>
                <a:cs typeface="Calibri"/>
                <a:sym typeface="Calibri"/>
              </a:endParaRPr>
            </a:p>
          </p:txBody>
        </p:sp>
        <p:sp>
          <p:nvSpPr>
            <p:cNvPr id="495" name="Google Shape;495;p17"/>
            <p:cNvSpPr txBox="1"/>
            <p:nvPr/>
          </p:nvSpPr>
          <p:spPr>
            <a:xfrm>
              <a:off x="2323460" y="2682102"/>
              <a:ext cx="11547300" cy="15699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3200" b="1">
                  <a:solidFill>
                    <a:schemeClr val="dk1"/>
                  </a:solidFill>
                  <a:latin typeface="Poppins"/>
                  <a:ea typeface="Poppins"/>
                  <a:cs typeface="Poppins"/>
                  <a:sym typeface="Poppins"/>
                </a:rPr>
                <a:t>Represented DTI Caraga as one of the member of the panel of judges to Caraga State University's Caraga Startup Week Regional Pitching Competition 2023</a:t>
              </a:r>
              <a:endParaRPr sz="2400" b="1" i="1">
                <a:solidFill>
                  <a:schemeClr val="dk1"/>
                </a:solidFill>
                <a:latin typeface="Poppins"/>
                <a:ea typeface="Poppins"/>
                <a:cs typeface="Poppins"/>
                <a:sym typeface="Poppins"/>
              </a:endParaRPr>
            </a:p>
          </p:txBody>
        </p:sp>
        <p:sp>
          <p:nvSpPr>
            <p:cNvPr id="496" name="Google Shape;496;p17"/>
            <p:cNvSpPr txBox="1"/>
            <p:nvPr/>
          </p:nvSpPr>
          <p:spPr>
            <a:xfrm>
              <a:off x="318168" y="2859263"/>
              <a:ext cx="2920800" cy="775800"/>
            </a:xfrm>
            <a:prstGeom prst="rect">
              <a:avLst/>
            </a:prstGeom>
            <a:noFill/>
            <a:ln>
              <a:noFill/>
            </a:ln>
          </p:spPr>
          <p:txBody>
            <a:bodyPr spcFirstLastPara="1" wrap="square" lIns="0" tIns="0" rIns="0" bIns="0" anchor="t" anchorCtr="0">
              <a:spAutoFit/>
            </a:bodyPr>
            <a:lstStyle/>
            <a:p>
              <a:pPr marL="0" marR="0" lvl="0" indent="0" algn="ctr" rtl="0">
                <a:lnSpc>
                  <a:spcPct val="93333"/>
                </a:lnSpc>
                <a:spcBef>
                  <a:spcPts val="0"/>
                </a:spcBef>
                <a:spcAft>
                  <a:spcPts val="0"/>
                </a:spcAft>
                <a:buNone/>
              </a:pPr>
              <a:r>
                <a:rPr lang="en-GB" sz="5400" b="1">
                  <a:solidFill>
                    <a:schemeClr val="dk2"/>
                  </a:solidFill>
                  <a:latin typeface="Montserrat"/>
                  <a:ea typeface="Montserrat"/>
                  <a:cs typeface="Montserrat"/>
                  <a:sym typeface="Montserrat"/>
                </a:rPr>
                <a:t>2</a:t>
              </a:r>
              <a:endParaRPr sz="5400" b="1">
                <a:solidFill>
                  <a:schemeClr val="dk2"/>
                </a:solidFill>
                <a:latin typeface="Montserrat"/>
                <a:ea typeface="Montserrat"/>
                <a:cs typeface="Montserrat"/>
                <a:sym typeface="Montserrat"/>
              </a:endParaRPr>
            </a:p>
          </p:txBody>
        </p:sp>
      </p:grpSp>
      <p:grpSp>
        <p:nvGrpSpPr>
          <p:cNvPr id="497" name="Google Shape;497;p17"/>
          <p:cNvGrpSpPr/>
          <p:nvPr/>
        </p:nvGrpSpPr>
        <p:grpSpPr>
          <a:xfrm>
            <a:off x="-381001" y="5907972"/>
            <a:ext cx="17538848" cy="1949409"/>
            <a:chOff x="-427827" y="6676696"/>
            <a:chExt cx="17066399" cy="1949409"/>
          </a:xfrm>
        </p:grpSpPr>
        <p:grpSp>
          <p:nvGrpSpPr>
            <p:cNvPr id="498" name="Google Shape;498;p17"/>
            <p:cNvGrpSpPr/>
            <p:nvPr/>
          </p:nvGrpSpPr>
          <p:grpSpPr>
            <a:xfrm>
              <a:off x="-427827" y="6676696"/>
              <a:ext cx="17066399" cy="1118403"/>
              <a:chOff x="457200" y="2896975"/>
              <a:chExt cx="13563550" cy="1118403"/>
            </a:xfrm>
          </p:grpSpPr>
          <p:sp>
            <p:nvSpPr>
              <p:cNvPr id="499" name="Google Shape;499;p17"/>
              <p:cNvSpPr/>
              <p:nvPr/>
            </p:nvSpPr>
            <p:spPr>
              <a:xfrm>
                <a:off x="2323450" y="2896978"/>
                <a:ext cx="11697300" cy="1118400"/>
              </a:xfrm>
              <a:prstGeom prst="roundRect">
                <a:avLst>
                  <a:gd name="adj" fmla="val 16667"/>
                </a:avLst>
              </a:prstGeom>
              <a:solidFill>
                <a:srgbClr val="DAE5F1"/>
              </a:solidFill>
              <a:ln w="25400" cap="flat"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B7CCE4"/>
                  </a:solidFill>
                  <a:latin typeface="Calibri"/>
                  <a:ea typeface="Calibri"/>
                  <a:cs typeface="Calibri"/>
                  <a:sym typeface="Calibri"/>
                </a:endParaRPr>
              </a:p>
            </p:txBody>
          </p:sp>
          <p:sp>
            <p:nvSpPr>
              <p:cNvPr id="500" name="Google Shape;500;p17"/>
              <p:cNvSpPr txBox="1"/>
              <p:nvPr/>
            </p:nvSpPr>
            <p:spPr>
              <a:xfrm>
                <a:off x="2204058" y="2917539"/>
                <a:ext cx="11426400" cy="10773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3200" b="1">
                    <a:solidFill>
                      <a:schemeClr val="dk1"/>
                    </a:solidFill>
                    <a:latin typeface="Poppins"/>
                    <a:ea typeface="Poppins"/>
                    <a:cs typeface="Poppins"/>
                    <a:sym typeface="Poppins"/>
                  </a:rPr>
                  <a:t>Kadiwa ng Pangulo para sa Manggawa during the 121st Labor Day Month Long Celebration - April 28 and May 1, 2023</a:t>
                </a:r>
                <a:endParaRPr sz="3200" b="1">
                  <a:solidFill>
                    <a:schemeClr val="dk1"/>
                  </a:solidFill>
                  <a:latin typeface="Poppins"/>
                  <a:ea typeface="Poppins"/>
                  <a:cs typeface="Poppins"/>
                  <a:sym typeface="Poppins"/>
                </a:endParaRPr>
              </a:p>
            </p:txBody>
          </p:sp>
          <p:sp>
            <p:nvSpPr>
              <p:cNvPr id="501" name="Google Shape;501;p17"/>
              <p:cNvSpPr txBox="1"/>
              <p:nvPr/>
            </p:nvSpPr>
            <p:spPr>
              <a:xfrm>
                <a:off x="457200" y="2896975"/>
                <a:ext cx="2920800" cy="775800"/>
              </a:xfrm>
              <a:prstGeom prst="rect">
                <a:avLst/>
              </a:prstGeom>
              <a:noFill/>
              <a:ln>
                <a:noFill/>
              </a:ln>
            </p:spPr>
            <p:txBody>
              <a:bodyPr spcFirstLastPara="1" wrap="square" lIns="0" tIns="0" rIns="0" bIns="0" anchor="t" anchorCtr="0">
                <a:spAutoFit/>
              </a:bodyPr>
              <a:lstStyle/>
              <a:p>
                <a:pPr marL="0" marR="0" lvl="0" indent="0" algn="ctr" rtl="0">
                  <a:lnSpc>
                    <a:spcPct val="93333"/>
                  </a:lnSpc>
                  <a:spcBef>
                    <a:spcPts val="0"/>
                  </a:spcBef>
                  <a:spcAft>
                    <a:spcPts val="0"/>
                  </a:spcAft>
                  <a:buNone/>
                </a:pPr>
                <a:r>
                  <a:rPr lang="en-GB" sz="5400" b="1">
                    <a:solidFill>
                      <a:schemeClr val="dk2"/>
                    </a:solidFill>
                    <a:latin typeface="Montserrat"/>
                    <a:ea typeface="Montserrat"/>
                    <a:cs typeface="Montserrat"/>
                    <a:sym typeface="Montserrat"/>
                  </a:rPr>
                  <a:t>3</a:t>
                </a:r>
                <a:endParaRPr sz="5400" b="1">
                  <a:solidFill>
                    <a:schemeClr val="dk2"/>
                  </a:solidFill>
                  <a:latin typeface="Montserrat"/>
                  <a:ea typeface="Montserrat"/>
                  <a:cs typeface="Montserrat"/>
                  <a:sym typeface="Montserrat"/>
                </a:endParaRPr>
              </a:p>
            </p:txBody>
          </p:sp>
        </p:grpSp>
        <p:sp>
          <p:nvSpPr>
            <p:cNvPr id="502" name="Google Shape;502;p17"/>
            <p:cNvSpPr txBox="1"/>
            <p:nvPr/>
          </p:nvSpPr>
          <p:spPr>
            <a:xfrm>
              <a:off x="1920503" y="7795105"/>
              <a:ext cx="14355900" cy="831000"/>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n-GB" sz="2400">
                  <a:solidFill>
                    <a:schemeClr val="dk1"/>
                  </a:solidFill>
                  <a:latin typeface="Century Gothic"/>
                  <a:ea typeface="Century Gothic"/>
                  <a:cs typeface="Century Gothic"/>
                  <a:sym typeface="Century Gothic"/>
                </a:rPr>
                <a:t>Facilitated the endorsement of 5 associations/MSMEs to DOLE Caraga to join the selling of their products in the said event</a:t>
              </a:r>
              <a:endParaRPr sz="1800" i="1">
                <a:solidFill>
                  <a:schemeClr val="dk1"/>
                </a:solidFill>
                <a:latin typeface="Century Gothic"/>
                <a:ea typeface="Century Gothic"/>
                <a:cs typeface="Century Gothic"/>
                <a:sym typeface="Century Gothic"/>
              </a:endParaRPr>
            </a:p>
          </p:txBody>
        </p:sp>
      </p:grpSp>
      <p:grpSp>
        <p:nvGrpSpPr>
          <p:cNvPr id="503" name="Google Shape;503;p17"/>
          <p:cNvGrpSpPr/>
          <p:nvPr/>
        </p:nvGrpSpPr>
        <p:grpSpPr>
          <a:xfrm>
            <a:off x="-381001" y="7775304"/>
            <a:ext cx="17538848" cy="1465789"/>
            <a:chOff x="-427827" y="6602261"/>
            <a:chExt cx="17066399" cy="1465789"/>
          </a:xfrm>
        </p:grpSpPr>
        <p:grpSp>
          <p:nvGrpSpPr>
            <p:cNvPr id="504" name="Google Shape;504;p17"/>
            <p:cNvGrpSpPr/>
            <p:nvPr/>
          </p:nvGrpSpPr>
          <p:grpSpPr>
            <a:xfrm>
              <a:off x="-427827" y="6602262"/>
              <a:ext cx="17066399" cy="797785"/>
              <a:chOff x="457200" y="2822541"/>
              <a:chExt cx="13563550" cy="797785"/>
            </a:xfrm>
          </p:grpSpPr>
          <p:sp>
            <p:nvSpPr>
              <p:cNvPr id="505" name="Google Shape;505;p17"/>
              <p:cNvSpPr/>
              <p:nvPr/>
            </p:nvSpPr>
            <p:spPr>
              <a:xfrm>
                <a:off x="2323450" y="2822541"/>
                <a:ext cx="11697300" cy="685200"/>
              </a:xfrm>
              <a:prstGeom prst="roundRect">
                <a:avLst>
                  <a:gd name="adj" fmla="val 16667"/>
                </a:avLst>
              </a:prstGeom>
              <a:solidFill>
                <a:srgbClr val="DAE5F1"/>
              </a:solidFill>
              <a:ln w="25400" cap="flat"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B7CCE4"/>
                  </a:solidFill>
                  <a:latin typeface="Calibri"/>
                  <a:ea typeface="Calibri"/>
                  <a:cs typeface="Calibri"/>
                  <a:sym typeface="Calibri"/>
                </a:endParaRPr>
              </a:p>
            </p:txBody>
          </p:sp>
          <p:sp>
            <p:nvSpPr>
              <p:cNvPr id="506" name="Google Shape;506;p17"/>
              <p:cNvSpPr txBox="1"/>
              <p:nvPr/>
            </p:nvSpPr>
            <p:spPr>
              <a:xfrm>
                <a:off x="2323466" y="2872639"/>
                <a:ext cx="11426400" cy="5850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3200" b="1">
                    <a:solidFill>
                      <a:schemeClr val="dk1"/>
                    </a:solidFill>
                    <a:latin typeface="Poppins"/>
                    <a:ea typeface="Poppins"/>
                    <a:cs typeface="Poppins"/>
                    <a:sym typeface="Poppins"/>
                  </a:rPr>
                  <a:t>2023 Celebration of the Month of Overseas Filipinos Migrant Fair</a:t>
                </a:r>
                <a:endParaRPr sz="3200" b="1">
                  <a:solidFill>
                    <a:schemeClr val="dk1"/>
                  </a:solidFill>
                  <a:latin typeface="Poppins"/>
                  <a:ea typeface="Poppins"/>
                  <a:cs typeface="Poppins"/>
                  <a:sym typeface="Poppins"/>
                </a:endParaRPr>
              </a:p>
            </p:txBody>
          </p:sp>
          <p:sp>
            <p:nvSpPr>
              <p:cNvPr id="507" name="Google Shape;507;p17"/>
              <p:cNvSpPr txBox="1"/>
              <p:nvPr/>
            </p:nvSpPr>
            <p:spPr>
              <a:xfrm>
                <a:off x="457200" y="2844525"/>
                <a:ext cx="2920800" cy="775800"/>
              </a:xfrm>
              <a:prstGeom prst="rect">
                <a:avLst/>
              </a:prstGeom>
              <a:noFill/>
              <a:ln>
                <a:noFill/>
              </a:ln>
            </p:spPr>
            <p:txBody>
              <a:bodyPr spcFirstLastPara="1" wrap="square" lIns="0" tIns="0" rIns="0" bIns="0" anchor="t" anchorCtr="0">
                <a:spAutoFit/>
              </a:bodyPr>
              <a:lstStyle/>
              <a:p>
                <a:pPr marL="0" marR="0" lvl="0" indent="0" algn="ctr" rtl="0">
                  <a:lnSpc>
                    <a:spcPct val="93333"/>
                  </a:lnSpc>
                  <a:spcBef>
                    <a:spcPts val="0"/>
                  </a:spcBef>
                  <a:spcAft>
                    <a:spcPts val="0"/>
                  </a:spcAft>
                  <a:buNone/>
                </a:pPr>
                <a:r>
                  <a:rPr lang="en-GB" sz="5400" b="1">
                    <a:solidFill>
                      <a:schemeClr val="dk2"/>
                    </a:solidFill>
                    <a:latin typeface="Montserrat"/>
                    <a:ea typeface="Montserrat"/>
                    <a:cs typeface="Montserrat"/>
                    <a:sym typeface="Montserrat"/>
                  </a:rPr>
                  <a:t>4</a:t>
                </a:r>
                <a:endParaRPr sz="5400" b="1">
                  <a:solidFill>
                    <a:schemeClr val="dk2"/>
                  </a:solidFill>
                  <a:latin typeface="Montserrat"/>
                  <a:ea typeface="Montserrat"/>
                  <a:cs typeface="Montserrat"/>
                  <a:sym typeface="Montserrat"/>
                </a:endParaRPr>
              </a:p>
            </p:txBody>
          </p:sp>
        </p:grpSp>
        <p:sp>
          <p:nvSpPr>
            <p:cNvPr id="508" name="Google Shape;508;p17"/>
            <p:cNvSpPr txBox="1"/>
            <p:nvPr/>
          </p:nvSpPr>
          <p:spPr>
            <a:xfrm>
              <a:off x="2120379" y="7237050"/>
              <a:ext cx="14355900" cy="831000"/>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n-GB" sz="2400">
                  <a:solidFill>
                    <a:schemeClr val="dk1"/>
                  </a:solidFill>
                  <a:latin typeface="Century Gothic"/>
                  <a:ea typeface="Century Gothic"/>
                  <a:cs typeface="Century Gothic"/>
                  <a:sym typeface="Century Gothic"/>
                </a:rPr>
                <a:t>October 20, 2023, Facilitated the invitation of 11 entrepreneurs/enterprises consisting of OFW returnees, and/or their families to participate in showcasing their products at this event.</a:t>
              </a:r>
              <a:endParaRPr/>
            </a:p>
          </p:txBody>
        </p:sp>
      </p:grpSp>
      <p:sp>
        <p:nvSpPr>
          <p:cNvPr id="509" name="Google Shape;509;p17"/>
          <p:cNvSpPr txBox="1"/>
          <p:nvPr/>
        </p:nvSpPr>
        <p:spPr>
          <a:xfrm>
            <a:off x="2029925" y="1973475"/>
            <a:ext cx="6684900" cy="692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GB" sz="1650" b="1">
                <a:solidFill>
                  <a:schemeClr val="dk1"/>
                </a:solidFill>
                <a:highlight>
                  <a:srgbClr val="FFFFFF"/>
                </a:highlight>
              </a:rPr>
              <a:t>sustained collaboration and support to partner agencies/stakeholders</a:t>
            </a:r>
            <a:endParaRPr sz="1900" b="1"/>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Shape 513"/>
        <p:cNvGrpSpPr/>
        <p:nvPr/>
      </p:nvGrpSpPr>
      <p:grpSpPr>
        <a:xfrm>
          <a:off x="0" y="0"/>
          <a:ext cx="0" cy="0"/>
          <a:chOff x="0" y="0"/>
          <a:chExt cx="0" cy="0"/>
        </a:xfrm>
      </p:grpSpPr>
      <p:sp>
        <p:nvSpPr>
          <p:cNvPr id="514" name="Google Shape;514;p18"/>
          <p:cNvSpPr/>
          <p:nvPr/>
        </p:nvSpPr>
        <p:spPr>
          <a:xfrm>
            <a:off x="1028700" y="453061"/>
            <a:ext cx="1553339" cy="1518126"/>
          </a:xfrm>
          <a:custGeom>
            <a:avLst/>
            <a:gdLst/>
            <a:ahLst/>
            <a:cxnLst/>
            <a:rect l="l" t="t" r="r" b="b"/>
            <a:pathLst>
              <a:path w="1553339" h="1518126" extrusionOk="0">
                <a:moveTo>
                  <a:pt x="0" y="0"/>
                </a:moveTo>
                <a:lnTo>
                  <a:pt x="1553339" y="0"/>
                </a:lnTo>
                <a:lnTo>
                  <a:pt x="1553339" y="1518126"/>
                </a:lnTo>
                <a:lnTo>
                  <a:pt x="0" y="1518126"/>
                </a:lnTo>
                <a:lnTo>
                  <a:pt x="0" y="0"/>
                </a:lnTo>
                <a:close/>
              </a:path>
            </a:pathLst>
          </a:custGeom>
          <a:blipFill rotWithShape="1">
            <a:blip r:embed="rId3">
              <a:alphaModFix/>
            </a:blip>
            <a:stretch>
              <a:fillRect l="-31436" t="-10272" r="-26916" b="-57554"/>
            </a:stretch>
          </a:blipFill>
          <a:ln>
            <a:noFill/>
          </a:ln>
        </p:spPr>
      </p:sp>
      <p:cxnSp>
        <p:nvCxnSpPr>
          <p:cNvPr id="515" name="Google Shape;515;p18"/>
          <p:cNvCxnSpPr/>
          <p:nvPr/>
        </p:nvCxnSpPr>
        <p:spPr>
          <a:xfrm>
            <a:off x="2582039" y="1019175"/>
            <a:ext cx="14677261" cy="9525"/>
          </a:xfrm>
          <a:prstGeom prst="straightConnector1">
            <a:avLst/>
          </a:prstGeom>
          <a:noFill/>
          <a:ln w="19050" cap="flat" cmpd="sng">
            <a:solidFill>
              <a:srgbClr val="1C2120"/>
            </a:solidFill>
            <a:prstDash val="solid"/>
            <a:round/>
            <a:headEnd type="none" w="sm" len="sm"/>
            <a:tailEnd type="none" w="sm" len="sm"/>
          </a:ln>
        </p:spPr>
      </p:cxnSp>
      <p:sp>
        <p:nvSpPr>
          <p:cNvPr id="516" name="Google Shape;516;p18"/>
          <p:cNvSpPr txBox="1"/>
          <p:nvPr/>
        </p:nvSpPr>
        <p:spPr>
          <a:xfrm>
            <a:off x="4731446" y="2911966"/>
            <a:ext cx="8825108" cy="3229483"/>
          </a:xfrm>
          <a:prstGeom prst="rect">
            <a:avLst/>
          </a:prstGeom>
          <a:noFill/>
          <a:ln>
            <a:noFill/>
          </a:ln>
        </p:spPr>
        <p:txBody>
          <a:bodyPr spcFirstLastPara="1" wrap="square" lIns="0" tIns="0" rIns="0" bIns="0" anchor="t" anchorCtr="0">
            <a:spAutoFit/>
          </a:bodyPr>
          <a:lstStyle/>
          <a:p>
            <a:pPr marL="0" marR="0" lvl="0" indent="0" algn="ctr" rtl="0">
              <a:lnSpc>
                <a:spcPct val="134000"/>
              </a:lnSpc>
              <a:spcBef>
                <a:spcPts val="0"/>
              </a:spcBef>
              <a:spcAft>
                <a:spcPts val="0"/>
              </a:spcAft>
              <a:buNone/>
            </a:pPr>
            <a:r>
              <a:rPr lang="en-GB" sz="6400" b="1">
                <a:solidFill>
                  <a:srgbClr val="1C2120"/>
                </a:solidFill>
                <a:latin typeface="Montserrat"/>
                <a:ea typeface="Montserrat"/>
                <a:cs typeface="Montserrat"/>
                <a:sym typeface="Montserrat"/>
              </a:rPr>
              <a:t>Key Assistance Extended to Provincial Offices</a:t>
            </a:r>
            <a:endParaRPr/>
          </a:p>
        </p:txBody>
      </p:sp>
      <p:sp>
        <p:nvSpPr>
          <p:cNvPr id="517" name="Google Shape;517;p18"/>
          <p:cNvSpPr/>
          <p:nvPr/>
        </p:nvSpPr>
        <p:spPr>
          <a:xfrm>
            <a:off x="4762836" y="6910612"/>
            <a:ext cx="8762328" cy="91347"/>
          </a:xfrm>
          <a:prstGeom prst="rect">
            <a:avLst/>
          </a:prstGeom>
          <a:solidFill>
            <a:srgbClr val="1C212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8" name="Google Shape;518;p18"/>
          <p:cNvSpPr txBox="1"/>
          <p:nvPr/>
        </p:nvSpPr>
        <p:spPr>
          <a:xfrm>
            <a:off x="1777345" y="8835239"/>
            <a:ext cx="14733311" cy="330200"/>
          </a:xfrm>
          <a:prstGeom prst="rect">
            <a:avLst/>
          </a:prstGeom>
          <a:noFill/>
          <a:ln>
            <a:noFill/>
          </a:ln>
        </p:spPr>
        <p:txBody>
          <a:bodyPr spcFirstLastPara="1" wrap="square" lIns="0" tIns="0" rIns="0" bIns="0" anchor="t" anchorCtr="0">
            <a:spAutoFit/>
          </a:bodyPr>
          <a:lstStyle/>
          <a:p>
            <a:pPr marL="0" marR="0" lvl="0" indent="0" algn="just" rtl="0">
              <a:lnSpc>
                <a:spcPct val="140000"/>
              </a:lnSpc>
              <a:spcBef>
                <a:spcPts val="0"/>
              </a:spcBef>
              <a:spcAft>
                <a:spcPts val="0"/>
              </a:spcAft>
              <a:buNone/>
            </a:pPr>
            <a:r>
              <a:rPr lang="en-GB" sz="2000" b="1">
                <a:solidFill>
                  <a:srgbClr val="FDFDFD"/>
                </a:solidFill>
                <a:latin typeface="Montserrat"/>
                <a:ea typeface="Montserrat"/>
                <a:cs typeface="Montserrat"/>
                <a:sym typeface="Montserrat"/>
              </a:rPr>
              <a:t>DTI- SME DEVELOPMENT DIVISION│NC│CARP│TPU│EDU</a:t>
            </a:r>
            <a:endParaRPr/>
          </a:p>
        </p:txBody>
      </p:sp>
      <p:grpSp>
        <p:nvGrpSpPr>
          <p:cNvPr id="519" name="Google Shape;519;p18"/>
          <p:cNvGrpSpPr/>
          <p:nvPr/>
        </p:nvGrpSpPr>
        <p:grpSpPr>
          <a:xfrm>
            <a:off x="1028694" y="9767474"/>
            <a:ext cx="16230606" cy="487347"/>
            <a:chOff x="0" y="0"/>
            <a:chExt cx="21640808" cy="649796"/>
          </a:xfrm>
        </p:grpSpPr>
        <p:sp>
          <p:nvSpPr>
            <p:cNvPr id="520" name="Google Shape;520;p18"/>
            <p:cNvSpPr/>
            <p:nvPr/>
          </p:nvSpPr>
          <p:spPr>
            <a:xfrm>
              <a:off x="0" y="0"/>
              <a:ext cx="21640808" cy="649796"/>
            </a:xfrm>
            <a:prstGeom prst="rect">
              <a:avLst/>
            </a:prstGeom>
            <a:solidFill>
              <a:srgbClr val="1C212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1" name="Google Shape;521;p18"/>
            <p:cNvSpPr txBox="1"/>
            <p:nvPr/>
          </p:nvSpPr>
          <p:spPr>
            <a:xfrm>
              <a:off x="998193" y="85715"/>
              <a:ext cx="19644415" cy="440266"/>
            </a:xfrm>
            <a:prstGeom prst="rect">
              <a:avLst/>
            </a:prstGeom>
            <a:noFill/>
            <a:ln>
              <a:noFill/>
            </a:ln>
          </p:spPr>
          <p:txBody>
            <a:bodyPr spcFirstLastPara="1" wrap="square" lIns="0" tIns="0" rIns="0" bIns="0" anchor="t" anchorCtr="0">
              <a:spAutoFit/>
            </a:bodyPr>
            <a:lstStyle/>
            <a:p>
              <a:pPr marL="0" marR="0" lvl="0" indent="0" algn="just" rtl="0">
                <a:lnSpc>
                  <a:spcPct val="140000"/>
                </a:lnSpc>
                <a:spcBef>
                  <a:spcPts val="0"/>
                </a:spcBef>
                <a:spcAft>
                  <a:spcPts val="0"/>
                </a:spcAft>
                <a:buNone/>
              </a:pPr>
              <a:r>
                <a:rPr lang="en-GB" sz="2000" b="1">
                  <a:solidFill>
                    <a:srgbClr val="FDFDFD"/>
                  </a:solidFill>
                  <a:latin typeface="Montserrat"/>
                  <a:ea typeface="Montserrat"/>
                  <a:cs typeface="Montserrat"/>
                  <a:sym typeface="Montserrat"/>
                </a:rPr>
                <a:t>DTI- SME DEVELOPMENT DIVISION│NC│CARP│TPU│EDU</a:t>
              </a:r>
              <a:endParaRPr/>
            </a:p>
          </p:txBody>
        </p:sp>
      </p:gr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Shape 529"/>
        <p:cNvGrpSpPr/>
        <p:nvPr/>
      </p:nvGrpSpPr>
      <p:grpSpPr>
        <a:xfrm>
          <a:off x="0" y="0"/>
          <a:ext cx="0" cy="0"/>
          <a:chOff x="0" y="0"/>
          <a:chExt cx="0" cy="0"/>
        </a:xfrm>
      </p:grpSpPr>
      <p:sp>
        <p:nvSpPr>
          <p:cNvPr id="530" name="Google Shape;530;p19"/>
          <p:cNvSpPr/>
          <p:nvPr/>
        </p:nvSpPr>
        <p:spPr>
          <a:xfrm>
            <a:off x="1028700" y="453061"/>
            <a:ext cx="1553339" cy="1518126"/>
          </a:xfrm>
          <a:custGeom>
            <a:avLst/>
            <a:gdLst/>
            <a:ahLst/>
            <a:cxnLst/>
            <a:rect l="l" t="t" r="r" b="b"/>
            <a:pathLst>
              <a:path w="1553339" h="1518126" extrusionOk="0">
                <a:moveTo>
                  <a:pt x="0" y="0"/>
                </a:moveTo>
                <a:lnTo>
                  <a:pt x="1553339" y="0"/>
                </a:lnTo>
                <a:lnTo>
                  <a:pt x="1553339" y="1518126"/>
                </a:lnTo>
                <a:lnTo>
                  <a:pt x="0" y="1518126"/>
                </a:lnTo>
                <a:lnTo>
                  <a:pt x="0" y="0"/>
                </a:lnTo>
                <a:close/>
              </a:path>
            </a:pathLst>
          </a:custGeom>
          <a:blipFill rotWithShape="1">
            <a:blip r:embed="rId3">
              <a:alphaModFix/>
            </a:blip>
            <a:stretch>
              <a:fillRect l="-31436" t="-10272" r="-26916" b="-57554"/>
            </a:stretch>
          </a:blipFill>
          <a:ln>
            <a:noFill/>
          </a:ln>
        </p:spPr>
      </p:sp>
      <p:cxnSp>
        <p:nvCxnSpPr>
          <p:cNvPr id="531" name="Google Shape;531;p19"/>
          <p:cNvCxnSpPr/>
          <p:nvPr/>
        </p:nvCxnSpPr>
        <p:spPr>
          <a:xfrm>
            <a:off x="2582039" y="1019175"/>
            <a:ext cx="14677261" cy="9525"/>
          </a:xfrm>
          <a:prstGeom prst="straightConnector1">
            <a:avLst/>
          </a:prstGeom>
          <a:noFill/>
          <a:ln w="19050" cap="flat" cmpd="sng">
            <a:solidFill>
              <a:srgbClr val="1C2120"/>
            </a:solidFill>
            <a:prstDash val="solid"/>
            <a:round/>
            <a:headEnd type="none" w="sm" len="sm"/>
            <a:tailEnd type="none" w="sm" len="sm"/>
          </a:ln>
        </p:spPr>
      </p:cxnSp>
      <p:grpSp>
        <p:nvGrpSpPr>
          <p:cNvPr id="532" name="Google Shape;532;p19"/>
          <p:cNvGrpSpPr/>
          <p:nvPr/>
        </p:nvGrpSpPr>
        <p:grpSpPr>
          <a:xfrm>
            <a:off x="1219200" y="9294057"/>
            <a:ext cx="16230606" cy="487347"/>
            <a:chOff x="0" y="0"/>
            <a:chExt cx="21640808" cy="649796"/>
          </a:xfrm>
        </p:grpSpPr>
        <p:sp>
          <p:nvSpPr>
            <p:cNvPr id="533" name="Google Shape;533;p19"/>
            <p:cNvSpPr/>
            <p:nvPr/>
          </p:nvSpPr>
          <p:spPr>
            <a:xfrm>
              <a:off x="0" y="0"/>
              <a:ext cx="21640808" cy="649796"/>
            </a:xfrm>
            <a:prstGeom prst="rect">
              <a:avLst/>
            </a:prstGeom>
            <a:solidFill>
              <a:srgbClr val="1C212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4" name="Google Shape;534;p19"/>
            <p:cNvSpPr txBox="1"/>
            <p:nvPr/>
          </p:nvSpPr>
          <p:spPr>
            <a:xfrm>
              <a:off x="998196" y="104764"/>
              <a:ext cx="19644415" cy="440267"/>
            </a:xfrm>
            <a:prstGeom prst="rect">
              <a:avLst/>
            </a:prstGeom>
            <a:noFill/>
            <a:ln>
              <a:noFill/>
            </a:ln>
          </p:spPr>
          <p:txBody>
            <a:bodyPr spcFirstLastPara="1" wrap="square" lIns="0" tIns="0" rIns="0" bIns="0" anchor="t" anchorCtr="0">
              <a:spAutoFit/>
            </a:bodyPr>
            <a:lstStyle/>
            <a:p>
              <a:pPr marL="0" marR="0" lvl="0" indent="0" algn="just" rtl="0">
                <a:lnSpc>
                  <a:spcPct val="140000"/>
                </a:lnSpc>
                <a:spcBef>
                  <a:spcPts val="0"/>
                </a:spcBef>
                <a:spcAft>
                  <a:spcPts val="0"/>
                </a:spcAft>
                <a:buNone/>
              </a:pPr>
              <a:r>
                <a:rPr lang="en-GB" sz="2000" b="1">
                  <a:solidFill>
                    <a:srgbClr val="FDFDFD"/>
                  </a:solidFill>
                  <a:latin typeface="Montserrat"/>
                  <a:ea typeface="Montserrat"/>
                  <a:cs typeface="Montserrat"/>
                  <a:sym typeface="Montserrat"/>
                </a:rPr>
                <a:t>DTI- SME DEVELOPMENT DIVISION│NC│CARP│TPU│EDU</a:t>
              </a:r>
              <a:endParaRPr/>
            </a:p>
          </p:txBody>
        </p:sp>
      </p:grpSp>
      <p:sp>
        <p:nvSpPr>
          <p:cNvPr id="535" name="Google Shape;535;p19"/>
          <p:cNvSpPr txBox="1"/>
          <p:nvPr/>
        </p:nvSpPr>
        <p:spPr>
          <a:xfrm>
            <a:off x="2209800" y="2628900"/>
            <a:ext cx="14706600"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nvGrpSpPr>
          <p:cNvPr id="536" name="Google Shape;536;p19"/>
          <p:cNvGrpSpPr/>
          <p:nvPr/>
        </p:nvGrpSpPr>
        <p:grpSpPr>
          <a:xfrm>
            <a:off x="49202" y="2369629"/>
            <a:ext cx="16867198" cy="3117160"/>
            <a:chOff x="457200" y="2525278"/>
            <a:chExt cx="14669218" cy="3117160"/>
          </a:xfrm>
        </p:grpSpPr>
        <p:sp>
          <p:nvSpPr>
            <p:cNvPr id="537" name="Google Shape;537;p19"/>
            <p:cNvSpPr/>
            <p:nvPr/>
          </p:nvSpPr>
          <p:spPr>
            <a:xfrm>
              <a:off x="2323450" y="2525278"/>
              <a:ext cx="11697350" cy="715340"/>
            </a:xfrm>
            <a:prstGeom prst="roundRect">
              <a:avLst>
                <a:gd name="adj" fmla="val 16667"/>
              </a:avLst>
            </a:prstGeom>
            <a:solidFill>
              <a:srgbClr val="DAE5F1"/>
            </a:solidFill>
            <a:ln w="25400" cap="flat"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B7CCE4"/>
                </a:solidFill>
                <a:latin typeface="Calibri"/>
                <a:ea typeface="Calibri"/>
                <a:cs typeface="Calibri"/>
                <a:sym typeface="Calibri"/>
              </a:endParaRPr>
            </a:p>
          </p:txBody>
        </p:sp>
        <p:sp>
          <p:nvSpPr>
            <p:cNvPr id="538" name="Google Shape;538;p19"/>
            <p:cNvSpPr txBox="1"/>
            <p:nvPr/>
          </p:nvSpPr>
          <p:spPr>
            <a:xfrm>
              <a:off x="2392256" y="2566564"/>
              <a:ext cx="12113810" cy="58477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3200" b="1">
                  <a:solidFill>
                    <a:schemeClr val="dk1"/>
                  </a:solidFill>
                  <a:latin typeface="Poppins"/>
                  <a:ea typeface="Poppins"/>
                  <a:cs typeface="Poppins"/>
                  <a:sym typeface="Poppins"/>
                </a:rPr>
                <a:t>Facilitation of POs’ Participation to Trade Fairs</a:t>
              </a:r>
              <a:endParaRPr sz="3200" b="1">
                <a:solidFill>
                  <a:schemeClr val="dk1"/>
                </a:solidFill>
                <a:latin typeface="Poppins"/>
                <a:ea typeface="Poppins"/>
                <a:cs typeface="Poppins"/>
                <a:sym typeface="Poppins"/>
              </a:endParaRPr>
            </a:p>
          </p:txBody>
        </p:sp>
        <p:sp>
          <p:nvSpPr>
            <p:cNvPr id="539" name="Google Shape;539;p19"/>
            <p:cNvSpPr txBox="1"/>
            <p:nvPr/>
          </p:nvSpPr>
          <p:spPr>
            <a:xfrm>
              <a:off x="457200" y="2628900"/>
              <a:ext cx="2920884" cy="641201"/>
            </a:xfrm>
            <a:prstGeom prst="rect">
              <a:avLst/>
            </a:prstGeom>
            <a:noFill/>
            <a:ln>
              <a:noFill/>
            </a:ln>
          </p:spPr>
          <p:txBody>
            <a:bodyPr spcFirstLastPara="1" wrap="square" lIns="0" tIns="0" rIns="0" bIns="0" anchor="t" anchorCtr="0">
              <a:spAutoFit/>
            </a:bodyPr>
            <a:lstStyle/>
            <a:p>
              <a:pPr marL="0" marR="0" lvl="0" indent="0" algn="ctr" rtl="0">
                <a:lnSpc>
                  <a:spcPct val="93333"/>
                </a:lnSpc>
                <a:spcBef>
                  <a:spcPts val="0"/>
                </a:spcBef>
                <a:spcAft>
                  <a:spcPts val="0"/>
                </a:spcAft>
                <a:buNone/>
              </a:pPr>
              <a:r>
                <a:rPr lang="en-GB" sz="5400" b="1">
                  <a:solidFill>
                    <a:schemeClr val="dk2"/>
                  </a:solidFill>
                  <a:latin typeface="Montserrat"/>
                  <a:ea typeface="Montserrat"/>
                  <a:cs typeface="Montserrat"/>
                  <a:sym typeface="Montserrat"/>
                </a:rPr>
                <a:t>1</a:t>
              </a:r>
              <a:endParaRPr sz="5400" b="1">
                <a:solidFill>
                  <a:schemeClr val="dk2"/>
                </a:solidFill>
                <a:latin typeface="Montserrat"/>
                <a:ea typeface="Montserrat"/>
                <a:cs typeface="Montserrat"/>
                <a:sym typeface="Montserrat"/>
              </a:endParaRPr>
            </a:p>
          </p:txBody>
        </p:sp>
        <p:sp>
          <p:nvSpPr>
            <p:cNvPr id="540" name="Google Shape;540;p19"/>
            <p:cNvSpPr txBox="1"/>
            <p:nvPr/>
          </p:nvSpPr>
          <p:spPr>
            <a:xfrm>
              <a:off x="2392256" y="3334114"/>
              <a:ext cx="12734162" cy="230832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2400">
                  <a:solidFill>
                    <a:schemeClr val="dk1"/>
                  </a:solidFill>
                  <a:latin typeface="Century Gothic"/>
                  <a:ea typeface="Century Gothic"/>
                  <a:cs typeface="Century Gothic"/>
                  <a:sym typeface="Century Gothic"/>
                </a:rPr>
                <a:t> - BCBC WomenOTOPreneur (March 17-31, 2023)</a:t>
              </a:r>
              <a:endParaRPr/>
            </a:p>
            <a:p>
              <a:pPr marL="0" marR="0" lvl="0" indent="0" algn="l" rtl="0">
                <a:spcBef>
                  <a:spcPts val="0"/>
                </a:spcBef>
                <a:spcAft>
                  <a:spcPts val="0"/>
                </a:spcAft>
                <a:buNone/>
              </a:pPr>
              <a:r>
                <a:rPr lang="en-GB" sz="2400">
                  <a:solidFill>
                    <a:schemeClr val="dk1"/>
                  </a:solidFill>
                  <a:latin typeface="Century Gothic"/>
                  <a:ea typeface="Century Gothic"/>
                  <a:cs typeface="Century Gothic"/>
                  <a:sym typeface="Century Gothic"/>
                </a:rPr>
                <a:t>      - ASPIRE Trade Fair (April 28-30, 2023)</a:t>
              </a:r>
              <a:endParaRPr/>
            </a:p>
            <a:p>
              <a:pPr marL="0" marR="0" lvl="0" indent="0" algn="l" rtl="0">
                <a:spcBef>
                  <a:spcPts val="0"/>
                </a:spcBef>
                <a:spcAft>
                  <a:spcPts val="0"/>
                </a:spcAft>
                <a:buNone/>
              </a:pPr>
              <a:r>
                <a:rPr lang="en-GB" sz="2400">
                  <a:solidFill>
                    <a:schemeClr val="dk1"/>
                  </a:solidFill>
                  <a:latin typeface="Century Gothic"/>
                  <a:ea typeface="Century Gothic"/>
                  <a:cs typeface="Century Gothic"/>
                  <a:sym typeface="Century Gothic"/>
                </a:rPr>
                <a:t>      - Kadiwa ng Pangulo at Manggagawa (April 28-May 1, 2023)</a:t>
              </a:r>
              <a:endParaRPr/>
            </a:p>
            <a:p>
              <a:pPr marL="0" marR="0" lvl="0" indent="0" algn="l" rtl="0">
                <a:spcBef>
                  <a:spcPts val="0"/>
                </a:spcBef>
                <a:spcAft>
                  <a:spcPts val="0"/>
                </a:spcAft>
                <a:buNone/>
              </a:pPr>
              <a:r>
                <a:rPr lang="en-GB" sz="2400">
                  <a:solidFill>
                    <a:schemeClr val="dk1"/>
                  </a:solidFill>
                  <a:latin typeface="Century Gothic"/>
                  <a:ea typeface="Century Gothic"/>
                  <a:cs typeface="Century Gothic"/>
                  <a:sym typeface="Century Gothic"/>
                </a:rPr>
                <a:t>      - BCBC Balangay Edition Trade Fair (May 15-21, 2023)</a:t>
              </a:r>
              <a:endParaRPr/>
            </a:p>
            <a:p>
              <a:pPr marL="0" marR="0" lvl="0" indent="0" algn="l" rtl="0">
                <a:spcBef>
                  <a:spcPts val="0"/>
                </a:spcBef>
                <a:spcAft>
                  <a:spcPts val="0"/>
                </a:spcAft>
                <a:buNone/>
              </a:pPr>
              <a:r>
                <a:rPr lang="en-GB" sz="2400">
                  <a:solidFill>
                    <a:schemeClr val="dk1"/>
                  </a:solidFill>
                  <a:latin typeface="Century Gothic"/>
                  <a:ea typeface="Century Gothic"/>
                  <a:cs typeface="Century Gothic"/>
                  <a:sym typeface="Century Gothic"/>
                </a:rPr>
                <a:t>      - International Trade Expo 2023 (May 26-28, 2023)</a:t>
              </a:r>
              <a:endParaRPr/>
            </a:p>
            <a:p>
              <a:pPr marL="0" marR="0" lvl="0" indent="0" algn="l" rtl="0">
                <a:spcBef>
                  <a:spcPts val="0"/>
                </a:spcBef>
                <a:spcAft>
                  <a:spcPts val="0"/>
                </a:spcAft>
                <a:buNone/>
              </a:pPr>
              <a:r>
                <a:rPr lang="en-GB" sz="2400">
                  <a:solidFill>
                    <a:schemeClr val="dk1"/>
                  </a:solidFill>
                  <a:latin typeface="Century Gothic"/>
                  <a:ea typeface="Century Gothic"/>
                  <a:cs typeface="Century Gothic"/>
                  <a:sym typeface="Century Gothic"/>
                </a:rPr>
                <a:t>      - Propak Asia 2023 (June 14-17, 2023)</a:t>
              </a:r>
              <a:endParaRPr sz="2400" i="1">
                <a:solidFill>
                  <a:schemeClr val="dk1"/>
                </a:solidFill>
                <a:latin typeface="Century Gothic"/>
                <a:ea typeface="Century Gothic"/>
                <a:cs typeface="Century Gothic"/>
                <a:sym typeface="Century Gothic"/>
              </a:endParaRPr>
            </a:p>
          </p:txBody>
        </p:sp>
      </p:grpSp>
      <p:grpSp>
        <p:nvGrpSpPr>
          <p:cNvPr id="541" name="Google Shape;541;p19"/>
          <p:cNvGrpSpPr/>
          <p:nvPr/>
        </p:nvGrpSpPr>
        <p:grpSpPr>
          <a:xfrm>
            <a:off x="49202" y="5550802"/>
            <a:ext cx="15581774" cy="1081105"/>
            <a:chOff x="457200" y="2525278"/>
            <a:chExt cx="13563601" cy="1081105"/>
          </a:xfrm>
        </p:grpSpPr>
        <p:sp>
          <p:nvSpPr>
            <p:cNvPr id="542" name="Google Shape;542;p19"/>
            <p:cNvSpPr/>
            <p:nvPr/>
          </p:nvSpPr>
          <p:spPr>
            <a:xfrm>
              <a:off x="2323450" y="2525278"/>
              <a:ext cx="11697350" cy="1081105"/>
            </a:xfrm>
            <a:prstGeom prst="roundRect">
              <a:avLst>
                <a:gd name="adj" fmla="val 16667"/>
              </a:avLst>
            </a:prstGeom>
            <a:solidFill>
              <a:srgbClr val="DAE5F1"/>
            </a:solidFill>
            <a:ln w="25400" cap="flat"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B7CCE4"/>
                </a:solidFill>
                <a:latin typeface="Calibri"/>
                <a:ea typeface="Calibri"/>
                <a:cs typeface="Calibri"/>
                <a:sym typeface="Calibri"/>
              </a:endParaRPr>
            </a:p>
          </p:txBody>
        </p:sp>
        <p:sp>
          <p:nvSpPr>
            <p:cNvPr id="543" name="Google Shape;543;p19"/>
            <p:cNvSpPr txBox="1"/>
            <p:nvPr/>
          </p:nvSpPr>
          <p:spPr>
            <a:xfrm>
              <a:off x="2585404" y="2529165"/>
              <a:ext cx="11435397" cy="1077218"/>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3200" b="1">
                  <a:solidFill>
                    <a:schemeClr val="dk1"/>
                  </a:solidFill>
                  <a:latin typeface="Poppins"/>
                  <a:ea typeface="Poppins"/>
                  <a:cs typeface="Poppins"/>
                  <a:sym typeface="Poppins"/>
                </a:rPr>
                <a:t>Facilitation of POs’ Requests for Resource Persons for their Trade Promotion-Related Activities/Trainings and other requests</a:t>
              </a:r>
              <a:endParaRPr sz="3200" b="1">
                <a:solidFill>
                  <a:schemeClr val="dk1"/>
                </a:solidFill>
                <a:latin typeface="Poppins"/>
                <a:ea typeface="Poppins"/>
                <a:cs typeface="Poppins"/>
                <a:sym typeface="Poppins"/>
              </a:endParaRPr>
            </a:p>
          </p:txBody>
        </p:sp>
        <p:sp>
          <p:nvSpPr>
            <p:cNvPr id="544" name="Google Shape;544;p19"/>
            <p:cNvSpPr txBox="1"/>
            <p:nvPr/>
          </p:nvSpPr>
          <p:spPr>
            <a:xfrm>
              <a:off x="457200" y="2628900"/>
              <a:ext cx="2920884" cy="641201"/>
            </a:xfrm>
            <a:prstGeom prst="rect">
              <a:avLst/>
            </a:prstGeom>
            <a:noFill/>
            <a:ln>
              <a:noFill/>
            </a:ln>
          </p:spPr>
          <p:txBody>
            <a:bodyPr spcFirstLastPara="1" wrap="square" lIns="0" tIns="0" rIns="0" bIns="0" anchor="t" anchorCtr="0">
              <a:spAutoFit/>
            </a:bodyPr>
            <a:lstStyle/>
            <a:p>
              <a:pPr marL="0" marR="0" lvl="0" indent="0" algn="ctr" rtl="0">
                <a:lnSpc>
                  <a:spcPct val="93333"/>
                </a:lnSpc>
                <a:spcBef>
                  <a:spcPts val="0"/>
                </a:spcBef>
                <a:spcAft>
                  <a:spcPts val="0"/>
                </a:spcAft>
                <a:buNone/>
              </a:pPr>
              <a:r>
                <a:rPr lang="en-GB" sz="5400" b="1">
                  <a:solidFill>
                    <a:schemeClr val="dk2"/>
                  </a:solidFill>
                  <a:latin typeface="Montserrat"/>
                  <a:ea typeface="Montserrat"/>
                  <a:cs typeface="Montserrat"/>
                  <a:sym typeface="Montserrat"/>
                </a:rPr>
                <a:t>2</a:t>
              </a:r>
              <a:endParaRPr sz="5400" b="1">
                <a:solidFill>
                  <a:schemeClr val="dk2"/>
                </a:solidFill>
                <a:latin typeface="Montserrat"/>
                <a:ea typeface="Montserrat"/>
                <a:cs typeface="Montserrat"/>
                <a:sym typeface="Montserrat"/>
              </a:endParaRPr>
            </a:p>
          </p:txBody>
        </p:sp>
      </p:grpSp>
      <p:pic>
        <p:nvPicPr>
          <p:cNvPr id="545" name="Google Shape;545;p19"/>
          <p:cNvPicPr preferRelativeResize="0"/>
          <p:nvPr/>
        </p:nvPicPr>
        <p:blipFill rotWithShape="1">
          <a:blip r:embed="rId4">
            <a:alphaModFix/>
          </a:blip>
          <a:srcRect t="21555" b="25110"/>
          <a:stretch/>
        </p:blipFill>
        <p:spPr>
          <a:xfrm>
            <a:off x="2582039" y="743841"/>
            <a:ext cx="2143125" cy="1143000"/>
          </a:xfrm>
          <a:prstGeom prst="rect">
            <a:avLst/>
          </a:prstGeom>
          <a:noFill/>
          <a:ln>
            <a:noFill/>
          </a:ln>
        </p:spPr>
      </p:pic>
      <p:sp>
        <p:nvSpPr>
          <p:cNvPr id="546" name="Google Shape;546;p19"/>
          <p:cNvSpPr txBox="1"/>
          <p:nvPr/>
        </p:nvSpPr>
        <p:spPr>
          <a:xfrm>
            <a:off x="4572000" y="1381330"/>
            <a:ext cx="9838329" cy="438150"/>
          </a:xfrm>
          <a:prstGeom prst="rect">
            <a:avLst/>
          </a:prstGeom>
          <a:noFill/>
          <a:ln>
            <a:noFill/>
          </a:ln>
        </p:spPr>
        <p:txBody>
          <a:bodyPr spcFirstLastPara="1" wrap="square" lIns="0" tIns="0" rIns="0" bIns="0" anchor="t" anchorCtr="0">
            <a:spAutoFit/>
          </a:bodyPr>
          <a:lstStyle/>
          <a:p>
            <a:pPr marL="0" marR="0" lvl="0" indent="0" algn="ctr" rtl="0">
              <a:lnSpc>
                <a:spcPct val="110000"/>
              </a:lnSpc>
              <a:spcBef>
                <a:spcPts val="0"/>
              </a:spcBef>
              <a:spcAft>
                <a:spcPts val="0"/>
              </a:spcAft>
              <a:buNone/>
            </a:pPr>
            <a:r>
              <a:rPr lang="en-GB" sz="3000" b="1">
                <a:solidFill>
                  <a:srgbClr val="1C2120"/>
                </a:solidFill>
                <a:latin typeface="Montserrat"/>
                <a:ea typeface="Montserrat"/>
                <a:cs typeface="Montserrat"/>
                <a:sym typeface="Montserrat"/>
              </a:rPr>
              <a:t>TRADE PROMOTION UNIT</a:t>
            </a:r>
            <a:endParaRPr/>
          </a:p>
        </p:txBody>
      </p:sp>
      <p:grpSp>
        <p:nvGrpSpPr>
          <p:cNvPr id="547" name="Google Shape;547;p19"/>
          <p:cNvGrpSpPr/>
          <p:nvPr/>
        </p:nvGrpSpPr>
        <p:grpSpPr>
          <a:xfrm>
            <a:off x="56045" y="7124700"/>
            <a:ext cx="16153260" cy="1639833"/>
            <a:chOff x="457200" y="2525278"/>
            <a:chExt cx="14048756" cy="1639833"/>
          </a:xfrm>
        </p:grpSpPr>
        <p:sp>
          <p:nvSpPr>
            <p:cNvPr id="548" name="Google Shape;548;p19"/>
            <p:cNvSpPr/>
            <p:nvPr/>
          </p:nvSpPr>
          <p:spPr>
            <a:xfrm>
              <a:off x="2323450" y="2525278"/>
              <a:ext cx="11697350" cy="715340"/>
            </a:xfrm>
            <a:prstGeom prst="roundRect">
              <a:avLst>
                <a:gd name="adj" fmla="val 16667"/>
              </a:avLst>
            </a:prstGeom>
            <a:solidFill>
              <a:srgbClr val="DAE5F1"/>
            </a:solidFill>
            <a:ln w="25400" cap="flat"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B7CCE4"/>
                </a:solidFill>
                <a:latin typeface="Calibri"/>
                <a:ea typeface="Calibri"/>
                <a:cs typeface="Calibri"/>
                <a:sym typeface="Calibri"/>
              </a:endParaRPr>
            </a:p>
          </p:txBody>
        </p:sp>
        <p:sp>
          <p:nvSpPr>
            <p:cNvPr id="549" name="Google Shape;549;p19"/>
            <p:cNvSpPr txBox="1"/>
            <p:nvPr/>
          </p:nvSpPr>
          <p:spPr>
            <a:xfrm>
              <a:off x="2392256" y="2566564"/>
              <a:ext cx="12113700" cy="5850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3200" b="1">
                  <a:solidFill>
                    <a:schemeClr val="dk1"/>
                  </a:solidFill>
                  <a:latin typeface="Poppins"/>
                  <a:ea typeface="Poppins"/>
                  <a:cs typeface="Poppins"/>
                  <a:sym typeface="Poppins"/>
                </a:rPr>
                <a:t>Conduct of GMP trainings to requesting PO</a:t>
              </a:r>
              <a:endParaRPr sz="3200" b="1">
                <a:solidFill>
                  <a:schemeClr val="dk1"/>
                </a:solidFill>
                <a:latin typeface="Poppins"/>
                <a:ea typeface="Poppins"/>
                <a:cs typeface="Poppins"/>
                <a:sym typeface="Poppins"/>
              </a:endParaRPr>
            </a:p>
          </p:txBody>
        </p:sp>
        <p:sp>
          <p:nvSpPr>
            <p:cNvPr id="550" name="Google Shape;550;p19"/>
            <p:cNvSpPr txBox="1"/>
            <p:nvPr/>
          </p:nvSpPr>
          <p:spPr>
            <a:xfrm>
              <a:off x="457200" y="2628900"/>
              <a:ext cx="2920800" cy="775800"/>
            </a:xfrm>
            <a:prstGeom prst="rect">
              <a:avLst/>
            </a:prstGeom>
            <a:noFill/>
            <a:ln>
              <a:noFill/>
            </a:ln>
          </p:spPr>
          <p:txBody>
            <a:bodyPr spcFirstLastPara="1" wrap="square" lIns="0" tIns="0" rIns="0" bIns="0" anchor="t" anchorCtr="0">
              <a:spAutoFit/>
            </a:bodyPr>
            <a:lstStyle/>
            <a:p>
              <a:pPr marL="0" marR="0" lvl="0" indent="0" algn="ctr" rtl="0">
                <a:lnSpc>
                  <a:spcPct val="93333"/>
                </a:lnSpc>
                <a:spcBef>
                  <a:spcPts val="0"/>
                </a:spcBef>
                <a:spcAft>
                  <a:spcPts val="0"/>
                </a:spcAft>
                <a:buNone/>
              </a:pPr>
              <a:r>
                <a:rPr lang="en-GB" sz="5400" b="1">
                  <a:solidFill>
                    <a:schemeClr val="dk2"/>
                  </a:solidFill>
                  <a:latin typeface="Montserrat"/>
                  <a:ea typeface="Montserrat"/>
                  <a:cs typeface="Montserrat"/>
                  <a:sym typeface="Montserrat"/>
                </a:rPr>
                <a:t>3</a:t>
              </a:r>
              <a:endParaRPr sz="5400" b="1">
                <a:solidFill>
                  <a:schemeClr val="dk2"/>
                </a:solidFill>
                <a:latin typeface="Montserrat"/>
                <a:ea typeface="Montserrat"/>
                <a:cs typeface="Montserrat"/>
                <a:sym typeface="Montserrat"/>
              </a:endParaRPr>
            </a:p>
          </p:txBody>
        </p:sp>
        <p:sp>
          <p:nvSpPr>
            <p:cNvPr id="551" name="Google Shape;551;p19"/>
            <p:cNvSpPr txBox="1"/>
            <p:nvPr/>
          </p:nvSpPr>
          <p:spPr>
            <a:xfrm>
              <a:off x="2392256" y="3334114"/>
              <a:ext cx="11628545" cy="83099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2400">
                  <a:solidFill>
                    <a:schemeClr val="dk1"/>
                  </a:solidFill>
                  <a:latin typeface="Century Gothic"/>
                  <a:ea typeface="Century Gothic"/>
                  <a:cs typeface="Century Gothic"/>
                  <a:sym typeface="Century Gothic"/>
                </a:rPr>
                <a:t>Good Manufacturing Practices (GMP) (June 1-2, 2023) in Claver, Surigao del Norte in response to DTI-SDN request</a:t>
              </a:r>
              <a:endParaRPr/>
            </a:p>
          </p:txBody>
        </p:sp>
      </p:gr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Shape 559"/>
        <p:cNvGrpSpPr/>
        <p:nvPr/>
      </p:nvGrpSpPr>
      <p:grpSpPr>
        <a:xfrm>
          <a:off x="0" y="0"/>
          <a:ext cx="0" cy="0"/>
          <a:chOff x="0" y="0"/>
          <a:chExt cx="0" cy="0"/>
        </a:xfrm>
      </p:grpSpPr>
      <p:sp>
        <p:nvSpPr>
          <p:cNvPr id="560" name="Google Shape;560;p20"/>
          <p:cNvSpPr/>
          <p:nvPr/>
        </p:nvSpPr>
        <p:spPr>
          <a:xfrm>
            <a:off x="1028700" y="453061"/>
            <a:ext cx="1553339" cy="1518126"/>
          </a:xfrm>
          <a:custGeom>
            <a:avLst/>
            <a:gdLst/>
            <a:ahLst/>
            <a:cxnLst/>
            <a:rect l="l" t="t" r="r" b="b"/>
            <a:pathLst>
              <a:path w="1553339" h="1518126" extrusionOk="0">
                <a:moveTo>
                  <a:pt x="0" y="0"/>
                </a:moveTo>
                <a:lnTo>
                  <a:pt x="1553339" y="0"/>
                </a:lnTo>
                <a:lnTo>
                  <a:pt x="1553339" y="1518126"/>
                </a:lnTo>
                <a:lnTo>
                  <a:pt x="0" y="1518126"/>
                </a:lnTo>
                <a:lnTo>
                  <a:pt x="0" y="0"/>
                </a:lnTo>
                <a:close/>
              </a:path>
            </a:pathLst>
          </a:custGeom>
          <a:blipFill rotWithShape="1">
            <a:blip r:embed="rId3">
              <a:alphaModFix/>
            </a:blip>
            <a:stretch>
              <a:fillRect l="-31436" t="-10272" r="-26916" b="-57554"/>
            </a:stretch>
          </a:blipFill>
          <a:ln>
            <a:noFill/>
          </a:ln>
        </p:spPr>
      </p:sp>
      <p:cxnSp>
        <p:nvCxnSpPr>
          <p:cNvPr id="561" name="Google Shape;561;p20"/>
          <p:cNvCxnSpPr/>
          <p:nvPr/>
        </p:nvCxnSpPr>
        <p:spPr>
          <a:xfrm>
            <a:off x="2582039" y="1019175"/>
            <a:ext cx="14677261" cy="9525"/>
          </a:xfrm>
          <a:prstGeom prst="straightConnector1">
            <a:avLst/>
          </a:prstGeom>
          <a:noFill/>
          <a:ln w="19050" cap="flat" cmpd="sng">
            <a:solidFill>
              <a:srgbClr val="1C2120"/>
            </a:solidFill>
            <a:prstDash val="solid"/>
            <a:round/>
            <a:headEnd type="none" w="sm" len="sm"/>
            <a:tailEnd type="none" w="sm" len="sm"/>
          </a:ln>
        </p:spPr>
      </p:cxnSp>
      <p:grpSp>
        <p:nvGrpSpPr>
          <p:cNvPr id="562" name="Google Shape;562;p20"/>
          <p:cNvGrpSpPr/>
          <p:nvPr/>
        </p:nvGrpSpPr>
        <p:grpSpPr>
          <a:xfrm>
            <a:off x="1219200" y="9294057"/>
            <a:ext cx="16230606" cy="487347"/>
            <a:chOff x="0" y="0"/>
            <a:chExt cx="21640808" cy="649796"/>
          </a:xfrm>
        </p:grpSpPr>
        <p:sp>
          <p:nvSpPr>
            <p:cNvPr id="563" name="Google Shape;563;p20"/>
            <p:cNvSpPr/>
            <p:nvPr/>
          </p:nvSpPr>
          <p:spPr>
            <a:xfrm>
              <a:off x="0" y="0"/>
              <a:ext cx="21640808" cy="649796"/>
            </a:xfrm>
            <a:prstGeom prst="rect">
              <a:avLst/>
            </a:prstGeom>
            <a:solidFill>
              <a:srgbClr val="1C212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4" name="Google Shape;564;p20"/>
            <p:cNvSpPr txBox="1"/>
            <p:nvPr/>
          </p:nvSpPr>
          <p:spPr>
            <a:xfrm>
              <a:off x="998196" y="104764"/>
              <a:ext cx="19644415" cy="440267"/>
            </a:xfrm>
            <a:prstGeom prst="rect">
              <a:avLst/>
            </a:prstGeom>
            <a:noFill/>
            <a:ln>
              <a:noFill/>
            </a:ln>
          </p:spPr>
          <p:txBody>
            <a:bodyPr spcFirstLastPara="1" wrap="square" lIns="0" tIns="0" rIns="0" bIns="0" anchor="t" anchorCtr="0">
              <a:spAutoFit/>
            </a:bodyPr>
            <a:lstStyle/>
            <a:p>
              <a:pPr marL="0" marR="0" lvl="0" indent="0" algn="just" rtl="0">
                <a:lnSpc>
                  <a:spcPct val="140000"/>
                </a:lnSpc>
                <a:spcBef>
                  <a:spcPts val="0"/>
                </a:spcBef>
                <a:spcAft>
                  <a:spcPts val="0"/>
                </a:spcAft>
                <a:buNone/>
              </a:pPr>
              <a:r>
                <a:rPr lang="en-GB" sz="2000" b="1">
                  <a:solidFill>
                    <a:srgbClr val="FDFDFD"/>
                  </a:solidFill>
                  <a:latin typeface="Montserrat"/>
                  <a:ea typeface="Montserrat"/>
                  <a:cs typeface="Montserrat"/>
                  <a:sym typeface="Montserrat"/>
                </a:rPr>
                <a:t>DTI- SME DEVELOPMENT DIVISION│NC│CARP│TPU│EDU</a:t>
              </a:r>
              <a:endParaRPr/>
            </a:p>
          </p:txBody>
        </p:sp>
      </p:grpSp>
      <p:sp>
        <p:nvSpPr>
          <p:cNvPr id="565" name="Google Shape;565;p20"/>
          <p:cNvSpPr txBox="1"/>
          <p:nvPr/>
        </p:nvSpPr>
        <p:spPr>
          <a:xfrm>
            <a:off x="2209800" y="2628900"/>
            <a:ext cx="14706600"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nvGrpSpPr>
          <p:cNvPr id="566" name="Google Shape;566;p20"/>
          <p:cNvGrpSpPr/>
          <p:nvPr/>
        </p:nvGrpSpPr>
        <p:grpSpPr>
          <a:xfrm>
            <a:off x="-56524" y="2628691"/>
            <a:ext cx="16093458" cy="3404378"/>
            <a:chOff x="457200" y="2525278"/>
            <a:chExt cx="13996305" cy="3404378"/>
          </a:xfrm>
        </p:grpSpPr>
        <p:sp>
          <p:nvSpPr>
            <p:cNvPr id="567" name="Google Shape;567;p20"/>
            <p:cNvSpPr/>
            <p:nvPr/>
          </p:nvSpPr>
          <p:spPr>
            <a:xfrm>
              <a:off x="2323450" y="2525278"/>
              <a:ext cx="12130039" cy="668887"/>
            </a:xfrm>
            <a:prstGeom prst="roundRect">
              <a:avLst>
                <a:gd name="adj" fmla="val 16667"/>
              </a:avLst>
            </a:prstGeom>
            <a:solidFill>
              <a:srgbClr val="DAE5F1"/>
            </a:solidFill>
            <a:ln w="25400" cap="flat"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B7CCE4"/>
                </a:solidFill>
                <a:latin typeface="Calibri"/>
                <a:ea typeface="Calibri"/>
                <a:cs typeface="Calibri"/>
                <a:sym typeface="Calibri"/>
              </a:endParaRPr>
            </a:p>
          </p:txBody>
        </p:sp>
        <p:sp>
          <p:nvSpPr>
            <p:cNvPr id="568" name="Google Shape;568;p20"/>
            <p:cNvSpPr txBox="1"/>
            <p:nvPr/>
          </p:nvSpPr>
          <p:spPr>
            <a:xfrm>
              <a:off x="2473623" y="2566564"/>
              <a:ext cx="11052082" cy="58477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3200" b="1">
                  <a:solidFill>
                    <a:schemeClr val="dk1"/>
                  </a:solidFill>
                  <a:latin typeface="Poppins"/>
                  <a:ea typeface="Poppins"/>
                  <a:cs typeface="Poppins"/>
                  <a:sym typeface="Poppins"/>
                </a:rPr>
                <a:t>Capability Training provided for DTI-Caraga Personnel</a:t>
              </a:r>
              <a:endParaRPr sz="3200" b="1">
                <a:solidFill>
                  <a:schemeClr val="dk1"/>
                </a:solidFill>
                <a:latin typeface="Poppins"/>
                <a:ea typeface="Poppins"/>
                <a:cs typeface="Poppins"/>
                <a:sym typeface="Poppins"/>
              </a:endParaRPr>
            </a:p>
          </p:txBody>
        </p:sp>
        <p:sp>
          <p:nvSpPr>
            <p:cNvPr id="569" name="Google Shape;569;p20"/>
            <p:cNvSpPr txBox="1"/>
            <p:nvPr/>
          </p:nvSpPr>
          <p:spPr>
            <a:xfrm>
              <a:off x="457200" y="2628900"/>
              <a:ext cx="2920884" cy="641201"/>
            </a:xfrm>
            <a:prstGeom prst="rect">
              <a:avLst/>
            </a:prstGeom>
            <a:noFill/>
            <a:ln>
              <a:noFill/>
            </a:ln>
          </p:spPr>
          <p:txBody>
            <a:bodyPr spcFirstLastPara="1" wrap="square" lIns="0" tIns="0" rIns="0" bIns="0" anchor="t" anchorCtr="0">
              <a:spAutoFit/>
            </a:bodyPr>
            <a:lstStyle/>
            <a:p>
              <a:pPr marL="0" marR="0" lvl="0" indent="0" algn="ctr" rtl="0">
                <a:lnSpc>
                  <a:spcPct val="93333"/>
                </a:lnSpc>
                <a:spcBef>
                  <a:spcPts val="0"/>
                </a:spcBef>
                <a:spcAft>
                  <a:spcPts val="0"/>
                </a:spcAft>
                <a:buNone/>
              </a:pPr>
              <a:r>
                <a:rPr lang="en-GB" sz="5400" b="1">
                  <a:solidFill>
                    <a:schemeClr val="dk2"/>
                  </a:solidFill>
                  <a:latin typeface="Montserrat"/>
                  <a:ea typeface="Montserrat"/>
                  <a:cs typeface="Montserrat"/>
                  <a:sym typeface="Montserrat"/>
                </a:rPr>
                <a:t>1</a:t>
              </a:r>
              <a:endParaRPr/>
            </a:p>
          </p:txBody>
        </p:sp>
        <p:sp>
          <p:nvSpPr>
            <p:cNvPr id="570" name="Google Shape;570;p20"/>
            <p:cNvSpPr txBox="1"/>
            <p:nvPr/>
          </p:nvSpPr>
          <p:spPr>
            <a:xfrm>
              <a:off x="2406405" y="3251556"/>
              <a:ext cx="12047100" cy="26781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2400">
                  <a:solidFill>
                    <a:schemeClr val="dk1"/>
                  </a:solidFill>
                  <a:latin typeface="Century Gothic"/>
                  <a:ea typeface="Century Gothic"/>
                  <a:cs typeface="Century Gothic"/>
                  <a:sym typeface="Century Gothic"/>
                </a:rPr>
                <a:t>*Training on Parliamentary Procedure – April 14, 2023 </a:t>
              </a:r>
              <a:endParaRPr/>
            </a:p>
            <a:p>
              <a:pPr marL="0" marR="0" lvl="0" indent="0" algn="l" rtl="0">
                <a:spcBef>
                  <a:spcPts val="0"/>
                </a:spcBef>
                <a:spcAft>
                  <a:spcPts val="0"/>
                </a:spcAft>
                <a:buNone/>
              </a:pPr>
              <a:r>
                <a:rPr lang="en-GB" sz="2400">
                  <a:solidFill>
                    <a:schemeClr val="dk1"/>
                  </a:solidFill>
                  <a:latin typeface="Century Gothic"/>
                  <a:ea typeface="Century Gothic"/>
                  <a:cs typeface="Century Gothic"/>
                  <a:sym typeface="Century Gothic"/>
                </a:rPr>
                <a:t>*SDRI: Capacity Building to onboard MSMEs to GeoRiskPh - Nov. 14, 2023</a:t>
              </a:r>
              <a:endParaRPr/>
            </a:p>
            <a:p>
              <a:pPr marL="0" marR="0" lvl="0" indent="0" algn="l" rtl="0">
                <a:spcBef>
                  <a:spcPts val="0"/>
                </a:spcBef>
                <a:spcAft>
                  <a:spcPts val="0"/>
                </a:spcAft>
                <a:buNone/>
              </a:pPr>
              <a:r>
                <a:rPr lang="en-GB" sz="2400">
                  <a:solidFill>
                    <a:schemeClr val="dk1"/>
                  </a:solidFill>
                  <a:latin typeface="Century Gothic"/>
                  <a:ea typeface="Century Gothic"/>
                  <a:cs typeface="Century Gothic"/>
                  <a:sym typeface="Century Gothic"/>
                </a:rPr>
                <a:t>*TOT on the YEP new Curriculum - Nov. 15-17, 2023</a:t>
              </a:r>
              <a:endParaRPr/>
            </a:p>
            <a:p>
              <a:pPr marL="0" marR="0" lvl="0" indent="0" algn="l" rtl="0">
                <a:spcBef>
                  <a:spcPts val="0"/>
                </a:spcBef>
                <a:spcAft>
                  <a:spcPts val="0"/>
                </a:spcAft>
                <a:buNone/>
              </a:pPr>
              <a:endParaRPr sz="2400">
                <a:solidFill>
                  <a:schemeClr val="dk1"/>
                </a:solidFill>
                <a:latin typeface="Century Gothic"/>
                <a:ea typeface="Century Gothic"/>
                <a:cs typeface="Century Gothic"/>
                <a:sym typeface="Century Gothic"/>
              </a:endParaRPr>
            </a:p>
            <a:p>
              <a:pPr marL="0" marR="0" lvl="0" indent="0" algn="l" rtl="0">
                <a:spcBef>
                  <a:spcPts val="0"/>
                </a:spcBef>
                <a:spcAft>
                  <a:spcPts val="0"/>
                </a:spcAft>
                <a:buNone/>
              </a:pPr>
              <a:r>
                <a:rPr lang="en-GB" sz="2400">
                  <a:solidFill>
                    <a:schemeClr val="dk1"/>
                  </a:solidFill>
                  <a:latin typeface="Century Gothic"/>
                  <a:ea typeface="Century Gothic"/>
                  <a:cs typeface="Century Gothic"/>
                  <a:sym typeface="Century Gothic"/>
                </a:rPr>
                <a:t>others:</a:t>
              </a:r>
              <a:endParaRPr/>
            </a:p>
            <a:p>
              <a:pPr marL="0" marR="0" lvl="0" indent="0" algn="l" rtl="0">
                <a:spcBef>
                  <a:spcPts val="0"/>
                </a:spcBef>
                <a:spcAft>
                  <a:spcPts val="0"/>
                </a:spcAft>
                <a:buNone/>
              </a:pPr>
              <a:r>
                <a:rPr lang="en-GB" sz="2400">
                  <a:solidFill>
                    <a:schemeClr val="dk1"/>
                  </a:solidFill>
                  <a:latin typeface="Century Gothic"/>
                  <a:ea typeface="Century Gothic"/>
                  <a:cs typeface="Century Gothic"/>
                  <a:sym typeface="Century Gothic"/>
                </a:rPr>
                <a:t>*Two (2) DTI-Caraga Personnel assisted during the rans of YEP! you Can Be Your Own Boss in ADS and ADN as one of the trainers.</a:t>
              </a:r>
              <a:endParaRPr sz="2400">
                <a:solidFill>
                  <a:schemeClr val="dk1"/>
                </a:solidFill>
                <a:latin typeface="Century Gothic"/>
                <a:ea typeface="Century Gothic"/>
                <a:cs typeface="Century Gothic"/>
                <a:sym typeface="Century Gothic"/>
              </a:endParaRPr>
            </a:p>
          </p:txBody>
        </p:sp>
      </p:grpSp>
      <p:pic>
        <p:nvPicPr>
          <p:cNvPr id="571" name="Google Shape;571;p20"/>
          <p:cNvPicPr preferRelativeResize="0"/>
          <p:nvPr/>
        </p:nvPicPr>
        <p:blipFill rotWithShape="1">
          <a:blip r:embed="rId4">
            <a:alphaModFix/>
          </a:blip>
          <a:srcRect/>
          <a:stretch/>
        </p:blipFill>
        <p:spPr>
          <a:xfrm>
            <a:off x="2580025" y="831615"/>
            <a:ext cx="1822571" cy="1069905"/>
          </a:xfrm>
          <a:prstGeom prst="rect">
            <a:avLst/>
          </a:prstGeom>
          <a:noFill/>
          <a:ln>
            <a:noFill/>
          </a:ln>
        </p:spPr>
      </p:pic>
      <p:pic>
        <p:nvPicPr>
          <p:cNvPr id="572" name="Google Shape;572;p20"/>
          <p:cNvPicPr preferRelativeResize="0"/>
          <p:nvPr/>
        </p:nvPicPr>
        <p:blipFill rotWithShape="1">
          <a:blip r:embed="rId5">
            <a:alphaModFix/>
          </a:blip>
          <a:srcRect/>
          <a:stretch/>
        </p:blipFill>
        <p:spPr>
          <a:xfrm>
            <a:off x="13411200" y="702288"/>
            <a:ext cx="2368483" cy="1199232"/>
          </a:xfrm>
          <a:prstGeom prst="rect">
            <a:avLst/>
          </a:prstGeom>
          <a:noFill/>
          <a:ln>
            <a:noFill/>
          </a:ln>
        </p:spPr>
      </p:pic>
      <p:pic>
        <p:nvPicPr>
          <p:cNvPr id="573" name="Google Shape;573;p20"/>
          <p:cNvPicPr preferRelativeResize="0"/>
          <p:nvPr/>
        </p:nvPicPr>
        <p:blipFill rotWithShape="1">
          <a:blip r:embed="rId6">
            <a:alphaModFix/>
          </a:blip>
          <a:srcRect/>
          <a:stretch/>
        </p:blipFill>
        <p:spPr>
          <a:xfrm>
            <a:off x="15900404" y="569177"/>
            <a:ext cx="1516310" cy="1516310"/>
          </a:xfrm>
          <a:prstGeom prst="rect">
            <a:avLst/>
          </a:prstGeom>
          <a:noFill/>
          <a:ln>
            <a:noFill/>
          </a:ln>
        </p:spPr>
      </p:pic>
      <p:sp>
        <p:nvSpPr>
          <p:cNvPr id="574" name="Google Shape;574;p20"/>
          <p:cNvSpPr txBox="1"/>
          <p:nvPr/>
        </p:nvSpPr>
        <p:spPr>
          <a:xfrm>
            <a:off x="4110215" y="1371212"/>
            <a:ext cx="9838329" cy="438150"/>
          </a:xfrm>
          <a:prstGeom prst="rect">
            <a:avLst/>
          </a:prstGeom>
          <a:noFill/>
          <a:ln>
            <a:noFill/>
          </a:ln>
        </p:spPr>
        <p:txBody>
          <a:bodyPr spcFirstLastPara="1" wrap="square" lIns="0" tIns="0" rIns="0" bIns="0" anchor="t" anchorCtr="0">
            <a:spAutoFit/>
          </a:bodyPr>
          <a:lstStyle/>
          <a:p>
            <a:pPr marL="0" marR="0" lvl="0" indent="0" algn="ctr" rtl="0">
              <a:lnSpc>
                <a:spcPct val="110000"/>
              </a:lnSpc>
              <a:spcBef>
                <a:spcPts val="0"/>
              </a:spcBef>
              <a:spcAft>
                <a:spcPts val="0"/>
              </a:spcAft>
              <a:buNone/>
            </a:pPr>
            <a:r>
              <a:rPr lang="en-GB" sz="3000" b="1">
                <a:solidFill>
                  <a:srgbClr val="1C2120"/>
                </a:solidFill>
                <a:latin typeface="Montserrat"/>
                <a:ea typeface="Montserrat"/>
                <a:cs typeface="Montserrat"/>
                <a:sym typeface="Montserrat"/>
              </a:rPr>
              <a:t>ENTERPRISE DEVELOPMENT UNIT</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Shape 578"/>
        <p:cNvGrpSpPr/>
        <p:nvPr/>
      </p:nvGrpSpPr>
      <p:grpSpPr>
        <a:xfrm>
          <a:off x="0" y="0"/>
          <a:ext cx="0" cy="0"/>
          <a:chOff x="0" y="0"/>
          <a:chExt cx="0" cy="0"/>
        </a:xfrm>
      </p:grpSpPr>
      <p:sp>
        <p:nvSpPr>
          <p:cNvPr id="579" name="Google Shape;579;p21"/>
          <p:cNvSpPr/>
          <p:nvPr/>
        </p:nvSpPr>
        <p:spPr>
          <a:xfrm>
            <a:off x="1058777" y="429656"/>
            <a:ext cx="1553339" cy="1518126"/>
          </a:xfrm>
          <a:custGeom>
            <a:avLst/>
            <a:gdLst/>
            <a:ahLst/>
            <a:cxnLst/>
            <a:rect l="l" t="t" r="r" b="b"/>
            <a:pathLst>
              <a:path w="1553339" h="1518126" extrusionOk="0">
                <a:moveTo>
                  <a:pt x="0" y="0"/>
                </a:moveTo>
                <a:lnTo>
                  <a:pt x="1553339" y="0"/>
                </a:lnTo>
                <a:lnTo>
                  <a:pt x="1553339" y="1518126"/>
                </a:lnTo>
                <a:lnTo>
                  <a:pt x="0" y="1518126"/>
                </a:lnTo>
                <a:lnTo>
                  <a:pt x="0" y="0"/>
                </a:lnTo>
                <a:close/>
              </a:path>
            </a:pathLst>
          </a:custGeom>
          <a:blipFill rotWithShape="1">
            <a:blip r:embed="rId3">
              <a:alphaModFix/>
            </a:blip>
            <a:stretch>
              <a:fillRect l="-31436" t="-10272" r="-26916" b="-57554"/>
            </a:stretch>
          </a:blipFill>
          <a:ln>
            <a:noFill/>
          </a:ln>
        </p:spPr>
      </p:sp>
      <p:cxnSp>
        <p:nvCxnSpPr>
          <p:cNvPr id="580" name="Google Shape;580;p21"/>
          <p:cNvCxnSpPr/>
          <p:nvPr/>
        </p:nvCxnSpPr>
        <p:spPr>
          <a:xfrm>
            <a:off x="2582039" y="1019175"/>
            <a:ext cx="14677261" cy="9525"/>
          </a:xfrm>
          <a:prstGeom prst="straightConnector1">
            <a:avLst/>
          </a:prstGeom>
          <a:noFill/>
          <a:ln w="19050" cap="flat" cmpd="sng">
            <a:solidFill>
              <a:srgbClr val="1C2120"/>
            </a:solidFill>
            <a:prstDash val="solid"/>
            <a:round/>
            <a:headEnd type="none" w="sm" len="sm"/>
            <a:tailEnd type="none" w="sm" len="sm"/>
          </a:ln>
        </p:spPr>
      </p:cxnSp>
      <p:pic>
        <p:nvPicPr>
          <p:cNvPr id="581" name="Google Shape;581;p21" descr="Coffins, ceramics products to be displayed in Go Negosyo Center - iOrbit  News Online"/>
          <p:cNvPicPr preferRelativeResize="0"/>
          <p:nvPr/>
        </p:nvPicPr>
        <p:blipFill rotWithShape="1">
          <a:blip r:embed="rId4">
            <a:alphaModFix/>
          </a:blip>
          <a:srcRect t="23333" b="24667"/>
          <a:stretch/>
        </p:blipFill>
        <p:spPr>
          <a:xfrm>
            <a:off x="7848600" y="1114762"/>
            <a:ext cx="2834847" cy="982746"/>
          </a:xfrm>
          <a:prstGeom prst="rect">
            <a:avLst/>
          </a:prstGeom>
          <a:noFill/>
          <a:ln>
            <a:noFill/>
          </a:ln>
        </p:spPr>
      </p:pic>
      <p:grpSp>
        <p:nvGrpSpPr>
          <p:cNvPr id="582" name="Google Shape;582;p21"/>
          <p:cNvGrpSpPr/>
          <p:nvPr/>
        </p:nvGrpSpPr>
        <p:grpSpPr>
          <a:xfrm>
            <a:off x="1065269" y="9428327"/>
            <a:ext cx="16230606" cy="515773"/>
            <a:chOff x="0" y="85715"/>
            <a:chExt cx="21640808" cy="687697"/>
          </a:xfrm>
        </p:grpSpPr>
        <p:sp>
          <p:nvSpPr>
            <p:cNvPr id="583" name="Google Shape;583;p21"/>
            <p:cNvSpPr/>
            <p:nvPr/>
          </p:nvSpPr>
          <p:spPr>
            <a:xfrm>
              <a:off x="0" y="123616"/>
              <a:ext cx="21640808" cy="649796"/>
            </a:xfrm>
            <a:prstGeom prst="rect">
              <a:avLst/>
            </a:prstGeom>
            <a:solidFill>
              <a:srgbClr val="1C212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4" name="Google Shape;584;p21"/>
            <p:cNvSpPr txBox="1"/>
            <p:nvPr/>
          </p:nvSpPr>
          <p:spPr>
            <a:xfrm>
              <a:off x="998193" y="85715"/>
              <a:ext cx="19644415" cy="440266"/>
            </a:xfrm>
            <a:prstGeom prst="rect">
              <a:avLst/>
            </a:prstGeom>
            <a:noFill/>
            <a:ln>
              <a:noFill/>
            </a:ln>
          </p:spPr>
          <p:txBody>
            <a:bodyPr spcFirstLastPara="1" wrap="square" lIns="0" tIns="0" rIns="0" bIns="0" anchor="t" anchorCtr="0">
              <a:spAutoFit/>
            </a:bodyPr>
            <a:lstStyle/>
            <a:p>
              <a:pPr marL="0" marR="0" lvl="0" indent="0" algn="just" rtl="0">
                <a:lnSpc>
                  <a:spcPct val="140000"/>
                </a:lnSpc>
                <a:spcBef>
                  <a:spcPts val="0"/>
                </a:spcBef>
                <a:spcAft>
                  <a:spcPts val="0"/>
                </a:spcAft>
                <a:buNone/>
              </a:pPr>
              <a:r>
                <a:rPr lang="en-GB" sz="2000" b="1">
                  <a:solidFill>
                    <a:srgbClr val="FDFDFD"/>
                  </a:solidFill>
                  <a:latin typeface="Montserrat"/>
                  <a:ea typeface="Montserrat"/>
                  <a:cs typeface="Montserrat"/>
                  <a:sym typeface="Montserrat"/>
                </a:rPr>
                <a:t>DTI- SME DEVELOPMENT DIVISION│NC│CARP│TPU│EDU</a:t>
              </a:r>
              <a:endParaRPr/>
            </a:p>
          </p:txBody>
        </p:sp>
      </p:grpSp>
      <p:grpSp>
        <p:nvGrpSpPr>
          <p:cNvPr id="585" name="Google Shape;585;p21"/>
          <p:cNvGrpSpPr/>
          <p:nvPr/>
        </p:nvGrpSpPr>
        <p:grpSpPr>
          <a:xfrm>
            <a:off x="-116541" y="2748479"/>
            <a:ext cx="17119009" cy="1118504"/>
            <a:chOff x="457200" y="2525278"/>
            <a:chExt cx="13577805" cy="1118504"/>
          </a:xfrm>
        </p:grpSpPr>
        <p:sp>
          <p:nvSpPr>
            <p:cNvPr id="586" name="Google Shape;586;p21"/>
            <p:cNvSpPr/>
            <p:nvPr/>
          </p:nvSpPr>
          <p:spPr>
            <a:xfrm>
              <a:off x="2323450" y="2525278"/>
              <a:ext cx="11711555" cy="744823"/>
            </a:xfrm>
            <a:prstGeom prst="roundRect">
              <a:avLst>
                <a:gd name="adj" fmla="val 16667"/>
              </a:avLst>
            </a:prstGeom>
            <a:solidFill>
              <a:srgbClr val="DAE5F1"/>
            </a:solidFill>
            <a:ln w="25400" cap="flat"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B7CCE4"/>
                </a:solidFill>
                <a:latin typeface="Calibri"/>
                <a:ea typeface="Calibri"/>
                <a:cs typeface="Calibri"/>
                <a:sym typeface="Calibri"/>
              </a:endParaRPr>
            </a:p>
          </p:txBody>
        </p:sp>
        <p:sp>
          <p:nvSpPr>
            <p:cNvPr id="587" name="Google Shape;587;p21"/>
            <p:cNvSpPr txBox="1"/>
            <p:nvPr/>
          </p:nvSpPr>
          <p:spPr>
            <a:xfrm>
              <a:off x="2473623" y="2566564"/>
              <a:ext cx="11052082" cy="1077218"/>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3200" b="1">
                  <a:solidFill>
                    <a:schemeClr val="dk1"/>
                  </a:solidFill>
                  <a:latin typeface="Poppins"/>
                  <a:ea typeface="Poppins"/>
                  <a:cs typeface="Poppins"/>
                  <a:sym typeface="Poppins"/>
                </a:rPr>
                <a:t>Close coordination on NC-related activities</a:t>
              </a:r>
              <a:endParaRPr/>
            </a:p>
            <a:p>
              <a:pPr marL="0" marR="0" lvl="0" indent="0" algn="l" rtl="0">
                <a:spcBef>
                  <a:spcPts val="0"/>
                </a:spcBef>
                <a:spcAft>
                  <a:spcPts val="0"/>
                </a:spcAft>
                <a:buNone/>
              </a:pPr>
              <a:endParaRPr sz="3200" b="1">
                <a:solidFill>
                  <a:schemeClr val="dk1"/>
                </a:solidFill>
                <a:latin typeface="Poppins"/>
                <a:ea typeface="Poppins"/>
                <a:cs typeface="Poppins"/>
                <a:sym typeface="Poppins"/>
              </a:endParaRPr>
            </a:p>
          </p:txBody>
        </p:sp>
        <p:sp>
          <p:nvSpPr>
            <p:cNvPr id="588" name="Google Shape;588;p21"/>
            <p:cNvSpPr txBox="1"/>
            <p:nvPr/>
          </p:nvSpPr>
          <p:spPr>
            <a:xfrm>
              <a:off x="457200" y="2628900"/>
              <a:ext cx="2920884" cy="641201"/>
            </a:xfrm>
            <a:prstGeom prst="rect">
              <a:avLst/>
            </a:prstGeom>
            <a:noFill/>
            <a:ln>
              <a:noFill/>
            </a:ln>
          </p:spPr>
          <p:txBody>
            <a:bodyPr spcFirstLastPara="1" wrap="square" lIns="0" tIns="0" rIns="0" bIns="0" anchor="t" anchorCtr="0">
              <a:spAutoFit/>
            </a:bodyPr>
            <a:lstStyle/>
            <a:p>
              <a:pPr marL="0" marR="0" lvl="0" indent="0" algn="ctr" rtl="0">
                <a:lnSpc>
                  <a:spcPct val="93333"/>
                </a:lnSpc>
                <a:spcBef>
                  <a:spcPts val="0"/>
                </a:spcBef>
                <a:spcAft>
                  <a:spcPts val="0"/>
                </a:spcAft>
                <a:buNone/>
              </a:pPr>
              <a:r>
                <a:rPr lang="en-GB" sz="5400" b="1">
                  <a:solidFill>
                    <a:schemeClr val="dk2"/>
                  </a:solidFill>
                  <a:latin typeface="Montserrat"/>
                  <a:ea typeface="Montserrat"/>
                  <a:cs typeface="Montserrat"/>
                  <a:sym typeface="Montserrat"/>
                </a:rPr>
                <a:t>1</a:t>
              </a:r>
              <a:endParaRPr/>
            </a:p>
          </p:txBody>
        </p:sp>
      </p:grpSp>
      <p:grpSp>
        <p:nvGrpSpPr>
          <p:cNvPr id="589" name="Google Shape;589;p21"/>
          <p:cNvGrpSpPr/>
          <p:nvPr/>
        </p:nvGrpSpPr>
        <p:grpSpPr>
          <a:xfrm>
            <a:off x="-70999" y="3898522"/>
            <a:ext cx="16990262" cy="1196269"/>
            <a:chOff x="457200" y="2525278"/>
            <a:chExt cx="13563600" cy="744824"/>
          </a:xfrm>
        </p:grpSpPr>
        <p:sp>
          <p:nvSpPr>
            <p:cNvPr id="590" name="Google Shape;590;p21"/>
            <p:cNvSpPr/>
            <p:nvPr/>
          </p:nvSpPr>
          <p:spPr>
            <a:xfrm>
              <a:off x="2323450" y="2525278"/>
              <a:ext cx="11697350" cy="744824"/>
            </a:xfrm>
            <a:prstGeom prst="roundRect">
              <a:avLst>
                <a:gd name="adj" fmla="val 16667"/>
              </a:avLst>
            </a:prstGeom>
            <a:solidFill>
              <a:srgbClr val="DAE5F1"/>
            </a:solidFill>
            <a:ln w="25400" cap="flat"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B7CCE4"/>
                </a:solidFill>
                <a:latin typeface="Calibri"/>
                <a:ea typeface="Calibri"/>
                <a:cs typeface="Calibri"/>
                <a:sym typeface="Calibri"/>
              </a:endParaRPr>
            </a:p>
          </p:txBody>
        </p:sp>
        <p:sp>
          <p:nvSpPr>
            <p:cNvPr id="591" name="Google Shape;591;p21"/>
            <p:cNvSpPr txBox="1"/>
            <p:nvPr/>
          </p:nvSpPr>
          <p:spPr>
            <a:xfrm>
              <a:off x="2473622" y="2566564"/>
              <a:ext cx="11037414" cy="6707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3200" b="1">
                  <a:solidFill>
                    <a:schemeClr val="dk1"/>
                  </a:solidFill>
                  <a:latin typeface="Poppins"/>
                  <a:ea typeface="Poppins"/>
                  <a:cs typeface="Poppins"/>
                  <a:sym typeface="Poppins"/>
                </a:rPr>
                <a:t>Facilitation of POs’ various requests such as Requests for Cash Allocation, and participation in various activities</a:t>
              </a:r>
              <a:endParaRPr sz="2400" b="1" i="1">
                <a:solidFill>
                  <a:schemeClr val="dk1"/>
                </a:solidFill>
                <a:latin typeface="Poppins"/>
                <a:ea typeface="Poppins"/>
                <a:cs typeface="Poppins"/>
                <a:sym typeface="Poppins"/>
              </a:endParaRPr>
            </a:p>
          </p:txBody>
        </p:sp>
        <p:sp>
          <p:nvSpPr>
            <p:cNvPr id="592" name="Google Shape;592;p21"/>
            <p:cNvSpPr txBox="1"/>
            <p:nvPr/>
          </p:nvSpPr>
          <p:spPr>
            <a:xfrm>
              <a:off x="457200" y="2628900"/>
              <a:ext cx="2920884" cy="641201"/>
            </a:xfrm>
            <a:prstGeom prst="rect">
              <a:avLst/>
            </a:prstGeom>
            <a:noFill/>
            <a:ln>
              <a:noFill/>
            </a:ln>
          </p:spPr>
          <p:txBody>
            <a:bodyPr spcFirstLastPara="1" wrap="square" lIns="0" tIns="0" rIns="0" bIns="0" anchor="t" anchorCtr="0">
              <a:spAutoFit/>
            </a:bodyPr>
            <a:lstStyle/>
            <a:p>
              <a:pPr marL="0" marR="0" lvl="0" indent="0" algn="ctr" rtl="0">
                <a:lnSpc>
                  <a:spcPct val="93333"/>
                </a:lnSpc>
                <a:spcBef>
                  <a:spcPts val="0"/>
                </a:spcBef>
                <a:spcAft>
                  <a:spcPts val="0"/>
                </a:spcAft>
                <a:buNone/>
              </a:pPr>
              <a:r>
                <a:rPr lang="en-GB" sz="5400" b="1">
                  <a:solidFill>
                    <a:schemeClr val="dk2"/>
                  </a:solidFill>
                  <a:latin typeface="Montserrat"/>
                  <a:ea typeface="Montserrat"/>
                  <a:cs typeface="Montserrat"/>
                  <a:sym typeface="Montserrat"/>
                </a:rPr>
                <a:t>2</a:t>
              </a:r>
              <a:endParaRPr sz="5400" b="1">
                <a:solidFill>
                  <a:schemeClr val="dk2"/>
                </a:solidFill>
                <a:latin typeface="Montserrat"/>
                <a:ea typeface="Montserrat"/>
                <a:cs typeface="Montserrat"/>
                <a:sym typeface="Montserrat"/>
              </a:endParaRPr>
            </a:p>
          </p:txBody>
        </p:sp>
      </p:grpSp>
      <p:grpSp>
        <p:nvGrpSpPr>
          <p:cNvPr id="593" name="Google Shape;593;p21"/>
          <p:cNvGrpSpPr/>
          <p:nvPr/>
        </p:nvGrpSpPr>
        <p:grpSpPr>
          <a:xfrm>
            <a:off x="-53070" y="5432075"/>
            <a:ext cx="17082432" cy="1147193"/>
            <a:chOff x="457200" y="2525277"/>
            <a:chExt cx="13563600" cy="1147193"/>
          </a:xfrm>
        </p:grpSpPr>
        <p:sp>
          <p:nvSpPr>
            <p:cNvPr id="594" name="Google Shape;594;p21"/>
            <p:cNvSpPr/>
            <p:nvPr/>
          </p:nvSpPr>
          <p:spPr>
            <a:xfrm>
              <a:off x="2323450" y="2525277"/>
              <a:ext cx="11697350" cy="1147193"/>
            </a:xfrm>
            <a:prstGeom prst="roundRect">
              <a:avLst>
                <a:gd name="adj" fmla="val 16667"/>
              </a:avLst>
            </a:prstGeom>
            <a:solidFill>
              <a:srgbClr val="DAE5F1"/>
            </a:solidFill>
            <a:ln w="25400" cap="flat"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B7CCE4"/>
                </a:solidFill>
                <a:latin typeface="Calibri"/>
                <a:ea typeface="Calibri"/>
                <a:cs typeface="Calibri"/>
                <a:sym typeface="Calibri"/>
              </a:endParaRPr>
            </a:p>
          </p:txBody>
        </p:sp>
        <p:sp>
          <p:nvSpPr>
            <p:cNvPr id="595" name="Google Shape;595;p21"/>
            <p:cNvSpPr txBox="1"/>
            <p:nvPr/>
          </p:nvSpPr>
          <p:spPr>
            <a:xfrm>
              <a:off x="2473622" y="2566564"/>
              <a:ext cx="11037414" cy="1077218"/>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3200" b="1">
                  <a:solidFill>
                    <a:schemeClr val="dk1"/>
                  </a:solidFill>
                  <a:latin typeface="Poppins"/>
                  <a:ea typeface="Poppins"/>
                  <a:cs typeface="Poppins"/>
                  <a:sym typeface="Poppins"/>
                </a:rPr>
                <a:t>Facilitation of CPMS/BN/BMBE-related concerns and requests such as (reports generation, bulk uploading errors, etc.)</a:t>
              </a:r>
              <a:endParaRPr sz="3200" b="1">
                <a:solidFill>
                  <a:schemeClr val="dk1"/>
                </a:solidFill>
                <a:latin typeface="Poppins"/>
                <a:ea typeface="Poppins"/>
                <a:cs typeface="Poppins"/>
                <a:sym typeface="Poppins"/>
              </a:endParaRPr>
            </a:p>
          </p:txBody>
        </p:sp>
        <p:sp>
          <p:nvSpPr>
            <p:cNvPr id="596" name="Google Shape;596;p21"/>
            <p:cNvSpPr txBox="1"/>
            <p:nvPr/>
          </p:nvSpPr>
          <p:spPr>
            <a:xfrm>
              <a:off x="457200" y="2628900"/>
              <a:ext cx="2920884" cy="641201"/>
            </a:xfrm>
            <a:prstGeom prst="rect">
              <a:avLst/>
            </a:prstGeom>
            <a:noFill/>
            <a:ln>
              <a:noFill/>
            </a:ln>
          </p:spPr>
          <p:txBody>
            <a:bodyPr spcFirstLastPara="1" wrap="square" lIns="0" tIns="0" rIns="0" bIns="0" anchor="t" anchorCtr="0">
              <a:spAutoFit/>
            </a:bodyPr>
            <a:lstStyle/>
            <a:p>
              <a:pPr marL="0" marR="0" lvl="0" indent="0" algn="ctr" rtl="0">
                <a:lnSpc>
                  <a:spcPct val="93333"/>
                </a:lnSpc>
                <a:spcBef>
                  <a:spcPts val="0"/>
                </a:spcBef>
                <a:spcAft>
                  <a:spcPts val="0"/>
                </a:spcAft>
                <a:buNone/>
              </a:pPr>
              <a:r>
                <a:rPr lang="en-GB" sz="5400" b="1">
                  <a:solidFill>
                    <a:schemeClr val="dk2"/>
                  </a:solidFill>
                  <a:latin typeface="Montserrat"/>
                  <a:ea typeface="Montserrat"/>
                  <a:cs typeface="Montserrat"/>
                  <a:sym typeface="Montserrat"/>
                </a:rPr>
                <a:t>3</a:t>
              </a:r>
              <a:endParaRPr sz="5400" b="1">
                <a:solidFill>
                  <a:schemeClr val="dk2"/>
                </a:solidFill>
                <a:latin typeface="Montserrat"/>
                <a:ea typeface="Montserrat"/>
                <a:cs typeface="Montserrat"/>
                <a:sym typeface="Montserrat"/>
              </a:endParaRPr>
            </a:p>
          </p:txBody>
        </p:sp>
      </p:gr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Shape 604"/>
        <p:cNvGrpSpPr/>
        <p:nvPr/>
      </p:nvGrpSpPr>
      <p:grpSpPr>
        <a:xfrm>
          <a:off x="0" y="0"/>
          <a:ext cx="0" cy="0"/>
          <a:chOff x="0" y="0"/>
          <a:chExt cx="0" cy="0"/>
        </a:xfrm>
      </p:grpSpPr>
      <p:sp>
        <p:nvSpPr>
          <p:cNvPr id="605" name="Google Shape;605;p22"/>
          <p:cNvSpPr/>
          <p:nvPr/>
        </p:nvSpPr>
        <p:spPr>
          <a:xfrm>
            <a:off x="1028700" y="453061"/>
            <a:ext cx="1553339" cy="1518126"/>
          </a:xfrm>
          <a:custGeom>
            <a:avLst/>
            <a:gdLst/>
            <a:ahLst/>
            <a:cxnLst/>
            <a:rect l="l" t="t" r="r" b="b"/>
            <a:pathLst>
              <a:path w="1553339" h="1518126" extrusionOk="0">
                <a:moveTo>
                  <a:pt x="0" y="0"/>
                </a:moveTo>
                <a:lnTo>
                  <a:pt x="1553339" y="0"/>
                </a:lnTo>
                <a:lnTo>
                  <a:pt x="1553339" y="1518126"/>
                </a:lnTo>
                <a:lnTo>
                  <a:pt x="0" y="1518126"/>
                </a:lnTo>
                <a:lnTo>
                  <a:pt x="0" y="0"/>
                </a:lnTo>
                <a:close/>
              </a:path>
            </a:pathLst>
          </a:custGeom>
          <a:blipFill rotWithShape="1">
            <a:blip r:embed="rId3">
              <a:alphaModFix/>
            </a:blip>
            <a:stretch>
              <a:fillRect l="-31436" t="-10272" r="-26916" b="-57554"/>
            </a:stretch>
          </a:blipFill>
          <a:ln>
            <a:noFill/>
          </a:ln>
        </p:spPr>
      </p:sp>
      <p:cxnSp>
        <p:nvCxnSpPr>
          <p:cNvPr id="606" name="Google Shape;606;p22"/>
          <p:cNvCxnSpPr/>
          <p:nvPr/>
        </p:nvCxnSpPr>
        <p:spPr>
          <a:xfrm>
            <a:off x="2582039" y="1019175"/>
            <a:ext cx="14677261" cy="9525"/>
          </a:xfrm>
          <a:prstGeom prst="straightConnector1">
            <a:avLst/>
          </a:prstGeom>
          <a:noFill/>
          <a:ln w="19050" cap="flat" cmpd="sng">
            <a:solidFill>
              <a:srgbClr val="1C2120"/>
            </a:solidFill>
            <a:prstDash val="solid"/>
            <a:round/>
            <a:headEnd type="none" w="sm" len="sm"/>
            <a:tailEnd type="none" w="sm" len="sm"/>
          </a:ln>
        </p:spPr>
      </p:cxnSp>
      <p:grpSp>
        <p:nvGrpSpPr>
          <p:cNvPr id="607" name="Google Shape;607;p22"/>
          <p:cNvGrpSpPr/>
          <p:nvPr/>
        </p:nvGrpSpPr>
        <p:grpSpPr>
          <a:xfrm>
            <a:off x="1061357" y="9029700"/>
            <a:ext cx="16230606" cy="487347"/>
            <a:chOff x="0" y="0"/>
            <a:chExt cx="21640808" cy="649796"/>
          </a:xfrm>
        </p:grpSpPr>
        <p:sp>
          <p:nvSpPr>
            <p:cNvPr id="608" name="Google Shape;608;p22"/>
            <p:cNvSpPr/>
            <p:nvPr/>
          </p:nvSpPr>
          <p:spPr>
            <a:xfrm>
              <a:off x="0" y="0"/>
              <a:ext cx="21640808" cy="649796"/>
            </a:xfrm>
            <a:prstGeom prst="rect">
              <a:avLst/>
            </a:prstGeom>
            <a:solidFill>
              <a:srgbClr val="1C212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9" name="Google Shape;609;p22"/>
            <p:cNvSpPr txBox="1"/>
            <p:nvPr/>
          </p:nvSpPr>
          <p:spPr>
            <a:xfrm>
              <a:off x="998196" y="104764"/>
              <a:ext cx="19644415" cy="440267"/>
            </a:xfrm>
            <a:prstGeom prst="rect">
              <a:avLst/>
            </a:prstGeom>
            <a:noFill/>
            <a:ln>
              <a:noFill/>
            </a:ln>
          </p:spPr>
          <p:txBody>
            <a:bodyPr spcFirstLastPara="1" wrap="square" lIns="0" tIns="0" rIns="0" bIns="0" anchor="t" anchorCtr="0">
              <a:spAutoFit/>
            </a:bodyPr>
            <a:lstStyle/>
            <a:p>
              <a:pPr marL="0" marR="0" lvl="0" indent="0" algn="just" rtl="0">
                <a:lnSpc>
                  <a:spcPct val="140000"/>
                </a:lnSpc>
                <a:spcBef>
                  <a:spcPts val="0"/>
                </a:spcBef>
                <a:spcAft>
                  <a:spcPts val="0"/>
                </a:spcAft>
                <a:buNone/>
              </a:pPr>
              <a:r>
                <a:rPr lang="en-GB" sz="2000" b="1">
                  <a:solidFill>
                    <a:srgbClr val="FDFDFD"/>
                  </a:solidFill>
                  <a:latin typeface="Montserrat"/>
                  <a:ea typeface="Montserrat"/>
                  <a:cs typeface="Montserrat"/>
                  <a:sym typeface="Montserrat"/>
                </a:rPr>
                <a:t>DTI- SME DEVELOPMENT DIVISION│NC│CARP│TPU│EDU</a:t>
              </a:r>
              <a:endParaRPr/>
            </a:p>
          </p:txBody>
        </p:sp>
      </p:grpSp>
      <p:pic>
        <p:nvPicPr>
          <p:cNvPr id="610" name="Google Shape;610;p22"/>
          <p:cNvPicPr preferRelativeResize="0"/>
          <p:nvPr/>
        </p:nvPicPr>
        <p:blipFill rotWithShape="1">
          <a:blip r:embed="rId4">
            <a:alphaModFix/>
          </a:blip>
          <a:srcRect t="14907" b="15064"/>
          <a:stretch/>
        </p:blipFill>
        <p:spPr>
          <a:xfrm>
            <a:off x="7543800" y="1050852"/>
            <a:ext cx="3709766" cy="1143000"/>
          </a:xfrm>
          <a:prstGeom prst="rect">
            <a:avLst/>
          </a:prstGeom>
          <a:noFill/>
          <a:ln>
            <a:noFill/>
          </a:ln>
        </p:spPr>
      </p:pic>
      <p:grpSp>
        <p:nvGrpSpPr>
          <p:cNvPr id="611" name="Google Shape;611;p22"/>
          <p:cNvGrpSpPr/>
          <p:nvPr/>
        </p:nvGrpSpPr>
        <p:grpSpPr>
          <a:xfrm>
            <a:off x="0" y="2988493"/>
            <a:ext cx="16786596" cy="1969199"/>
            <a:chOff x="457200" y="2525278"/>
            <a:chExt cx="13577805" cy="1969199"/>
          </a:xfrm>
        </p:grpSpPr>
        <p:sp>
          <p:nvSpPr>
            <p:cNvPr id="612" name="Google Shape;612;p22"/>
            <p:cNvSpPr/>
            <p:nvPr/>
          </p:nvSpPr>
          <p:spPr>
            <a:xfrm>
              <a:off x="2323450" y="2525278"/>
              <a:ext cx="11711555" cy="744823"/>
            </a:xfrm>
            <a:prstGeom prst="roundRect">
              <a:avLst>
                <a:gd name="adj" fmla="val 16667"/>
              </a:avLst>
            </a:prstGeom>
            <a:solidFill>
              <a:srgbClr val="DAE5F1"/>
            </a:solidFill>
            <a:ln w="25400" cap="flat"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B7CCE4"/>
                </a:solidFill>
                <a:latin typeface="Calibri"/>
                <a:ea typeface="Calibri"/>
                <a:cs typeface="Calibri"/>
                <a:sym typeface="Calibri"/>
              </a:endParaRPr>
            </a:p>
          </p:txBody>
        </p:sp>
        <p:sp>
          <p:nvSpPr>
            <p:cNvPr id="613" name="Google Shape;613;p22"/>
            <p:cNvSpPr txBox="1"/>
            <p:nvPr/>
          </p:nvSpPr>
          <p:spPr>
            <a:xfrm>
              <a:off x="2473623" y="2645245"/>
              <a:ext cx="11052082" cy="58477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3200" b="1">
                  <a:solidFill>
                    <a:schemeClr val="dk1"/>
                  </a:solidFill>
                  <a:latin typeface="Poppins"/>
                  <a:ea typeface="Poppins"/>
                  <a:cs typeface="Poppins"/>
                  <a:sym typeface="Poppins"/>
                </a:rPr>
                <a:t>Product Development</a:t>
              </a:r>
              <a:endParaRPr sz="3200" b="1">
                <a:solidFill>
                  <a:schemeClr val="dk1"/>
                </a:solidFill>
                <a:latin typeface="Poppins"/>
                <a:ea typeface="Poppins"/>
                <a:cs typeface="Poppins"/>
                <a:sym typeface="Poppins"/>
              </a:endParaRPr>
            </a:p>
          </p:txBody>
        </p:sp>
        <p:sp>
          <p:nvSpPr>
            <p:cNvPr id="614" name="Google Shape;614;p22"/>
            <p:cNvSpPr txBox="1"/>
            <p:nvPr/>
          </p:nvSpPr>
          <p:spPr>
            <a:xfrm>
              <a:off x="457200" y="2628900"/>
              <a:ext cx="2920884" cy="641201"/>
            </a:xfrm>
            <a:prstGeom prst="rect">
              <a:avLst/>
            </a:prstGeom>
            <a:noFill/>
            <a:ln>
              <a:noFill/>
            </a:ln>
          </p:spPr>
          <p:txBody>
            <a:bodyPr spcFirstLastPara="1" wrap="square" lIns="0" tIns="0" rIns="0" bIns="0" anchor="t" anchorCtr="0">
              <a:spAutoFit/>
            </a:bodyPr>
            <a:lstStyle/>
            <a:p>
              <a:pPr marL="0" marR="0" lvl="0" indent="0" algn="ctr" rtl="0">
                <a:lnSpc>
                  <a:spcPct val="93333"/>
                </a:lnSpc>
                <a:spcBef>
                  <a:spcPts val="0"/>
                </a:spcBef>
                <a:spcAft>
                  <a:spcPts val="0"/>
                </a:spcAft>
                <a:buNone/>
              </a:pPr>
              <a:r>
                <a:rPr lang="en-GB" sz="5400" b="1">
                  <a:solidFill>
                    <a:schemeClr val="dk2"/>
                  </a:solidFill>
                  <a:latin typeface="Montserrat"/>
                  <a:ea typeface="Montserrat"/>
                  <a:cs typeface="Montserrat"/>
                  <a:sym typeface="Montserrat"/>
                </a:rPr>
                <a:t>1</a:t>
              </a:r>
              <a:endParaRPr/>
            </a:p>
          </p:txBody>
        </p:sp>
        <p:sp>
          <p:nvSpPr>
            <p:cNvPr id="615" name="Google Shape;615;p22"/>
            <p:cNvSpPr txBox="1"/>
            <p:nvPr/>
          </p:nvSpPr>
          <p:spPr>
            <a:xfrm>
              <a:off x="2348895" y="3294148"/>
              <a:ext cx="11574432" cy="1200329"/>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n-GB" sz="2400">
                  <a:solidFill>
                    <a:schemeClr val="dk1"/>
                  </a:solidFill>
                  <a:latin typeface="Century Gothic"/>
                  <a:ea typeface="Century Gothic"/>
                  <a:cs typeface="Century Gothic"/>
                  <a:sym typeface="Century Gothic"/>
                </a:rPr>
                <a:t>Extended assistance to POs in the acquisition of necessary licenses and registration of their assisted ARBOs to improve product quality, compliance and expand market (via the DTI-DAR-DOST Synchronization Program)</a:t>
              </a:r>
              <a:endParaRPr sz="2400">
                <a:solidFill>
                  <a:schemeClr val="dk1"/>
                </a:solidFill>
                <a:latin typeface="Century Gothic"/>
                <a:ea typeface="Century Gothic"/>
                <a:cs typeface="Century Gothic"/>
                <a:sym typeface="Century Gothic"/>
              </a:endParaRPr>
            </a:p>
          </p:txBody>
        </p:sp>
      </p:gr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Shape 619"/>
        <p:cNvGrpSpPr/>
        <p:nvPr/>
      </p:nvGrpSpPr>
      <p:grpSpPr>
        <a:xfrm>
          <a:off x="0" y="0"/>
          <a:ext cx="0" cy="0"/>
          <a:chOff x="0" y="0"/>
          <a:chExt cx="0" cy="0"/>
        </a:xfrm>
      </p:grpSpPr>
      <p:sp>
        <p:nvSpPr>
          <p:cNvPr id="620" name="Google Shape;620;p23"/>
          <p:cNvSpPr/>
          <p:nvPr/>
        </p:nvSpPr>
        <p:spPr>
          <a:xfrm>
            <a:off x="1028700" y="453061"/>
            <a:ext cx="1553339" cy="1518126"/>
          </a:xfrm>
          <a:custGeom>
            <a:avLst/>
            <a:gdLst/>
            <a:ahLst/>
            <a:cxnLst/>
            <a:rect l="l" t="t" r="r" b="b"/>
            <a:pathLst>
              <a:path w="1553339" h="1518126" extrusionOk="0">
                <a:moveTo>
                  <a:pt x="0" y="0"/>
                </a:moveTo>
                <a:lnTo>
                  <a:pt x="1553339" y="0"/>
                </a:lnTo>
                <a:lnTo>
                  <a:pt x="1553339" y="1518126"/>
                </a:lnTo>
                <a:lnTo>
                  <a:pt x="0" y="1518126"/>
                </a:lnTo>
                <a:lnTo>
                  <a:pt x="0" y="0"/>
                </a:lnTo>
                <a:close/>
              </a:path>
            </a:pathLst>
          </a:custGeom>
          <a:blipFill rotWithShape="1">
            <a:blip r:embed="rId3">
              <a:alphaModFix/>
            </a:blip>
            <a:stretch>
              <a:fillRect l="-31436" t="-10272" r="-26916" b="-57554"/>
            </a:stretch>
          </a:blipFill>
          <a:ln>
            <a:noFill/>
          </a:ln>
        </p:spPr>
      </p:sp>
      <p:cxnSp>
        <p:nvCxnSpPr>
          <p:cNvPr id="621" name="Google Shape;621;p23"/>
          <p:cNvCxnSpPr/>
          <p:nvPr/>
        </p:nvCxnSpPr>
        <p:spPr>
          <a:xfrm>
            <a:off x="2582039" y="1019175"/>
            <a:ext cx="14677261" cy="9525"/>
          </a:xfrm>
          <a:prstGeom prst="straightConnector1">
            <a:avLst/>
          </a:prstGeom>
          <a:noFill/>
          <a:ln w="19050" cap="flat" cmpd="sng">
            <a:solidFill>
              <a:srgbClr val="1C2120"/>
            </a:solidFill>
            <a:prstDash val="solid"/>
            <a:round/>
            <a:headEnd type="none" w="sm" len="sm"/>
            <a:tailEnd type="none" w="sm" len="sm"/>
          </a:ln>
        </p:spPr>
      </p:cxnSp>
      <p:sp>
        <p:nvSpPr>
          <p:cNvPr id="622" name="Google Shape;622;p23"/>
          <p:cNvSpPr txBox="1"/>
          <p:nvPr/>
        </p:nvSpPr>
        <p:spPr>
          <a:xfrm>
            <a:off x="4731446" y="2911966"/>
            <a:ext cx="8825108" cy="2089226"/>
          </a:xfrm>
          <a:prstGeom prst="rect">
            <a:avLst/>
          </a:prstGeom>
          <a:noFill/>
          <a:ln>
            <a:noFill/>
          </a:ln>
        </p:spPr>
        <p:txBody>
          <a:bodyPr spcFirstLastPara="1" wrap="square" lIns="0" tIns="0" rIns="0" bIns="0" anchor="t" anchorCtr="0">
            <a:spAutoFit/>
          </a:bodyPr>
          <a:lstStyle/>
          <a:p>
            <a:pPr marL="0" marR="0" lvl="0" indent="0" algn="ctr" rtl="0">
              <a:lnSpc>
                <a:spcPct val="134000"/>
              </a:lnSpc>
              <a:spcBef>
                <a:spcPts val="0"/>
              </a:spcBef>
              <a:spcAft>
                <a:spcPts val="0"/>
              </a:spcAft>
              <a:buNone/>
            </a:pPr>
            <a:r>
              <a:rPr lang="en-GB" sz="6400" b="1">
                <a:solidFill>
                  <a:srgbClr val="1C2120"/>
                </a:solidFill>
                <a:latin typeface="Montserrat"/>
                <a:ea typeface="Montserrat"/>
                <a:cs typeface="Montserrat"/>
                <a:sym typeface="Montserrat"/>
              </a:rPr>
              <a:t>Inventory of Database</a:t>
            </a:r>
            <a:endParaRPr sz="6400" b="1">
              <a:solidFill>
                <a:srgbClr val="1C2120"/>
              </a:solidFill>
              <a:latin typeface="Montserrat"/>
              <a:ea typeface="Montserrat"/>
              <a:cs typeface="Montserrat"/>
              <a:sym typeface="Montserrat"/>
            </a:endParaRPr>
          </a:p>
        </p:txBody>
      </p:sp>
      <p:sp>
        <p:nvSpPr>
          <p:cNvPr id="623" name="Google Shape;623;p23"/>
          <p:cNvSpPr/>
          <p:nvPr/>
        </p:nvSpPr>
        <p:spPr>
          <a:xfrm>
            <a:off x="4762836" y="6421878"/>
            <a:ext cx="8762328" cy="91347"/>
          </a:xfrm>
          <a:prstGeom prst="rect">
            <a:avLst/>
          </a:prstGeom>
          <a:solidFill>
            <a:srgbClr val="1C212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24" name="Google Shape;624;p23"/>
          <p:cNvGrpSpPr/>
          <p:nvPr/>
        </p:nvGrpSpPr>
        <p:grpSpPr>
          <a:xfrm>
            <a:off x="1028700" y="8770953"/>
            <a:ext cx="16230606" cy="487347"/>
            <a:chOff x="0" y="0"/>
            <a:chExt cx="21640808" cy="649796"/>
          </a:xfrm>
        </p:grpSpPr>
        <p:sp>
          <p:nvSpPr>
            <p:cNvPr id="625" name="Google Shape;625;p23"/>
            <p:cNvSpPr/>
            <p:nvPr/>
          </p:nvSpPr>
          <p:spPr>
            <a:xfrm>
              <a:off x="0" y="0"/>
              <a:ext cx="21640808" cy="649796"/>
            </a:xfrm>
            <a:prstGeom prst="rect">
              <a:avLst/>
            </a:prstGeom>
            <a:solidFill>
              <a:srgbClr val="1C212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6" name="Google Shape;626;p23"/>
            <p:cNvSpPr txBox="1"/>
            <p:nvPr/>
          </p:nvSpPr>
          <p:spPr>
            <a:xfrm>
              <a:off x="998193" y="85715"/>
              <a:ext cx="19644415" cy="440266"/>
            </a:xfrm>
            <a:prstGeom prst="rect">
              <a:avLst/>
            </a:prstGeom>
            <a:noFill/>
            <a:ln>
              <a:noFill/>
            </a:ln>
          </p:spPr>
          <p:txBody>
            <a:bodyPr spcFirstLastPara="1" wrap="square" lIns="0" tIns="0" rIns="0" bIns="0" anchor="t" anchorCtr="0">
              <a:spAutoFit/>
            </a:bodyPr>
            <a:lstStyle/>
            <a:p>
              <a:pPr marL="0" marR="0" lvl="0" indent="0" algn="just" rtl="0">
                <a:lnSpc>
                  <a:spcPct val="140000"/>
                </a:lnSpc>
                <a:spcBef>
                  <a:spcPts val="0"/>
                </a:spcBef>
                <a:spcAft>
                  <a:spcPts val="0"/>
                </a:spcAft>
                <a:buNone/>
              </a:pPr>
              <a:r>
                <a:rPr lang="en-GB" sz="2000" b="1">
                  <a:solidFill>
                    <a:srgbClr val="FDFDFD"/>
                  </a:solidFill>
                  <a:latin typeface="Montserrat"/>
                  <a:ea typeface="Montserrat"/>
                  <a:cs typeface="Montserrat"/>
                  <a:sym typeface="Montserrat"/>
                </a:rPr>
                <a:t>DTI- SME DEVELOPMENT DIVISION│NC│CARP│TPU│EDU</a:t>
              </a:r>
              <a:endParaRPr/>
            </a:p>
          </p:txBody>
        </p:sp>
      </p:gr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Shape 634"/>
        <p:cNvGrpSpPr/>
        <p:nvPr/>
      </p:nvGrpSpPr>
      <p:grpSpPr>
        <a:xfrm>
          <a:off x="0" y="0"/>
          <a:ext cx="0" cy="0"/>
          <a:chOff x="0" y="0"/>
          <a:chExt cx="0" cy="0"/>
        </a:xfrm>
      </p:grpSpPr>
      <p:sp>
        <p:nvSpPr>
          <p:cNvPr id="635" name="Google Shape;635;p24"/>
          <p:cNvSpPr/>
          <p:nvPr/>
        </p:nvSpPr>
        <p:spPr>
          <a:xfrm>
            <a:off x="1028700" y="453061"/>
            <a:ext cx="1553339" cy="1518126"/>
          </a:xfrm>
          <a:custGeom>
            <a:avLst/>
            <a:gdLst/>
            <a:ahLst/>
            <a:cxnLst/>
            <a:rect l="l" t="t" r="r" b="b"/>
            <a:pathLst>
              <a:path w="1553339" h="1518126" extrusionOk="0">
                <a:moveTo>
                  <a:pt x="0" y="0"/>
                </a:moveTo>
                <a:lnTo>
                  <a:pt x="1553339" y="0"/>
                </a:lnTo>
                <a:lnTo>
                  <a:pt x="1553339" y="1518126"/>
                </a:lnTo>
                <a:lnTo>
                  <a:pt x="0" y="1518126"/>
                </a:lnTo>
                <a:lnTo>
                  <a:pt x="0" y="0"/>
                </a:lnTo>
                <a:close/>
              </a:path>
            </a:pathLst>
          </a:custGeom>
          <a:blipFill rotWithShape="1">
            <a:blip r:embed="rId3">
              <a:alphaModFix/>
            </a:blip>
            <a:stretch>
              <a:fillRect l="-31436" t="-10272" r="-26916" b="-57554"/>
            </a:stretch>
          </a:blipFill>
          <a:ln>
            <a:noFill/>
          </a:ln>
        </p:spPr>
      </p:sp>
      <p:cxnSp>
        <p:nvCxnSpPr>
          <p:cNvPr id="636" name="Google Shape;636;p24"/>
          <p:cNvCxnSpPr/>
          <p:nvPr/>
        </p:nvCxnSpPr>
        <p:spPr>
          <a:xfrm>
            <a:off x="2582039" y="1019175"/>
            <a:ext cx="14677261" cy="9525"/>
          </a:xfrm>
          <a:prstGeom prst="straightConnector1">
            <a:avLst/>
          </a:prstGeom>
          <a:noFill/>
          <a:ln w="19050" cap="flat" cmpd="sng">
            <a:solidFill>
              <a:srgbClr val="1C2120"/>
            </a:solidFill>
            <a:prstDash val="solid"/>
            <a:round/>
            <a:headEnd type="none" w="sm" len="sm"/>
            <a:tailEnd type="none" w="sm" len="sm"/>
          </a:ln>
        </p:spPr>
      </p:cxnSp>
      <p:grpSp>
        <p:nvGrpSpPr>
          <p:cNvPr id="637" name="Google Shape;637;p24"/>
          <p:cNvGrpSpPr/>
          <p:nvPr/>
        </p:nvGrpSpPr>
        <p:grpSpPr>
          <a:xfrm>
            <a:off x="1219200" y="9294057"/>
            <a:ext cx="16230606" cy="487347"/>
            <a:chOff x="0" y="0"/>
            <a:chExt cx="21640808" cy="649796"/>
          </a:xfrm>
        </p:grpSpPr>
        <p:sp>
          <p:nvSpPr>
            <p:cNvPr id="638" name="Google Shape;638;p24"/>
            <p:cNvSpPr/>
            <p:nvPr/>
          </p:nvSpPr>
          <p:spPr>
            <a:xfrm>
              <a:off x="0" y="0"/>
              <a:ext cx="21640808" cy="649796"/>
            </a:xfrm>
            <a:prstGeom prst="rect">
              <a:avLst/>
            </a:prstGeom>
            <a:solidFill>
              <a:srgbClr val="1C212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9" name="Google Shape;639;p24"/>
            <p:cNvSpPr txBox="1"/>
            <p:nvPr/>
          </p:nvSpPr>
          <p:spPr>
            <a:xfrm>
              <a:off x="998196" y="104764"/>
              <a:ext cx="19644415" cy="440267"/>
            </a:xfrm>
            <a:prstGeom prst="rect">
              <a:avLst/>
            </a:prstGeom>
            <a:noFill/>
            <a:ln>
              <a:noFill/>
            </a:ln>
          </p:spPr>
          <p:txBody>
            <a:bodyPr spcFirstLastPara="1" wrap="square" lIns="0" tIns="0" rIns="0" bIns="0" anchor="t" anchorCtr="0">
              <a:spAutoFit/>
            </a:bodyPr>
            <a:lstStyle/>
            <a:p>
              <a:pPr marL="0" marR="0" lvl="0" indent="0" algn="just" rtl="0">
                <a:lnSpc>
                  <a:spcPct val="140000"/>
                </a:lnSpc>
                <a:spcBef>
                  <a:spcPts val="0"/>
                </a:spcBef>
                <a:spcAft>
                  <a:spcPts val="0"/>
                </a:spcAft>
                <a:buNone/>
              </a:pPr>
              <a:r>
                <a:rPr lang="en-GB" sz="2000" b="1">
                  <a:solidFill>
                    <a:srgbClr val="FDFDFD"/>
                  </a:solidFill>
                  <a:latin typeface="Montserrat"/>
                  <a:ea typeface="Montserrat"/>
                  <a:cs typeface="Montserrat"/>
                  <a:sym typeface="Montserrat"/>
                </a:rPr>
                <a:t>DTI- SME DEVELOPMENT DIVISION│NC│CARP│TPU│EDU</a:t>
              </a:r>
              <a:endParaRPr/>
            </a:p>
          </p:txBody>
        </p:sp>
      </p:grpSp>
      <p:sp>
        <p:nvSpPr>
          <p:cNvPr id="640" name="Google Shape;640;p24"/>
          <p:cNvSpPr txBox="1"/>
          <p:nvPr/>
        </p:nvSpPr>
        <p:spPr>
          <a:xfrm>
            <a:off x="2209800" y="2628900"/>
            <a:ext cx="14706600"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pic>
        <p:nvPicPr>
          <p:cNvPr id="641" name="Google Shape;641;p24"/>
          <p:cNvPicPr preferRelativeResize="0"/>
          <p:nvPr/>
        </p:nvPicPr>
        <p:blipFill rotWithShape="1">
          <a:blip r:embed="rId4">
            <a:alphaModFix/>
          </a:blip>
          <a:srcRect t="21555" b="25110"/>
          <a:stretch/>
        </p:blipFill>
        <p:spPr>
          <a:xfrm>
            <a:off x="2582039" y="743841"/>
            <a:ext cx="2143125" cy="1143000"/>
          </a:xfrm>
          <a:prstGeom prst="rect">
            <a:avLst/>
          </a:prstGeom>
          <a:noFill/>
          <a:ln>
            <a:noFill/>
          </a:ln>
        </p:spPr>
      </p:pic>
      <p:sp>
        <p:nvSpPr>
          <p:cNvPr id="642" name="Google Shape;642;p24"/>
          <p:cNvSpPr txBox="1"/>
          <p:nvPr/>
        </p:nvSpPr>
        <p:spPr>
          <a:xfrm>
            <a:off x="4572000" y="1381330"/>
            <a:ext cx="9838329" cy="438150"/>
          </a:xfrm>
          <a:prstGeom prst="rect">
            <a:avLst/>
          </a:prstGeom>
          <a:noFill/>
          <a:ln>
            <a:noFill/>
          </a:ln>
        </p:spPr>
        <p:txBody>
          <a:bodyPr spcFirstLastPara="1" wrap="square" lIns="0" tIns="0" rIns="0" bIns="0" anchor="t" anchorCtr="0">
            <a:spAutoFit/>
          </a:bodyPr>
          <a:lstStyle/>
          <a:p>
            <a:pPr marL="0" marR="0" lvl="0" indent="0" algn="ctr" rtl="0">
              <a:lnSpc>
                <a:spcPct val="110000"/>
              </a:lnSpc>
              <a:spcBef>
                <a:spcPts val="0"/>
              </a:spcBef>
              <a:spcAft>
                <a:spcPts val="0"/>
              </a:spcAft>
              <a:buNone/>
            </a:pPr>
            <a:r>
              <a:rPr lang="en-GB" sz="3000" b="1">
                <a:solidFill>
                  <a:srgbClr val="1C2120"/>
                </a:solidFill>
                <a:latin typeface="Montserrat"/>
                <a:ea typeface="Montserrat"/>
                <a:cs typeface="Montserrat"/>
                <a:sym typeface="Montserrat"/>
              </a:rPr>
              <a:t>TRADE PROMOTION UNIT</a:t>
            </a:r>
            <a:endParaRPr/>
          </a:p>
        </p:txBody>
      </p:sp>
      <p:grpSp>
        <p:nvGrpSpPr>
          <p:cNvPr id="643" name="Google Shape;643;p24"/>
          <p:cNvGrpSpPr/>
          <p:nvPr/>
        </p:nvGrpSpPr>
        <p:grpSpPr>
          <a:xfrm>
            <a:off x="381000" y="3408649"/>
            <a:ext cx="16093440" cy="744823"/>
            <a:chOff x="457200" y="2525278"/>
            <a:chExt cx="13996289" cy="744823"/>
          </a:xfrm>
        </p:grpSpPr>
        <p:sp>
          <p:nvSpPr>
            <p:cNvPr id="644" name="Google Shape;644;p24"/>
            <p:cNvSpPr/>
            <p:nvPr/>
          </p:nvSpPr>
          <p:spPr>
            <a:xfrm>
              <a:off x="2323450" y="2525278"/>
              <a:ext cx="12130039" cy="744823"/>
            </a:xfrm>
            <a:prstGeom prst="roundRect">
              <a:avLst>
                <a:gd name="adj" fmla="val 16667"/>
              </a:avLst>
            </a:prstGeom>
            <a:solidFill>
              <a:srgbClr val="DAE5F1"/>
            </a:solidFill>
            <a:ln w="25400" cap="flat"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B7CCE4"/>
                </a:solidFill>
                <a:latin typeface="Calibri"/>
                <a:ea typeface="Calibri"/>
                <a:cs typeface="Calibri"/>
                <a:sym typeface="Calibri"/>
              </a:endParaRPr>
            </a:p>
          </p:txBody>
        </p:sp>
        <p:sp>
          <p:nvSpPr>
            <p:cNvPr id="645" name="Google Shape;645;p24"/>
            <p:cNvSpPr txBox="1"/>
            <p:nvPr/>
          </p:nvSpPr>
          <p:spPr>
            <a:xfrm>
              <a:off x="2473623" y="2566564"/>
              <a:ext cx="11052082" cy="58477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3200" b="1">
                  <a:solidFill>
                    <a:schemeClr val="dk1"/>
                  </a:solidFill>
                  <a:latin typeface="Poppins"/>
                  <a:ea typeface="Poppins"/>
                  <a:cs typeface="Poppins"/>
                  <a:sym typeface="Poppins"/>
                </a:rPr>
                <a:t>Juana Filings (IP Applications filed)</a:t>
              </a:r>
              <a:endParaRPr sz="3200" b="1">
                <a:solidFill>
                  <a:schemeClr val="dk1"/>
                </a:solidFill>
                <a:latin typeface="Poppins"/>
                <a:ea typeface="Poppins"/>
                <a:cs typeface="Poppins"/>
                <a:sym typeface="Poppins"/>
              </a:endParaRPr>
            </a:p>
          </p:txBody>
        </p:sp>
        <p:sp>
          <p:nvSpPr>
            <p:cNvPr id="646" name="Google Shape;646;p24"/>
            <p:cNvSpPr txBox="1"/>
            <p:nvPr/>
          </p:nvSpPr>
          <p:spPr>
            <a:xfrm>
              <a:off x="457200" y="2628900"/>
              <a:ext cx="2920884" cy="641201"/>
            </a:xfrm>
            <a:prstGeom prst="rect">
              <a:avLst/>
            </a:prstGeom>
            <a:noFill/>
            <a:ln>
              <a:noFill/>
            </a:ln>
          </p:spPr>
          <p:txBody>
            <a:bodyPr spcFirstLastPara="1" wrap="square" lIns="0" tIns="0" rIns="0" bIns="0" anchor="t" anchorCtr="0">
              <a:spAutoFit/>
            </a:bodyPr>
            <a:lstStyle/>
            <a:p>
              <a:pPr marL="0" marR="0" lvl="0" indent="0" algn="ctr" rtl="0">
                <a:lnSpc>
                  <a:spcPct val="93333"/>
                </a:lnSpc>
                <a:spcBef>
                  <a:spcPts val="0"/>
                </a:spcBef>
                <a:spcAft>
                  <a:spcPts val="0"/>
                </a:spcAft>
                <a:buNone/>
              </a:pPr>
              <a:r>
                <a:rPr lang="en-GB" sz="5400" b="1">
                  <a:solidFill>
                    <a:schemeClr val="dk2"/>
                  </a:solidFill>
                  <a:latin typeface="Montserrat"/>
                  <a:ea typeface="Montserrat"/>
                  <a:cs typeface="Montserrat"/>
                  <a:sym typeface="Montserrat"/>
                </a:rPr>
                <a:t>2</a:t>
              </a:r>
              <a:endParaRPr sz="5400" b="1">
                <a:solidFill>
                  <a:schemeClr val="dk2"/>
                </a:solidFill>
                <a:latin typeface="Montserrat"/>
                <a:ea typeface="Montserrat"/>
                <a:cs typeface="Montserrat"/>
                <a:sym typeface="Montserrat"/>
              </a:endParaRPr>
            </a:p>
          </p:txBody>
        </p:sp>
      </p:grpSp>
      <p:grpSp>
        <p:nvGrpSpPr>
          <p:cNvPr id="647" name="Google Shape;647;p24"/>
          <p:cNvGrpSpPr/>
          <p:nvPr/>
        </p:nvGrpSpPr>
        <p:grpSpPr>
          <a:xfrm>
            <a:off x="381000" y="2456271"/>
            <a:ext cx="16093440" cy="744823"/>
            <a:chOff x="457200" y="2525278"/>
            <a:chExt cx="13996289" cy="744823"/>
          </a:xfrm>
        </p:grpSpPr>
        <p:sp>
          <p:nvSpPr>
            <p:cNvPr id="648" name="Google Shape;648;p24"/>
            <p:cNvSpPr/>
            <p:nvPr/>
          </p:nvSpPr>
          <p:spPr>
            <a:xfrm>
              <a:off x="2323450" y="2525278"/>
              <a:ext cx="12130039" cy="744823"/>
            </a:xfrm>
            <a:prstGeom prst="roundRect">
              <a:avLst>
                <a:gd name="adj" fmla="val 16667"/>
              </a:avLst>
            </a:prstGeom>
            <a:solidFill>
              <a:srgbClr val="DAE5F1"/>
            </a:solidFill>
            <a:ln w="25400" cap="flat"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B7CCE4"/>
                </a:solidFill>
                <a:latin typeface="Calibri"/>
                <a:ea typeface="Calibri"/>
                <a:cs typeface="Calibri"/>
                <a:sym typeface="Calibri"/>
              </a:endParaRPr>
            </a:p>
          </p:txBody>
        </p:sp>
        <p:sp>
          <p:nvSpPr>
            <p:cNvPr id="649" name="Google Shape;649;p24"/>
            <p:cNvSpPr txBox="1"/>
            <p:nvPr/>
          </p:nvSpPr>
          <p:spPr>
            <a:xfrm>
              <a:off x="2473623" y="2566564"/>
              <a:ext cx="11052082" cy="58477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3200" b="1">
                  <a:solidFill>
                    <a:schemeClr val="dk1"/>
                  </a:solidFill>
                  <a:latin typeface="Poppins"/>
                  <a:ea typeface="Poppins"/>
                  <a:cs typeface="Poppins"/>
                  <a:sym typeface="Poppins"/>
                </a:rPr>
                <a:t>Halal Certified MSMEs</a:t>
              </a:r>
              <a:endParaRPr sz="3200" b="1">
                <a:solidFill>
                  <a:schemeClr val="dk1"/>
                </a:solidFill>
                <a:latin typeface="Poppins"/>
                <a:ea typeface="Poppins"/>
                <a:cs typeface="Poppins"/>
                <a:sym typeface="Poppins"/>
              </a:endParaRPr>
            </a:p>
          </p:txBody>
        </p:sp>
        <p:sp>
          <p:nvSpPr>
            <p:cNvPr id="650" name="Google Shape;650;p24"/>
            <p:cNvSpPr txBox="1"/>
            <p:nvPr/>
          </p:nvSpPr>
          <p:spPr>
            <a:xfrm>
              <a:off x="457200" y="2628900"/>
              <a:ext cx="2920884" cy="641201"/>
            </a:xfrm>
            <a:prstGeom prst="rect">
              <a:avLst/>
            </a:prstGeom>
            <a:noFill/>
            <a:ln>
              <a:noFill/>
            </a:ln>
          </p:spPr>
          <p:txBody>
            <a:bodyPr spcFirstLastPara="1" wrap="square" lIns="0" tIns="0" rIns="0" bIns="0" anchor="t" anchorCtr="0">
              <a:spAutoFit/>
            </a:bodyPr>
            <a:lstStyle/>
            <a:p>
              <a:pPr marL="0" marR="0" lvl="0" indent="0" algn="ctr" rtl="0">
                <a:lnSpc>
                  <a:spcPct val="93333"/>
                </a:lnSpc>
                <a:spcBef>
                  <a:spcPts val="0"/>
                </a:spcBef>
                <a:spcAft>
                  <a:spcPts val="0"/>
                </a:spcAft>
                <a:buNone/>
              </a:pPr>
              <a:r>
                <a:rPr lang="en-GB" sz="5400" b="1">
                  <a:solidFill>
                    <a:schemeClr val="dk2"/>
                  </a:solidFill>
                  <a:latin typeface="Montserrat"/>
                  <a:ea typeface="Montserrat"/>
                  <a:cs typeface="Montserrat"/>
                  <a:sym typeface="Montserrat"/>
                </a:rPr>
                <a:t>1</a:t>
              </a:r>
              <a:endParaRPr/>
            </a:p>
          </p:txBody>
        </p:sp>
      </p:grpSp>
      <p:grpSp>
        <p:nvGrpSpPr>
          <p:cNvPr id="651" name="Google Shape;651;p24"/>
          <p:cNvGrpSpPr/>
          <p:nvPr/>
        </p:nvGrpSpPr>
        <p:grpSpPr>
          <a:xfrm>
            <a:off x="389965" y="4345887"/>
            <a:ext cx="16093440" cy="744823"/>
            <a:chOff x="457200" y="2525278"/>
            <a:chExt cx="13996289" cy="744823"/>
          </a:xfrm>
        </p:grpSpPr>
        <p:sp>
          <p:nvSpPr>
            <p:cNvPr id="652" name="Google Shape;652;p24"/>
            <p:cNvSpPr/>
            <p:nvPr/>
          </p:nvSpPr>
          <p:spPr>
            <a:xfrm>
              <a:off x="2323450" y="2525278"/>
              <a:ext cx="12130039" cy="744823"/>
            </a:xfrm>
            <a:prstGeom prst="roundRect">
              <a:avLst>
                <a:gd name="adj" fmla="val 16667"/>
              </a:avLst>
            </a:prstGeom>
            <a:solidFill>
              <a:srgbClr val="DAE5F1"/>
            </a:solidFill>
            <a:ln w="25400" cap="flat"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B7CCE4"/>
                </a:solidFill>
                <a:latin typeface="Calibri"/>
                <a:ea typeface="Calibri"/>
                <a:cs typeface="Calibri"/>
                <a:sym typeface="Calibri"/>
              </a:endParaRPr>
            </a:p>
          </p:txBody>
        </p:sp>
        <p:sp>
          <p:nvSpPr>
            <p:cNvPr id="653" name="Google Shape;653;p24"/>
            <p:cNvSpPr txBox="1"/>
            <p:nvPr/>
          </p:nvSpPr>
          <p:spPr>
            <a:xfrm>
              <a:off x="2473623" y="2566564"/>
              <a:ext cx="11052082" cy="58477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3200" b="1">
                  <a:solidFill>
                    <a:schemeClr val="dk1"/>
                  </a:solidFill>
                  <a:latin typeface="Poppins"/>
                  <a:ea typeface="Poppins"/>
                  <a:cs typeface="Poppins"/>
                  <a:sym typeface="Poppins"/>
                </a:rPr>
                <a:t>List of Trade Fairs</a:t>
              </a:r>
              <a:endParaRPr sz="3200" b="1">
                <a:solidFill>
                  <a:schemeClr val="dk1"/>
                </a:solidFill>
                <a:latin typeface="Poppins"/>
                <a:ea typeface="Poppins"/>
                <a:cs typeface="Poppins"/>
                <a:sym typeface="Poppins"/>
              </a:endParaRPr>
            </a:p>
          </p:txBody>
        </p:sp>
        <p:sp>
          <p:nvSpPr>
            <p:cNvPr id="654" name="Google Shape;654;p24"/>
            <p:cNvSpPr txBox="1"/>
            <p:nvPr/>
          </p:nvSpPr>
          <p:spPr>
            <a:xfrm>
              <a:off x="457200" y="2628900"/>
              <a:ext cx="2920884" cy="641201"/>
            </a:xfrm>
            <a:prstGeom prst="rect">
              <a:avLst/>
            </a:prstGeom>
            <a:noFill/>
            <a:ln>
              <a:noFill/>
            </a:ln>
          </p:spPr>
          <p:txBody>
            <a:bodyPr spcFirstLastPara="1" wrap="square" lIns="0" tIns="0" rIns="0" bIns="0" anchor="t" anchorCtr="0">
              <a:spAutoFit/>
            </a:bodyPr>
            <a:lstStyle/>
            <a:p>
              <a:pPr marL="0" marR="0" lvl="0" indent="0" algn="ctr" rtl="0">
                <a:lnSpc>
                  <a:spcPct val="93333"/>
                </a:lnSpc>
                <a:spcBef>
                  <a:spcPts val="0"/>
                </a:spcBef>
                <a:spcAft>
                  <a:spcPts val="0"/>
                </a:spcAft>
                <a:buNone/>
              </a:pPr>
              <a:r>
                <a:rPr lang="en-GB" sz="5400" b="1">
                  <a:solidFill>
                    <a:schemeClr val="dk2"/>
                  </a:solidFill>
                  <a:latin typeface="Montserrat"/>
                  <a:ea typeface="Montserrat"/>
                  <a:cs typeface="Montserrat"/>
                  <a:sym typeface="Montserrat"/>
                </a:rPr>
                <a:t>3</a:t>
              </a:r>
              <a:endParaRPr sz="5400" b="1">
                <a:solidFill>
                  <a:schemeClr val="dk2"/>
                </a:solidFill>
                <a:latin typeface="Montserrat"/>
                <a:ea typeface="Montserrat"/>
                <a:cs typeface="Montserrat"/>
                <a:sym typeface="Montserrat"/>
              </a:endParaRPr>
            </a:p>
          </p:txBody>
        </p:sp>
      </p:grpSp>
      <p:grpSp>
        <p:nvGrpSpPr>
          <p:cNvPr id="655" name="Google Shape;655;p24"/>
          <p:cNvGrpSpPr/>
          <p:nvPr/>
        </p:nvGrpSpPr>
        <p:grpSpPr>
          <a:xfrm>
            <a:off x="411759" y="5255824"/>
            <a:ext cx="16093440" cy="744823"/>
            <a:chOff x="457200" y="2525278"/>
            <a:chExt cx="13996289" cy="744823"/>
          </a:xfrm>
        </p:grpSpPr>
        <p:sp>
          <p:nvSpPr>
            <p:cNvPr id="656" name="Google Shape;656;p24"/>
            <p:cNvSpPr/>
            <p:nvPr/>
          </p:nvSpPr>
          <p:spPr>
            <a:xfrm>
              <a:off x="2323450" y="2525278"/>
              <a:ext cx="12130039" cy="744823"/>
            </a:xfrm>
            <a:prstGeom prst="roundRect">
              <a:avLst>
                <a:gd name="adj" fmla="val 16667"/>
              </a:avLst>
            </a:prstGeom>
            <a:solidFill>
              <a:srgbClr val="DAE5F1"/>
            </a:solidFill>
            <a:ln w="25400" cap="flat"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B7CCE4"/>
                </a:solidFill>
                <a:latin typeface="Calibri"/>
                <a:ea typeface="Calibri"/>
                <a:cs typeface="Calibri"/>
                <a:sym typeface="Calibri"/>
              </a:endParaRPr>
            </a:p>
          </p:txBody>
        </p:sp>
        <p:sp>
          <p:nvSpPr>
            <p:cNvPr id="657" name="Google Shape;657;p24"/>
            <p:cNvSpPr txBox="1"/>
            <p:nvPr/>
          </p:nvSpPr>
          <p:spPr>
            <a:xfrm>
              <a:off x="2473623" y="2566564"/>
              <a:ext cx="11052082" cy="58477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3200" b="1">
                  <a:solidFill>
                    <a:schemeClr val="dk1"/>
                  </a:solidFill>
                  <a:latin typeface="Poppins"/>
                  <a:ea typeface="Poppins"/>
                  <a:cs typeface="Poppins"/>
                  <a:sym typeface="Poppins"/>
                </a:rPr>
                <a:t>Most Common Type of Packaging used by OTOP MSMEs</a:t>
              </a:r>
              <a:endParaRPr sz="3200" b="1">
                <a:solidFill>
                  <a:schemeClr val="dk1"/>
                </a:solidFill>
                <a:latin typeface="Poppins"/>
                <a:ea typeface="Poppins"/>
                <a:cs typeface="Poppins"/>
                <a:sym typeface="Poppins"/>
              </a:endParaRPr>
            </a:p>
          </p:txBody>
        </p:sp>
        <p:sp>
          <p:nvSpPr>
            <p:cNvPr id="658" name="Google Shape;658;p24"/>
            <p:cNvSpPr txBox="1"/>
            <p:nvPr/>
          </p:nvSpPr>
          <p:spPr>
            <a:xfrm>
              <a:off x="457200" y="2628900"/>
              <a:ext cx="2920884" cy="641201"/>
            </a:xfrm>
            <a:prstGeom prst="rect">
              <a:avLst/>
            </a:prstGeom>
            <a:noFill/>
            <a:ln>
              <a:noFill/>
            </a:ln>
          </p:spPr>
          <p:txBody>
            <a:bodyPr spcFirstLastPara="1" wrap="square" lIns="0" tIns="0" rIns="0" bIns="0" anchor="t" anchorCtr="0">
              <a:spAutoFit/>
            </a:bodyPr>
            <a:lstStyle/>
            <a:p>
              <a:pPr marL="0" marR="0" lvl="0" indent="0" algn="ctr" rtl="0">
                <a:lnSpc>
                  <a:spcPct val="93333"/>
                </a:lnSpc>
                <a:spcBef>
                  <a:spcPts val="0"/>
                </a:spcBef>
                <a:spcAft>
                  <a:spcPts val="0"/>
                </a:spcAft>
                <a:buNone/>
              </a:pPr>
              <a:r>
                <a:rPr lang="en-GB" sz="5400" b="1">
                  <a:solidFill>
                    <a:schemeClr val="dk2"/>
                  </a:solidFill>
                  <a:latin typeface="Montserrat"/>
                  <a:ea typeface="Montserrat"/>
                  <a:cs typeface="Montserrat"/>
                  <a:sym typeface="Montserrat"/>
                </a:rPr>
                <a:t>4</a:t>
              </a:r>
              <a:endParaRPr sz="5400" b="1">
                <a:solidFill>
                  <a:schemeClr val="dk2"/>
                </a:solidFill>
                <a:latin typeface="Montserrat"/>
                <a:ea typeface="Montserrat"/>
                <a:cs typeface="Montserrat"/>
                <a:sym typeface="Montserrat"/>
              </a:endParaRPr>
            </a:p>
          </p:txBody>
        </p:sp>
      </p:grpSp>
      <p:grpSp>
        <p:nvGrpSpPr>
          <p:cNvPr id="659" name="Google Shape;659;p24"/>
          <p:cNvGrpSpPr/>
          <p:nvPr/>
        </p:nvGrpSpPr>
        <p:grpSpPr>
          <a:xfrm>
            <a:off x="434171" y="6163692"/>
            <a:ext cx="16093440" cy="744823"/>
            <a:chOff x="457200" y="2525278"/>
            <a:chExt cx="13996289" cy="744823"/>
          </a:xfrm>
        </p:grpSpPr>
        <p:sp>
          <p:nvSpPr>
            <p:cNvPr id="660" name="Google Shape;660;p24"/>
            <p:cNvSpPr/>
            <p:nvPr/>
          </p:nvSpPr>
          <p:spPr>
            <a:xfrm>
              <a:off x="2323450" y="2525278"/>
              <a:ext cx="12130039" cy="744823"/>
            </a:xfrm>
            <a:prstGeom prst="roundRect">
              <a:avLst>
                <a:gd name="adj" fmla="val 16667"/>
              </a:avLst>
            </a:prstGeom>
            <a:solidFill>
              <a:srgbClr val="DAE5F1"/>
            </a:solidFill>
            <a:ln w="25400" cap="flat"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B7CCE4"/>
                </a:solidFill>
                <a:latin typeface="Calibri"/>
                <a:ea typeface="Calibri"/>
                <a:cs typeface="Calibri"/>
                <a:sym typeface="Calibri"/>
              </a:endParaRPr>
            </a:p>
          </p:txBody>
        </p:sp>
        <p:sp>
          <p:nvSpPr>
            <p:cNvPr id="661" name="Google Shape;661;p24"/>
            <p:cNvSpPr txBox="1"/>
            <p:nvPr/>
          </p:nvSpPr>
          <p:spPr>
            <a:xfrm>
              <a:off x="2473623" y="2566564"/>
              <a:ext cx="11052082" cy="58477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3200" b="1">
                  <a:solidFill>
                    <a:schemeClr val="dk1"/>
                  </a:solidFill>
                  <a:latin typeface="Poppins"/>
                  <a:ea typeface="Poppins"/>
                  <a:cs typeface="Poppins"/>
                  <a:sym typeface="Poppins"/>
                </a:rPr>
                <a:t>Caraga FDA Accredited MSMEs</a:t>
              </a:r>
              <a:endParaRPr sz="3200" b="1">
                <a:solidFill>
                  <a:schemeClr val="dk1"/>
                </a:solidFill>
                <a:latin typeface="Poppins"/>
                <a:ea typeface="Poppins"/>
                <a:cs typeface="Poppins"/>
                <a:sym typeface="Poppins"/>
              </a:endParaRPr>
            </a:p>
          </p:txBody>
        </p:sp>
        <p:sp>
          <p:nvSpPr>
            <p:cNvPr id="662" name="Google Shape;662;p24"/>
            <p:cNvSpPr txBox="1"/>
            <p:nvPr/>
          </p:nvSpPr>
          <p:spPr>
            <a:xfrm>
              <a:off x="457200" y="2628900"/>
              <a:ext cx="2920884" cy="641201"/>
            </a:xfrm>
            <a:prstGeom prst="rect">
              <a:avLst/>
            </a:prstGeom>
            <a:noFill/>
            <a:ln>
              <a:noFill/>
            </a:ln>
          </p:spPr>
          <p:txBody>
            <a:bodyPr spcFirstLastPara="1" wrap="square" lIns="0" tIns="0" rIns="0" bIns="0" anchor="t" anchorCtr="0">
              <a:spAutoFit/>
            </a:bodyPr>
            <a:lstStyle/>
            <a:p>
              <a:pPr marL="0" marR="0" lvl="0" indent="0" algn="ctr" rtl="0">
                <a:lnSpc>
                  <a:spcPct val="93333"/>
                </a:lnSpc>
                <a:spcBef>
                  <a:spcPts val="0"/>
                </a:spcBef>
                <a:spcAft>
                  <a:spcPts val="0"/>
                </a:spcAft>
                <a:buNone/>
              </a:pPr>
              <a:r>
                <a:rPr lang="en-GB" sz="5400" b="1">
                  <a:solidFill>
                    <a:schemeClr val="dk2"/>
                  </a:solidFill>
                  <a:latin typeface="Montserrat"/>
                  <a:ea typeface="Montserrat"/>
                  <a:cs typeface="Montserrat"/>
                  <a:sym typeface="Montserrat"/>
                </a:rPr>
                <a:t>5</a:t>
              </a:r>
              <a:endParaRPr sz="5400" b="1">
                <a:solidFill>
                  <a:schemeClr val="dk2"/>
                </a:solidFill>
                <a:latin typeface="Montserrat"/>
                <a:ea typeface="Montserrat"/>
                <a:cs typeface="Montserrat"/>
                <a:sym typeface="Montserrat"/>
              </a:endParaRPr>
            </a:p>
          </p:txBody>
        </p:sp>
      </p:grpSp>
      <p:grpSp>
        <p:nvGrpSpPr>
          <p:cNvPr id="663" name="Google Shape;663;p24"/>
          <p:cNvGrpSpPr/>
          <p:nvPr/>
        </p:nvGrpSpPr>
        <p:grpSpPr>
          <a:xfrm>
            <a:off x="434171" y="7121662"/>
            <a:ext cx="16093440" cy="744823"/>
            <a:chOff x="457200" y="2525278"/>
            <a:chExt cx="13996289" cy="744823"/>
          </a:xfrm>
        </p:grpSpPr>
        <p:sp>
          <p:nvSpPr>
            <p:cNvPr id="664" name="Google Shape;664;p24"/>
            <p:cNvSpPr/>
            <p:nvPr/>
          </p:nvSpPr>
          <p:spPr>
            <a:xfrm>
              <a:off x="2323450" y="2525278"/>
              <a:ext cx="12130039" cy="744823"/>
            </a:xfrm>
            <a:prstGeom prst="roundRect">
              <a:avLst>
                <a:gd name="adj" fmla="val 16667"/>
              </a:avLst>
            </a:prstGeom>
            <a:solidFill>
              <a:srgbClr val="DAE5F1"/>
            </a:solidFill>
            <a:ln w="25400" cap="flat"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B7CCE4"/>
                </a:solidFill>
                <a:latin typeface="Calibri"/>
                <a:ea typeface="Calibri"/>
                <a:cs typeface="Calibri"/>
                <a:sym typeface="Calibri"/>
              </a:endParaRPr>
            </a:p>
          </p:txBody>
        </p:sp>
        <p:sp>
          <p:nvSpPr>
            <p:cNvPr id="665" name="Google Shape;665;p24"/>
            <p:cNvSpPr txBox="1"/>
            <p:nvPr/>
          </p:nvSpPr>
          <p:spPr>
            <a:xfrm>
              <a:off x="2473623" y="2566564"/>
              <a:ext cx="11052082" cy="58477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3200" b="1">
                  <a:solidFill>
                    <a:schemeClr val="dk1"/>
                  </a:solidFill>
                  <a:latin typeface="Poppins"/>
                  <a:ea typeface="Poppins"/>
                  <a:cs typeface="Poppins"/>
                  <a:sym typeface="Poppins"/>
                </a:rPr>
                <a:t>Directory of Direct and Potential Exporters</a:t>
              </a:r>
              <a:endParaRPr sz="3200" b="1">
                <a:solidFill>
                  <a:schemeClr val="dk1"/>
                </a:solidFill>
                <a:latin typeface="Poppins"/>
                <a:ea typeface="Poppins"/>
                <a:cs typeface="Poppins"/>
                <a:sym typeface="Poppins"/>
              </a:endParaRPr>
            </a:p>
          </p:txBody>
        </p:sp>
        <p:sp>
          <p:nvSpPr>
            <p:cNvPr id="666" name="Google Shape;666;p24"/>
            <p:cNvSpPr txBox="1"/>
            <p:nvPr/>
          </p:nvSpPr>
          <p:spPr>
            <a:xfrm>
              <a:off x="457200" y="2628900"/>
              <a:ext cx="2920884" cy="641201"/>
            </a:xfrm>
            <a:prstGeom prst="rect">
              <a:avLst/>
            </a:prstGeom>
            <a:noFill/>
            <a:ln>
              <a:noFill/>
            </a:ln>
          </p:spPr>
          <p:txBody>
            <a:bodyPr spcFirstLastPara="1" wrap="square" lIns="0" tIns="0" rIns="0" bIns="0" anchor="t" anchorCtr="0">
              <a:spAutoFit/>
            </a:bodyPr>
            <a:lstStyle/>
            <a:p>
              <a:pPr marL="0" marR="0" lvl="0" indent="0" algn="ctr" rtl="0">
                <a:lnSpc>
                  <a:spcPct val="93333"/>
                </a:lnSpc>
                <a:spcBef>
                  <a:spcPts val="0"/>
                </a:spcBef>
                <a:spcAft>
                  <a:spcPts val="0"/>
                </a:spcAft>
                <a:buNone/>
              </a:pPr>
              <a:r>
                <a:rPr lang="en-GB" sz="5400" b="1">
                  <a:solidFill>
                    <a:schemeClr val="dk2"/>
                  </a:solidFill>
                  <a:latin typeface="Montserrat"/>
                  <a:ea typeface="Montserrat"/>
                  <a:cs typeface="Montserrat"/>
                  <a:sym typeface="Montserrat"/>
                </a:rPr>
                <a:t>6</a:t>
              </a:r>
              <a:endParaRPr sz="5400" b="1">
                <a:solidFill>
                  <a:schemeClr val="dk2"/>
                </a:solidFill>
                <a:latin typeface="Montserrat"/>
                <a:ea typeface="Montserrat"/>
                <a:cs typeface="Montserrat"/>
                <a:sym typeface="Montserrat"/>
              </a:endParaRPr>
            </a:p>
          </p:txBody>
        </p:sp>
      </p:gr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Shape 674"/>
        <p:cNvGrpSpPr/>
        <p:nvPr/>
      </p:nvGrpSpPr>
      <p:grpSpPr>
        <a:xfrm>
          <a:off x="0" y="0"/>
          <a:ext cx="0" cy="0"/>
          <a:chOff x="0" y="0"/>
          <a:chExt cx="0" cy="0"/>
        </a:xfrm>
      </p:grpSpPr>
      <p:sp>
        <p:nvSpPr>
          <p:cNvPr id="675" name="Google Shape;675;p25"/>
          <p:cNvSpPr/>
          <p:nvPr/>
        </p:nvSpPr>
        <p:spPr>
          <a:xfrm>
            <a:off x="1028700" y="453061"/>
            <a:ext cx="1553339" cy="1518126"/>
          </a:xfrm>
          <a:custGeom>
            <a:avLst/>
            <a:gdLst/>
            <a:ahLst/>
            <a:cxnLst/>
            <a:rect l="l" t="t" r="r" b="b"/>
            <a:pathLst>
              <a:path w="1553339" h="1518126" extrusionOk="0">
                <a:moveTo>
                  <a:pt x="0" y="0"/>
                </a:moveTo>
                <a:lnTo>
                  <a:pt x="1553339" y="0"/>
                </a:lnTo>
                <a:lnTo>
                  <a:pt x="1553339" y="1518126"/>
                </a:lnTo>
                <a:lnTo>
                  <a:pt x="0" y="1518126"/>
                </a:lnTo>
                <a:lnTo>
                  <a:pt x="0" y="0"/>
                </a:lnTo>
                <a:close/>
              </a:path>
            </a:pathLst>
          </a:custGeom>
          <a:blipFill rotWithShape="1">
            <a:blip r:embed="rId3">
              <a:alphaModFix/>
            </a:blip>
            <a:stretch>
              <a:fillRect l="-31436" t="-10272" r="-26916" b="-57554"/>
            </a:stretch>
          </a:blipFill>
          <a:ln>
            <a:noFill/>
          </a:ln>
        </p:spPr>
      </p:sp>
      <p:cxnSp>
        <p:nvCxnSpPr>
          <p:cNvPr id="676" name="Google Shape;676;p25"/>
          <p:cNvCxnSpPr/>
          <p:nvPr/>
        </p:nvCxnSpPr>
        <p:spPr>
          <a:xfrm>
            <a:off x="2582039" y="1019175"/>
            <a:ext cx="14677261" cy="9525"/>
          </a:xfrm>
          <a:prstGeom prst="straightConnector1">
            <a:avLst/>
          </a:prstGeom>
          <a:noFill/>
          <a:ln w="19050" cap="flat" cmpd="sng">
            <a:solidFill>
              <a:srgbClr val="1C2120"/>
            </a:solidFill>
            <a:prstDash val="solid"/>
            <a:round/>
            <a:headEnd type="none" w="sm" len="sm"/>
            <a:tailEnd type="none" w="sm" len="sm"/>
          </a:ln>
        </p:spPr>
      </p:cxnSp>
      <p:grpSp>
        <p:nvGrpSpPr>
          <p:cNvPr id="677" name="Google Shape;677;p25"/>
          <p:cNvGrpSpPr/>
          <p:nvPr/>
        </p:nvGrpSpPr>
        <p:grpSpPr>
          <a:xfrm>
            <a:off x="1219200" y="9294057"/>
            <a:ext cx="16230606" cy="487347"/>
            <a:chOff x="0" y="0"/>
            <a:chExt cx="21640808" cy="649796"/>
          </a:xfrm>
        </p:grpSpPr>
        <p:sp>
          <p:nvSpPr>
            <p:cNvPr id="678" name="Google Shape;678;p25"/>
            <p:cNvSpPr/>
            <p:nvPr/>
          </p:nvSpPr>
          <p:spPr>
            <a:xfrm>
              <a:off x="0" y="0"/>
              <a:ext cx="21640808" cy="649796"/>
            </a:xfrm>
            <a:prstGeom prst="rect">
              <a:avLst/>
            </a:prstGeom>
            <a:solidFill>
              <a:srgbClr val="1C212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9" name="Google Shape;679;p25"/>
            <p:cNvSpPr txBox="1"/>
            <p:nvPr/>
          </p:nvSpPr>
          <p:spPr>
            <a:xfrm>
              <a:off x="998196" y="104764"/>
              <a:ext cx="19644415" cy="440267"/>
            </a:xfrm>
            <a:prstGeom prst="rect">
              <a:avLst/>
            </a:prstGeom>
            <a:noFill/>
            <a:ln>
              <a:noFill/>
            </a:ln>
          </p:spPr>
          <p:txBody>
            <a:bodyPr spcFirstLastPara="1" wrap="square" lIns="0" tIns="0" rIns="0" bIns="0" anchor="t" anchorCtr="0">
              <a:spAutoFit/>
            </a:bodyPr>
            <a:lstStyle/>
            <a:p>
              <a:pPr marL="0" marR="0" lvl="0" indent="0" algn="just" rtl="0">
                <a:lnSpc>
                  <a:spcPct val="140000"/>
                </a:lnSpc>
                <a:spcBef>
                  <a:spcPts val="0"/>
                </a:spcBef>
                <a:spcAft>
                  <a:spcPts val="0"/>
                </a:spcAft>
                <a:buNone/>
              </a:pPr>
              <a:r>
                <a:rPr lang="en-GB" sz="2000" b="1">
                  <a:solidFill>
                    <a:srgbClr val="FDFDFD"/>
                  </a:solidFill>
                  <a:latin typeface="Montserrat"/>
                  <a:ea typeface="Montserrat"/>
                  <a:cs typeface="Montserrat"/>
                  <a:sym typeface="Montserrat"/>
                </a:rPr>
                <a:t>DTI- SME DEVELOPMENT DIVISION│NC│CARP│TPU│EDU</a:t>
              </a:r>
              <a:endParaRPr/>
            </a:p>
          </p:txBody>
        </p:sp>
      </p:grpSp>
      <p:sp>
        <p:nvSpPr>
          <p:cNvPr id="680" name="Google Shape;680;p25"/>
          <p:cNvSpPr txBox="1"/>
          <p:nvPr/>
        </p:nvSpPr>
        <p:spPr>
          <a:xfrm>
            <a:off x="2209800" y="2628900"/>
            <a:ext cx="14706600"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nvGrpSpPr>
          <p:cNvPr id="681" name="Google Shape;681;p25"/>
          <p:cNvGrpSpPr/>
          <p:nvPr/>
        </p:nvGrpSpPr>
        <p:grpSpPr>
          <a:xfrm>
            <a:off x="86708" y="3917645"/>
            <a:ext cx="16093440" cy="744823"/>
            <a:chOff x="457200" y="2525278"/>
            <a:chExt cx="13996289" cy="744823"/>
          </a:xfrm>
        </p:grpSpPr>
        <p:sp>
          <p:nvSpPr>
            <p:cNvPr id="682" name="Google Shape;682;p25"/>
            <p:cNvSpPr/>
            <p:nvPr/>
          </p:nvSpPr>
          <p:spPr>
            <a:xfrm>
              <a:off x="2323450" y="2525278"/>
              <a:ext cx="12130039" cy="744823"/>
            </a:xfrm>
            <a:prstGeom prst="roundRect">
              <a:avLst>
                <a:gd name="adj" fmla="val 16667"/>
              </a:avLst>
            </a:prstGeom>
            <a:solidFill>
              <a:srgbClr val="DAE5F1"/>
            </a:solidFill>
            <a:ln w="25400" cap="flat"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B7CCE4"/>
                </a:solidFill>
                <a:latin typeface="Calibri"/>
                <a:ea typeface="Calibri"/>
                <a:cs typeface="Calibri"/>
                <a:sym typeface="Calibri"/>
              </a:endParaRPr>
            </a:p>
          </p:txBody>
        </p:sp>
        <p:sp>
          <p:nvSpPr>
            <p:cNvPr id="683" name="Google Shape;683;p25"/>
            <p:cNvSpPr txBox="1"/>
            <p:nvPr/>
          </p:nvSpPr>
          <p:spPr>
            <a:xfrm>
              <a:off x="2473623" y="2566564"/>
              <a:ext cx="11052082" cy="58477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3200" b="1">
                  <a:solidFill>
                    <a:schemeClr val="dk1"/>
                  </a:solidFill>
                  <a:latin typeface="Poppins"/>
                  <a:ea typeface="Poppins"/>
                  <a:cs typeface="Poppins"/>
                  <a:sym typeface="Poppins"/>
                </a:rPr>
                <a:t>Directory of Regional and Provincial MSMED Councils</a:t>
              </a:r>
              <a:endParaRPr sz="3200" b="1">
                <a:solidFill>
                  <a:schemeClr val="dk1"/>
                </a:solidFill>
                <a:latin typeface="Poppins"/>
                <a:ea typeface="Poppins"/>
                <a:cs typeface="Poppins"/>
                <a:sym typeface="Poppins"/>
              </a:endParaRPr>
            </a:p>
          </p:txBody>
        </p:sp>
        <p:sp>
          <p:nvSpPr>
            <p:cNvPr id="684" name="Google Shape;684;p25"/>
            <p:cNvSpPr txBox="1"/>
            <p:nvPr/>
          </p:nvSpPr>
          <p:spPr>
            <a:xfrm>
              <a:off x="457200" y="2628900"/>
              <a:ext cx="2920884" cy="641201"/>
            </a:xfrm>
            <a:prstGeom prst="rect">
              <a:avLst/>
            </a:prstGeom>
            <a:noFill/>
            <a:ln>
              <a:noFill/>
            </a:ln>
          </p:spPr>
          <p:txBody>
            <a:bodyPr spcFirstLastPara="1" wrap="square" lIns="0" tIns="0" rIns="0" bIns="0" anchor="t" anchorCtr="0">
              <a:spAutoFit/>
            </a:bodyPr>
            <a:lstStyle/>
            <a:p>
              <a:pPr marL="0" marR="0" lvl="0" indent="0" algn="ctr" rtl="0">
                <a:lnSpc>
                  <a:spcPct val="93333"/>
                </a:lnSpc>
                <a:spcBef>
                  <a:spcPts val="0"/>
                </a:spcBef>
                <a:spcAft>
                  <a:spcPts val="0"/>
                </a:spcAft>
                <a:buNone/>
              </a:pPr>
              <a:r>
                <a:rPr lang="en-GB" sz="5400" b="1">
                  <a:solidFill>
                    <a:schemeClr val="dk2"/>
                  </a:solidFill>
                  <a:latin typeface="Montserrat"/>
                  <a:ea typeface="Montserrat"/>
                  <a:cs typeface="Montserrat"/>
                  <a:sym typeface="Montserrat"/>
                </a:rPr>
                <a:t>2</a:t>
              </a:r>
              <a:endParaRPr sz="5400" b="1">
                <a:solidFill>
                  <a:schemeClr val="dk2"/>
                </a:solidFill>
                <a:latin typeface="Montserrat"/>
                <a:ea typeface="Montserrat"/>
                <a:cs typeface="Montserrat"/>
                <a:sym typeface="Montserrat"/>
              </a:endParaRPr>
            </a:p>
          </p:txBody>
        </p:sp>
      </p:grpSp>
      <p:pic>
        <p:nvPicPr>
          <p:cNvPr id="685" name="Google Shape;685;p25"/>
          <p:cNvPicPr preferRelativeResize="0"/>
          <p:nvPr/>
        </p:nvPicPr>
        <p:blipFill rotWithShape="1">
          <a:blip r:embed="rId4">
            <a:alphaModFix/>
          </a:blip>
          <a:srcRect/>
          <a:stretch/>
        </p:blipFill>
        <p:spPr>
          <a:xfrm>
            <a:off x="2580025" y="831615"/>
            <a:ext cx="1822571" cy="1069905"/>
          </a:xfrm>
          <a:prstGeom prst="rect">
            <a:avLst/>
          </a:prstGeom>
          <a:noFill/>
          <a:ln>
            <a:noFill/>
          </a:ln>
        </p:spPr>
      </p:pic>
      <p:pic>
        <p:nvPicPr>
          <p:cNvPr id="686" name="Google Shape;686;p25"/>
          <p:cNvPicPr preferRelativeResize="0"/>
          <p:nvPr/>
        </p:nvPicPr>
        <p:blipFill rotWithShape="1">
          <a:blip r:embed="rId5">
            <a:alphaModFix/>
          </a:blip>
          <a:srcRect/>
          <a:stretch/>
        </p:blipFill>
        <p:spPr>
          <a:xfrm>
            <a:off x="13411200" y="702288"/>
            <a:ext cx="2368483" cy="1199232"/>
          </a:xfrm>
          <a:prstGeom prst="rect">
            <a:avLst/>
          </a:prstGeom>
          <a:noFill/>
          <a:ln>
            <a:noFill/>
          </a:ln>
        </p:spPr>
      </p:pic>
      <p:pic>
        <p:nvPicPr>
          <p:cNvPr id="687" name="Google Shape;687;p25"/>
          <p:cNvPicPr preferRelativeResize="0"/>
          <p:nvPr/>
        </p:nvPicPr>
        <p:blipFill rotWithShape="1">
          <a:blip r:embed="rId6">
            <a:alphaModFix/>
          </a:blip>
          <a:srcRect/>
          <a:stretch/>
        </p:blipFill>
        <p:spPr>
          <a:xfrm>
            <a:off x="15900404" y="569177"/>
            <a:ext cx="1516310" cy="1516310"/>
          </a:xfrm>
          <a:prstGeom prst="rect">
            <a:avLst/>
          </a:prstGeom>
          <a:noFill/>
          <a:ln>
            <a:noFill/>
          </a:ln>
        </p:spPr>
      </p:pic>
      <p:sp>
        <p:nvSpPr>
          <p:cNvPr id="688" name="Google Shape;688;p25"/>
          <p:cNvSpPr txBox="1"/>
          <p:nvPr/>
        </p:nvSpPr>
        <p:spPr>
          <a:xfrm>
            <a:off x="4110215" y="1371212"/>
            <a:ext cx="9838329" cy="438150"/>
          </a:xfrm>
          <a:prstGeom prst="rect">
            <a:avLst/>
          </a:prstGeom>
          <a:noFill/>
          <a:ln>
            <a:noFill/>
          </a:ln>
        </p:spPr>
        <p:txBody>
          <a:bodyPr spcFirstLastPara="1" wrap="square" lIns="0" tIns="0" rIns="0" bIns="0" anchor="t" anchorCtr="0">
            <a:spAutoFit/>
          </a:bodyPr>
          <a:lstStyle/>
          <a:p>
            <a:pPr marL="0" marR="0" lvl="0" indent="0" algn="ctr" rtl="0">
              <a:lnSpc>
                <a:spcPct val="110000"/>
              </a:lnSpc>
              <a:spcBef>
                <a:spcPts val="0"/>
              </a:spcBef>
              <a:spcAft>
                <a:spcPts val="0"/>
              </a:spcAft>
              <a:buNone/>
            </a:pPr>
            <a:r>
              <a:rPr lang="en-GB" sz="3000" b="1">
                <a:solidFill>
                  <a:srgbClr val="1C2120"/>
                </a:solidFill>
                <a:latin typeface="Montserrat"/>
                <a:ea typeface="Montserrat"/>
                <a:cs typeface="Montserrat"/>
                <a:sym typeface="Montserrat"/>
              </a:rPr>
              <a:t>ENTERPRISE DEVELOPMENT UNIT</a:t>
            </a:r>
            <a:endParaRPr/>
          </a:p>
        </p:txBody>
      </p:sp>
      <p:grpSp>
        <p:nvGrpSpPr>
          <p:cNvPr id="689" name="Google Shape;689;p25"/>
          <p:cNvGrpSpPr/>
          <p:nvPr/>
        </p:nvGrpSpPr>
        <p:grpSpPr>
          <a:xfrm>
            <a:off x="86708" y="2965267"/>
            <a:ext cx="16093440" cy="744823"/>
            <a:chOff x="457200" y="2525278"/>
            <a:chExt cx="13996289" cy="744823"/>
          </a:xfrm>
        </p:grpSpPr>
        <p:sp>
          <p:nvSpPr>
            <p:cNvPr id="690" name="Google Shape;690;p25"/>
            <p:cNvSpPr/>
            <p:nvPr/>
          </p:nvSpPr>
          <p:spPr>
            <a:xfrm>
              <a:off x="2323450" y="2525278"/>
              <a:ext cx="12130039" cy="744823"/>
            </a:xfrm>
            <a:prstGeom prst="roundRect">
              <a:avLst>
                <a:gd name="adj" fmla="val 16667"/>
              </a:avLst>
            </a:prstGeom>
            <a:solidFill>
              <a:srgbClr val="DAE5F1"/>
            </a:solidFill>
            <a:ln w="25400" cap="flat"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B7CCE4"/>
                </a:solidFill>
                <a:latin typeface="Calibri"/>
                <a:ea typeface="Calibri"/>
                <a:cs typeface="Calibri"/>
                <a:sym typeface="Calibri"/>
              </a:endParaRPr>
            </a:p>
          </p:txBody>
        </p:sp>
        <p:sp>
          <p:nvSpPr>
            <p:cNvPr id="691" name="Google Shape;691;p25"/>
            <p:cNvSpPr txBox="1"/>
            <p:nvPr/>
          </p:nvSpPr>
          <p:spPr>
            <a:xfrm>
              <a:off x="2473623" y="2566564"/>
              <a:ext cx="11052082" cy="58477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3200" b="1">
                  <a:solidFill>
                    <a:schemeClr val="dk1"/>
                  </a:solidFill>
                  <a:latin typeface="Poppins"/>
                  <a:ea typeface="Poppins"/>
                  <a:cs typeface="Poppins"/>
                  <a:sym typeface="Poppins"/>
                </a:rPr>
                <a:t>Directory of Chamber of Commerce and Industry  </a:t>
              </a:r>
              <a:endParaRPr sz="3200" b="1">
                <a:solidFill>
                  <a:schemeClr val="dk1"/>
                </a:solidFill>
                <a:latin typeface="Poppins"/>
                <a:ea typeface="Poppins"/>
                <a:cs typeface="Poppins"/>
                <a:sym typeface="Poppins"/>
              </a:endParaRPr>
            </a:p>
          </p:txBody>
        </p:sp>
        <p:sp>
          <p:nvSpPr>
            <p:cNvPr id="692" name="Google Shape;692;p25"/>
            <p:cNvSpPr txBox="1"/>
            <p:nvPr/>
          </p:nvSpPr>
          <p:spPr>
            <a:xfrm>
              <a:off x="457200" y="2628900"/>
              <a:ext cx="2920884" cy="641201"/>
            </a:xfrm>
            <a:prstGeom prst="rect">
              <a:avLst/>
            </a:prstGeom>
            <a:noFill/>
            <a:ln>
              <a:noFill/>
            </a:ln>
          </p:spPr>
          <p:txBody>
            <a:bodyPr spcFirstLastPara="1" wrap="square" lIns="0" tIns="0" rIns="0" bIns="0" anchor="t" anchorCtr="0">
              <a:spAutoFit/>
            </a:bodyPr>
            <a:lstStyle/>
            <a:p>
              <a:pPr marL="0" marR="0" lvl="0" indent="0" algn="ctr" rtl="0">
                <a:lnSpc>
                  <a:spcPct val="93333"/>
                </a:lnSpc>
                <a:spcBef>
                  <a:spcPts val="0"/>
                </a:spcBef>
                <a:spcAft>
                  <a:spcPts val="0"/>
                </a:spcAft>
                <a:buNone/>
              </a:pPr>
              <a:r>
                <a:rPr lang="en-GB" sz="5400" b="1">
                  <a:solidFill>
                    <a:schemeClr val="dk2"/>
                  </a:solidFill>
                  <a:latin typeface="Montserrat"/>
                  <a:ea typeface="Montserrat"/>
                  <a:cs typeface="Montserrat"/>
                  <a:sym typeface="Montserrat"/>
                </a:rPr>
                <a:t>1</a:t>
              </a:r>
              <a:endParaRPr/>
            </a:p>
          </p:txBody>
        </p:sp>
      </p:grpSp>
      <p:grpSp>
        <p:nvGrpSpPr>
          <p:cNvPr id="693" name="Google Shape;693;p25"/>
          <p:cNvGrpSpPr/>
          <p:nvPr/>
        </p:nvGrpSpPr>
        <p:grpSpPr>
          <a:xfrm>
            <a:off x="95673" y="4854883"/>
            <a:ext cx="16093440" cy="744823"/>
            <a:chOff x="457200" y="2525278"/>
            <a:chExt cx="13996289" cy="744823"/>
          </a:xfrm>
        </p:grpSpPr>
        <p:sp>
          <p:nvSpPr>
            <p:cNvPr id="694" name="Google Shape;694;p25"/>
            <p:cNvSpPr/>
            <p:nvPr/>
          </p:nvSpPr>
          <p:spPr>
            <a:xfrm>
              <a:off x="2323450" y="2525278"/>
              <a:ext cx="12130039" cy="744823"/>
            </a:xfrm>
            <a:prstGeom prst="roundRect">
              <a:avLst>
                <a:gd name="adj" fmla="val 16667"/>
              </a:avLst>
            </a:prstGeom>
            <a:solidFill>
              <a:srgbClr val="DAE5F1"/>
            </a:solidFill>
            <a:ln w="25400" cap="flat"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B7CCE4"/>
                </a:solidFill>
                <a:latin typeface="Calibri"/>
                <a:ea typeface="Calibri"/>
                <a:cs typeface="Calibri"/>
                <a:sym typeface="Calibri"/>
              </a:endParaRPr>
            </a:p>
          </p:txBody>
        </p:sp>
        <p:sp>
          <p:nvSpPr>
            <p:cNvPr id="695" name="Google Shape;695;p25"/>
            <p:cNvSpPr txBox="1"/>
            <p:nvPr/>
          </p:nvSpPr>
          <p:spPr>
            <a:xfrm>
              <a:off x="2473623" y="2566564"/>
              <a:ext cx="11052082" cy="58477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3200" b="1">
                  <a:solidFill>
                    <a:schemeClr val="dk1"/>
                  </a:solidFill>
                  <a:latin typeface="Poppins"/>
                  <a:ea typeface="Poppins"/>
                  <a:cs typeface="Poppins"/>
                  <a:sym typeface="Poppins"/>
                </a:rPr>
                <a:t>Database of GED Sensitized MSMEs</a:t>
              </a:r>
              <a:endParaRPr sz="3200" b="1">
                <a:solidFill>
                  <a:schemeClr val="dk1"/>
                </a:solidFill>
                <a:latin typeface="Poppins"/>
                <a:ea typeface="Poppins"/>
                <a:cs typeface="Poppins"/>
                <a:sym typeface="Poppins"/>
              </a:endParaRPr>
            </a:p>
          </p:txBody>
        </p:sp>
        <p:sp>
          <p:nvSpPr>
            <p:cNvPr id="696" name="Google Shape;696;p25"/>
            <p:cNvSpPr txBox="1"/>
            <p:nvPr/>
          </p:nvSpPr>
          <p:spPr>
            <a:xfrm>
              <a:off x="457200" y="2628900"/>
              <a:ext cx="2920884" cy="641201"/>
            </a:xfrm>
            <a:prstGeom prst="rect">
              <a:avLst/>
            </a:prstGeom>
            <a:noFill/>
            <a:ln>
              <a:noFill/>
            </a:ln>
          </p:spPr>
          <p:txBody>
            <a:bodyPr spcFirstLastPara="1" wrap="square" lIns="0" tIns="0" rIns="0" bIns="0" anchor="t" anchorCtr="0">
              <a:spAutoFit/>
            </a:bodyPr>
            <a:lstStyle/>
            <a:p>
              <a:pPr marL="0" marR="0" lvl="0" indent="0" algn="ctr" rtl="0">
                <a:lnSpc>
                  <a:spcPct val="93333"/>
                </a:lnSpc>
                <a:spcBef>
                  <a:spcPts val="0"/>
                </a:spcBef>
                <a:spcAft>
                  <a:spcPts val="0"/>
                </a:spcAft>
                <a:buNone/>
              </a:pPr>
              <a:r>
                <a:rPr lang="en-GB" sz="5400" b="1">
                  <a:solidFill>
                    <a:schemeClr val="dk2"/>
                  </a:solidFill>
                  <a:latin typeface="Montserrat"/>
                  <a:ea typeface="Montserrat"/>
                  <a:cs typeface="Montserrat"/>
                  <a:sym typeface="Montserrat"/>
                </a:rPr>
                <a:t>3</a:t>
              </a:r>
              <a:endParaRPr sz="5400" b="1">
                <a:solidFill>
                  <a:schemeClr val="dk2"/>
                </a:solidFill>
                <a:latin typeface="Montserrat"/>
                <a:ea typeface="Montserrat"/>
                <a:cs typeface="Montserrat"/>
                <a:sym typeface="Montserrat"/>
              </a:endParaRPr>
            </a:p>
          </p:txBody>
        </p:sp>
      </p:grpSp>
      <p:grpSp>
        <p:nvGrpSpPr>
          <p:cNvPr id="697" name="Google Shape;697;p25"/>
          <p:cNvGrpSpPr/>
          <p:nvPr/>
        </p:nvGrpSpPr>
        <p:grpSpPr>
          <a:xfrm>
            <a:off x="117467" y="5764820"/>
            <a:ext cx="16093440" cy="744823"/>
            <a:chOff x="457200" y="2525278"/>
            <a:chExt cx="13996289" cy="744823"/>
          </a:xfrm>
        </p:grpSpPr>
        <p:sp>
          <p:nvSpPr>
            <p:cNvPr id="698" name="Google Shape;698;p25"/>
            <p:cNvSpPr/>
            <p:nvPr/>
          </p:nvSpPr>
          <p:spPr>
            <a:xfrm>
              <a:off x="2323450" y="2525278"/>
              <a:ext cx="12130039" cy="744823"/>
            </a:xfrm>
            <a:prstGeom prst="roundRect">
              <a:avLst>
                <a:gd name="adj" fmla="val 16667"/>
              </a:avLst>
            </a:prstGeom>
            <a:solidFill>
              <a:srgbClr val="DAE5F1"/>
            </a:solidFill>
            <a:ln w="25400" cap="flat"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B7CCE4"/>
                </a:solidFill>
                <a:latin typeface="Calibri"/>
                <a:ea typeface="Calibri"/>
                <a:cs typeface="Calibri"/>
                <a:sym typeface="Calibri"/>
              </a:endParaRPr>
            </a:p>
          </p:txBody>
        </p:sp>
        <p:sp>
          <p:nvSpPr>
            <p:cNvPr id="699" name="Google Shape;699;p25"/>
            <p:cNvSpPr txBox="1"/>
            <p:nvPr/>
          </p:nvSpPr>
          <p:spPr>
            <a:xfrm>
              <a:off x="2473623" y="2566564"/>
              <a:ext cx="11052082" cy="58477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3200" b="1">
                  <a:solidFill>
                    <a:schemeClr val="dk1"/>
                  </a:solidFill>
                  <a:latin typeface="Poppins"/>
                  <a:ea typeface="Poppins"/>
                  <a:cs typeface="Poppins"/>
                  <a:sym typeface="Poppins"/>
                </a:rPr>
                <a:t>Database of Youth’ “YEP! You Can Be Your Own Boss” Completers</a:t>
              </a:r>
              <a:endParaRPr sz="3200" b="1">
                <a:solidFill>
                  <a:schemeClr val="dk1"/>
                </a:solidFill>
                <a:latin typeface="Poppins"/>
                <a:ea typeface="Poppins"/>
                <a:cs typeface="Poppins"/>
                <a:sym typeface="Poppins"/>
              </a:endParaRPr>
            </a:p>
          </p:txBody>
        </p:sp>
        <p:sp>
          <p:nvSpPr>
            <p:cNvPr id="700" name="Google Shape;700;p25"/>
            <p:cNvSpPr txBox="1"/>
            <p:nvPr/>
          </p:nvSpPr>
          <p:spPr>
            <a:xfrm>
              <a:off x="457200" y="2628900"/>
              <a:ext cx="2920884" cy="641201"/>
            </a:xfrm>
            <a:prstGeom prst="rect">
              <a:avLst/>
            </a:prstGeom>
            <a:noFill/>
            <a:ln>
              <a:noFill/>
            </a:ln>
          </p:spPr>
          <p:txBody>
            <a:bodyPr spcFirstLastPara="1" wrap="square" lIns="0" tIns="0" rIns="0" bIns="0" anchor="t" anchorCtr="0">
              <a:spAutoFit/>
            </a:bodyPr>
            <a:lstStyle/>
            <a:p>
              <a:pPr marL="0" marR="0" lvl="0" indent="0" algn="ctr" rtl="0">
                <a:lnSpc>
                  <a:spcPct val="93333"/>
                </a:lnSpc>
                <a:spcBef>
                  <a:spcPts val="0"/>
                </a:spcBef>
                <a:spcAft>
                  <a:spcPts val="0"/>
                </a:spcAft>
                <a:buNone/>
              </a:pPr>
              <a:r>
                <a:rPr lang="en-GB" sz="5400" b="1">
                  <a:solidFill>
                    <a:schemeClr val="dk2"/>
                  </a:solidFill>
                  <a:latin typeface="Montserrat"/>
                  <a:ea typeface="Montserrat"/>
                  <a:cs typeface="Montserrat"/>
                  <a:sym typeface="Montserrat"/>
                </a:rPr>
                <a:t>4</a:t>
              </a:r>
              <a:endParaRPr sz="5400" b="1">
                <a:solidFill>
                  <a:schemeClr val="dk2"/>
                </a:solidFill>
                <a:latin typeface="Montserrat"/>
                <a:ea typeface="Montserrat"/>
                <a:cs typeface="Montserrat"/>
                <a:sym typeface="Montserrat"/>
              </a:endParaRPr>
            </a:p>
          </p:txBody>
        </p:sp>
      </p:gr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Shape 704"/>
        <p:cNvGrpSpPr/>
        <p:nvPr/>
      </p:nvGrpSpPr>
      <p:grpSpPr>
        <a:xfrm>
          <a:off x="0" y="0"/>
          <a:ext cx="0" cy="0"/>
          <a:chOff x="0" y="0"/>
          <a:chExt cx="0" cy="0"/>
        </a:xfrm>
      </p:grpSpPr>
      <p:sp>
        <p:nvSpPr>
          <p:cNvPr id="705" name="Google Shape;705;p26"/>
          <p:cNvSpPr/>
          <p:nvPr/>
        </p:nvSpPr>
        <p:spPr>
          <a:xfrm>
            <a:off x="1058777" y="429656"/>
            <a:ext cx="1553339" cy="1518126"/>
          </a:xfrm>
          <a:custGeom>
            <a:avLst/>
            <a:gdLst/>
            <a:ahLst/>
            <a:cxnLst/>
            <a:rect l="l" t="t" r="r" b="b"/>
            <a:pathLst>
              <a:path w="1553339" h="1518126" extrusionOk="0">
                <a:moveTo>
                  <a:pt x="0" y="0"/>
                </a:moveTo>
                <a:lnTo>
                  <a:pt x="1553339" y="0"/>
                </a:lnTo>
                <a:lnTo>
                  <a:pt x="1553339" y="1518126"/>
                </a:lnTo>
                <a:lnTo>
                  <a:pt x="0" y="1518126"/>
                </a:lnTo>
                <a:lnTo>
                  <a:pt x="0" y="0"/>
                </a:lnTo>
                <a:close/>
              </a:path>
            </a:pathLst>
          </a:custGeom>
          <a:blipFill rotWithShape="1">
            <a:blip r:embed="rId3">
              <a:alphaModFix/>
            </a:blip>
            <a:stretch>
              <a:fillRect l="-31436" t="-10272" r="-26916" b="-57554"/>
            </a:stretch>
          </a:blipFill>
          <a:ln>
            <a:noFill/>
          </a:ln>
        </p:spPr>
      </p:sp>
      <p:cxnSp>
        <p:nvCxnSpPr>
          <p:cNvPr id="706" name="Google Shape;706;p26"/>
          <p:cNvCxnSpPr/>
          <p:nvPr/>
        </p:nvCxnSpPr>
        <p:spPr>
          <a:xfrm>
            <a:off x="2582039" y="1019175"/>
            <a:ext cx="14677261" cy="9525"/>
          </a:xfrm>
          <a:prstGeom prst="straightConnector1">
            <a:avLst/>
          </a:prstGeom>
          <a:noFill/>
          <a:ln w="19050" cap="flat" cmpd="sng">
            <a:solidFill>
              <a:srgbClr val="1C2120"/>
            </a:solidFill>
            <a:prstDash val="solid"/>
            <a:round/>
            <a:headEnd type="none" w="sm" len="sm"/>
            <a:tailEnd type="none" w="sm" len="sm"/>
          </a:ln>
        </p:spPr>
      </p:cxnSp>
      <p:pic>
        <p:nvPicPr>
          <p:cNvPr id="707" name="Google Shape;707;p26" descr="Coffins, ceramics products to be displayed in Go Negosyo Center - iOrbit  News Online"/>
          <p:cNvPicPr preferRelativeResize="0"/>
          <p:nvPr/>
        </p:nvPicPr>
        <p:blipFill rotWithShape="1">
          <a:blip r:embed="rId4">
            <a:alphaModFix/>
          </a:blip>
          <a:srcRect t="23333" b="24667"/>
          <a:stretch/>
        </p:blipFill>
        <p:spPr>
          <a:xfrm>
            <a:off x="7848600" y="1114762"/>
            <a:ext cx="2834847" cy="982746"/>
          </a:xfrm>
          <a:prstGeom prst="rect">
            <a:avLst/>
          </a:prstGeom>
          <a:noFill/>
          <a:ln>
            <a:noFill/>
          </a:ln>
        </p:spPr>
      </p:pic>
      <p:grpSp>
        <p:nvGrpSpPr>
          <p:cNvPr id="708" name="Google Shape;708;p26"/>
          <p:cNvGrpSpPr/>
          <p:nvPr/>
        </p:nvGrpSpPr>
        <p:grpSpPr>
          <a:xfrm>
            <a:off x="1065269" y="9428327"/>
            <a:ext cx="16230606" cy="515773"/>
            <a:chOff x="0" y="85715"/>
            <a:chExt cx="21640808" cy="687697"/>
          </a:xfrm>
        </p:grpSpPr>
        <p:sp>
          <p:nvSpPr>
            <p:cNvPr id="709" name="Google Shape;709;p26"/>
            <p:cNvSpPr/>
            <p:nvPr/>
          </p:nvSpPr>
          <p:spPr>
            <a:xfrm>
              <a:off x="0" y="123616"/>
              <a:ext cx="21640808" cy="649796"/>
            </a:xfrm>
            <a:prstGeom prst="rect">
              <a:avLst/>
            </a:prstGeom>
            <a:solidFill>
              <a:srgbClr val="1C212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0" name="Google Shape;710;p26"/>
            <p:cNvSpPr txBox="1"/>
            <p:nvPr/>
          </p:nvSpPr>
          <p:spPr>
            <a:xfrm>
              <a:off x="998193" y="85715"/>
              <a:ext cx="19644415" cy="440266"/>
            </a:xfrm>
            <a:prstGeom prst="rect">
              <a:avLst/>
            </a:prstGeom>
            <a:noFill/>
            <a:ln>
              <a:noFill/>
            </a:ln>
          </p:spPr>
          <p:txBody>
            <a:bodyPr spcFirstLastPara="1" wrap="square" lIns="0" tIns="0" rIns="0" bIns="0" anchor="t" anchorCtr="0">
              <a:spAutoFit/>
            </a:bodyPr>
            <a:lstStyle/>
            <a:p>
              <a:pPr marL="0" marR="0" lvl="0" indent="0" algn="just" rtl="0">
                <a:lnSpc>
                  <a:spcPct val="140000"/>
                </a:lnSpc>
                <a:spcBef>
                  <a:spcPts val="0"/>
                </a:spcBef>
                <a:spcAft>
                  <a:spcPts val="0"/>
                </a:spcAft>
                <a:buNone/>
              </a:pPr>
              <a:r>
                <a:rPr lang="en-GB" sz="2000" b="1">
                  <a:solidFill>
                    <a:srgbClr val="FDFDFD"/>
                  </a:solidFill>
                  <a:latin typeface="Montserrat"/>
                  <a:ea typeface="Montserrat"/>
                  <a:cs typeface="Montserrat"/>
                  <a:sym typeface="Montserrat"/>
                </a:rPr>
                <a:t>DTI- SME DEVELOPMENT DIVISION│NC│CARP│TPU│EDU</a:t>
              </a:r>
              <a:endParaRPr/>
            </a:p>
          </p:txBody>
        </p:sp>
      </p:grpSp>
      <p:grpSp>
        <p:nvGrpSpPr>
          <p:cNvPr id="711" name="Google Shape;711;p26"/>
          <p:cNvGrpSpPr/>
          <p:nvPr/>
        </p:nvGrpSpPr>
        <p:grpSpPr>
          <a:xfrm>
            <a:off x="86708" y="3917645"/>
            <a:ext cx="16093440" cy="744823"/>
            <a:chOff x="457200" y="2525278"/>
            <a:chExt cx="13996289" cy="744823"/>
          </a:xfrm>
        </p:grpSpPr>
        <p:sp>
          <p:nvSpPr>
            <p:cNvPr id="712" name="Google Shape;712;p26"/>
            <p:cNvSpPr/>
            <p:nvPr/>
          </p:nvSpPr>
          <p:spPr>
            <a:xfrm>
              <a:off x="2323450" y="2525278"/>
              <a:ext cx="12130039" cy="744823"/>
            </a:xfrm>
            <a:prstGeom prst="roundRect">
              <a:avLst>
                <a:gd name="adj" fmla="val 16667"/>
              </a:avLst>
            </a:prstGeom>
            <a:solidFill>
              <a:srgbClr val="DAE5F1"/>
            </a:solidFill>
            <a:ln w="25400" cap="flat"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B7CCE4"/>
                </a:solidFill>
                <a:latin typeface="Calibri"/>
                <a:ea typeface="Calibri"/>
                <a:cs typeface="Calibri"/>
                <a:sym typeface="Calibri"/>
              </a:endParaRPr>
            </a:p>
          </p:txBody>
        </p:sp>
        <p:sp>
          <p:nvSpPr>
            <p:cNvPr id="713" name="Google Shape;713;p26"/>
            <p:cNvSpPr txBox="1"/>
            <p:nvPr/>
          </p:nvSpPr>
          <p:spPr>
            <a:xfrm>
              <a:off x="2473623" y="2566564"/>
              <a:ext cx="11052082" cy="58477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3200" b="1">
                  <a:solidFill>
                    <a:schemeClr val="dk1"/>
                  </a:solidFill>
                  <a:latin typeface="Poppins"/>
                  <a:ea typeface="Poppins"/>
                  <a:cs typeface="Poppins"/>
                  <a:sym typeface="Poppins"/>
                </a:rPr>
                <a:t>KMME Mentees Database</a:t>
              </a:r>
              <a:endParaRPr sz="3200" b="1">
                <a:solidFill>
                  <a:schemeClr val="dk1"/>
                </a:solidFill>
                <a:latin typeface="Poppins"/>
                <a:ea typeface="Poppins"/>
                <a:cs typeface="Poppins"/>
                <a:sym typeface="Poppins"/>
              </a:endParaRPr>
            </a:p>
          </p:txBody>
        </p:sp>
        <p:sp>
          <p:nvSpPr>
            <p:cNvPr id="714" name="Google Shape;714;p26"/>
            <p:cNvSpPr txBox="1"/>
            <p:nvPr/>
          </p:nvSpPr>
          <p:spPr>
            <a:xfrm>
              <a:off x="457200" y="2628900"/>
              <a:ext cx="2920884" cy="641201"/>
            </a:xfrm>
            <a:prstGeom prst="rect">
              <a:avLst/>
            </a:prstGeom>
            <a:noFill/>
            <a:ln>
              <a:noFill/>
            </a:ln>
          </p:spPr>
          <p:txBody>
            <a:bodyPr spcFirstLastPara="1" wrap="square" lIns="0" tIns="0" rIns="0" bIns="0" anchor="t" anchorCtr="0">
              <a:spAutoFit/>
            </a:bodyPr>
            <a:lstStyle/>
            <a:p>
              <a:pPr marL="0" marR="0" lvl="0" indent="0" algn="ctr" rtl="0">
                <a:lnSpc>
                  <a:spcPct val="93333"/>
                </a:lnSpc>
                <a:spcBef>
                  <a:spcPts val="0"/>
                </a:spcBef>
                <a:spcAft>
                  <a:spcPts val="0"/>
                </a:spcAft>
                <a:buNone/>
              </a:pPr>
              <a:r>
                <a:rPr lang="en-GB" sz="5400" b="1">
                  <a:solidFill>
                    <a:schemeClr val="dk2"/>
                  </a:solidFill>
                  <a:latin typeface="Montserrat"/>
                  <a:ea typeface="Montserrat"/>
                  <a:cs typeface="Montserrat"/>
                  <a:sym typeface="Montserrat"/>
                </a:rPr>
                <a:t>2</a:t>
              </a:r>
              <a:endParaRPr sz="5400" b="1">
                <a:solidFill>
                  <a:schemeClr val="dk2"/>
                </a:solidFill>
                <a:latin typeface="Montserrat"/>
                <a:ea typeface="Montserrat"/>
                <a:cs typeface="Montserrat"/>
                <a:sym typeface="Montserrat"/>
              </a:endParaRPr>
            </a:p>
          </p:txBody>
        </p:sp>
      </p:grpSp>
      <p:grpSp>
        <p:nvGrpSpPr>
          <p:cNvPr id="715" name="Google Shape;715;p26"/>
          <p:cNvGrpSpPr/>
          <p:nvPr/>
        </p:nvGrpSpPr>
        <p:grpSpPr>
          <a:xfrm>
            <a:off x="86708" y="2965267"/>
            <a:ext cx="16093440" cy="744823"/>
            <a:chOff x="457200" y="2525278"/>
            <a:chExt cx="13996289" cy="744823"/>
          </a:xfrm>
        </p:grpSpPr>
        <p:sp>
          <p:nvSpPr>
            <p:cNvPr id="716" name="Google Shape;716;p26"/>
            <p:cNvSpPr/>
            <p:nvPr/>
          </p:nvSpPr>
          <p:spPr>
            <a:xfrm>
              <a:off x="2323450" y="2525278"/>
              <a:ext cx="12130039" cy="744823"/>
            </a:xfrm>
            <a:prstGeom prst="roundRect">
              <a:avLst>
                <a:gd name="adj" fmla="val 16667"/>
              </a:avLst>
            </a:prstGeom>
            <a:solidFill>
              <a:srgbClr val="DAE5F1"/>
            </a:solidFill>
            <a:ln w="25400" cap="flat"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B7CCE4"/>
                </a:solidFill>
                <a:latin typeface="Calibri"/>
                <a:ea typeface="Calibri"/>
                <a:cs typeface="Calibri"/>
                <a:sym typeface="Calibri"/>
              </a:endParaRPr>
            </a:p>
          </p:txBody>
        </p:sp>
        <p:sp>
          <p:nvSpPr>
            <p:cNvPr id="717" name="Google Shape;717;p26"/>
            <p:cNvSpPr txBox="1"/>
            <p:nvPr/>
          </p:nvSpPr>
          <p:spPr>
            <a:xfrm>
              <a:off x="2473623" y="2566564"/>
              <a:ext cx="11052082" cy="58477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3200" b="1">
                  <a:solidFill>
                    <a:schemeClr val="dk1"/>
                  </a:solidFill>
                  <a:latin typeface="Poppins"/>
                  <a:ea typeface="Poppins"/>
                  <a:cs typeface="Poppins"/>
                  <a:sym typeface="Poppins"/>
                </a:rPr>
                <a:t>Client Profile Monitoring System (CPMS)</a:t>
              </a:r>
              <a:endParaRPr sz="3200" b="1">
                <a:solidFill>
                  <a:schemeClr val="dk1"/>
                </a:solidFill>
                <a:latin typeface="Poppins"/>
                <a:ea typeface="Poppins"/>
                <a:cs typeface="Poppins"/>
                <a:sym typeface="Poppins"/>
              </a:endParaRPr>
            </a:p>
          </p:txBody>
        </p:sp>
        <p:sp>
          <p:nvSpPr>
            <p:cNvPr id="718" name="Google Shape;718;p26"/>
            <p:cNvSpPr txBox="1"/>
            <p:nvPr/>
          </p:nvSpPr>
          <p:spPr>
            <a:xfrm>
              <a:off x="457200" y="2628900"/>
              <a:ext cx="2920884" cy="641201"/>
            </a:xfrm>
            <a:prstGeom prst="rect">
              <a:avLst/>
            </a:prstGeom>
            <a:noFill/>
            <a:ln>
              <a:noFill/>
            </a:ln>
          </p:spPr>
          <p:txBody>
            <a:bodyPr spcFirstLastPara="1" wrap="square" lIns="0" tIns="0" rIns="0" bIns="0" anchor="t" anchorCtr="0">
              <a:spAutoFit/>
            </a:bodyPr>
            <a:lstStyle/>
            <a:p>
              <a:pPr marL="0" marR="0" lvl="0" indent="0" algn="ctr" rtl="0">
                <a:lnSpc>
                  <a:spcPct val="93333"/>
                </a:lnSpc>
                <a:spcBef>
                  <a:spcPts val="0"/>
                </a:spcBef>
                <a:spcAft>
                  <a:spcPts val="0"/>
                </a:spcAft>
                <a:buNone/>
              </a:pPr>
              <a:r>
                <a:rPr lang="en-GB" sz="5400" b="1">
                  <a:solidFill>
                    <a:schemeClr val="dk2"/>
                  </a:solidFill>
                  <a:latin typeface="Montserrat"/>
                  <a:ea typeface="Montserrat"/>
                  <a:cs typeface="Montserrat"/>
                  <a:sym typeface="Montserrat"/>
                </a:rPr>
                <a:t>1</a:t>
              </a:r>
              <a:endParaRPr/>
            </a:p>
          </p:txBody>
        </p:sp>
      </p:grpSp>
      <p:grpSp>
        <p:nvGrpSpPr>
          <p:cNvPr id="719" name="Google Shape;719;p26"/>
          <p:cNvGrpSpPr/>
          <p:nvPr/>
        </p:nvGrpSpPr>
        <p:grpSpPr>
          <a:xfrm>
            <a:off x="95673" y="4854883"/>
            <a:ext cx="16093440" cy="744823"/>
            <a:chOff x="457200" y="2525278"/>
            <a:chExt cx="13996289" cy="744823"/>
          </a:xfrm>
        </p:grpSpPr>
        <p:sp>
          <p:nvSpPr>
            <p:cNvPr id="720" name="Google Shape;720;p26"/>
            <p:cNvSpPr/>
            <p:nvPr/>
          </p:nvSpPr>
          <p:spPr>
            <a:xfrm>
              <a:off x="2323450" y="2525278"/>
              <a:ext cx="12130039" cy="744823"/>
            </a:xfrm>
            <a:prstGeom prst="roundRect">
              <a:avLst>
                <a:gd name="adj" fmla="val 16667"/>
              </a:avLst>
            </a:prstGeom>
            <a:solidFill>
              <a:srgbClr val="DAE5F1"/>
            </a:solidFill>
            <a:ln w="25400" cap="flat"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B7CCE4"/>
                </a:solidFill>
                <a:latin typeface="Calibri"/>
                <a:ea typeface="Calibri"/>
                <a:cs typeface="Calibri"/>
                <a:sym typeface="Calibri"/>
              </a:endParaRPr>
            </a:p>
          </p:txBody>
        </p:sp>
        <p:sp>
          <p:nvSpPr>
            <p:cNvPr id="721" name="Google Shape;721;p26"/>
            <p:cNvSpPr txBox="1"/>
            <p:nvPr/>
          </p:nvSpPr>
          <p:spPr>
            <a:xfrm>
              <a:off x="2473623" y="2566564"/>
              <a:ext cx="11052082" cy="58477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3200" b="1">
                  <a:solidFill>
                    <a:schemeClr val="dk1"/>
                  </a:solidFill>
                  <a:latin typeface="Poppins"/>
                  <a:ea typeface="Poppins"/>
                  <a:cs typeface="Poppins"/>
                  <a:sym typeface="Poppins"/>
                </a:rPr>
                <a:t>KMME Catalogue</a:t>
              </a:r>
              <a:endParaRPr sz="3200" b="1">
                <a:solidFill>
                  <a:schemeClr val="dk1"/>
                </a:solidFill>
                <a:latin typeface="Poppins"/>
                <a:ea typeface="Poppins"/>
                <a:cs typeface="Poppins"/>
                <a:sym typeface="Poppins"/>
              </a:endParaRPr>
            </a:p>
          </p:txBody>
        </p:sp>
        <p:sp>
          <p:nvSpPr>
            <p:cNvPr id="722" name="Google Shape;722;p26"/>
            <p:cNvSpPr txBox="1"/>
            <p:nvPr/>
          </p:nvSpPr>
          <p:spPr>
            <a:xfrm>
              <a:off x="457200" y="2628900"/>
              <a:ext cx="2920884" cy="641201"/>
            </a:xfrm>
            <a:prstGeom prst="rect">
              <a:avLst/>
            </a:prstGeom>
            <a:noFill/>
            <a:ln>
              <a:noFill/>
            </a:ln>
          </p:spPr>
          <p:txBody>
            <a:bodyPr spcFirstLastPara="1" wrap="square" lIns="0" tIns="0" rIns="0" bIns="0" anchor="t" anchorCtr="0">
              <a:spAutoFit/>
            </a:bodyPr>
            <a:lstStyle/>
            <a:p>
              <a:pPr marL="0" marR="0" lvl="0" indent="0" algn="ctr" rtl="0">
                <a:lnSpc>
                  <a:spcPct val="93333"/>
                </a:lnSpc>
                <a:spcBef>
                  <a:spcPts val="0"/>
                </a:spcBef>
                <a:spcAft>
                  <a:spcPts val="0"/>
                </a:spcAft>
                <a:buNone/>
              </a:pPr>
              <a:r>
                <a:rPr lang="en-GB" sz="5400" b="1">
                  <a:solidFill>
                    <a:schemeClr val="dk2"/>
                  </a:solidFill>
                  <a:latin typeface="Montserrat"/>
                  <a:ea typeface="Montserrat"/>
                  <a:cs typeface="Montserrat"/>
                  <a:sym typeface="Montserrat"/>
                </a:rPr>
                <a:t>3</a:t>
              </a:r>
              <a:endParaRPr sz="5400" b="1">
                <a:solidFill>
                  <a:schemeClr val="dk2"/>
                </a:solidFill>
                <a:latin typeface="Montserrat"/>
                <a:ea typeface="Montserrat"/>
                <a:cs typeface="Montserrat"/>
                <a:sym typeface="Montserrat"/>
              </a:endParaRPr>
            </a:p>
          </p:txBody>
        </p:sp>
      </p:grpSp>
      <p:grpSp>
        <p:nvGrpSpPr>
          <p:cNvPr id="723" name="Google Shape;723;p26"/>
          <p:cNvGrpSpPr/>
          <p:nvPr/>
        </p:nvGrpSpPr>
        <p:grpSpPr>
          <a:xfrm>
            <a:off x="86775" y="5839625"/>
            <a:ext cx="16030698" cy="3348772"/>
            <a:chOff x="457200" y="2504953"/>
            <a:chExt cx="13942162" cy="744900"/>
          </a:xfrm>
        </p:grpSpPr>
        <p:sp>
          <p:nvSpPr>
            <p:cNvPr id="724" name="Google Shape;724;p26"/>
            <p:cNvSpPr/>
            <p:nvPr/>
          </p:nvSpPr>
          <p:spPr>
            <a:xfrm>
              <a:off x="2269462" y="2504953"/>
              <a:ext cx="12129900" cy="744900"/>
            </a:xfrm>
            <a:prstGeom prst="roundRect">
              <a:avLst>
                <a:gd name="adj" fmla="val 16667"/>
              </a:avLst>
            </a:prstGeom>
            <a:solidFill>
              <a:srgbClr val="DAE5F1"/>
            </a:solidFill>
            <a:ln w="25400" cap="flat"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None/>
              </a:pPr>
              <a:r>
                <a:rPr lang="en-GB" sz="3200" b="1">
                  <a:solidFill>
                    <a:schemeClr val="dk1"/>
                  </a:solidFill>
                  <a:latin typeface="Poppins"/>
                  <a:ea typeface="Poppins"/>
                  <a:cs typeface="Poppins"/>
                  <a:sym typeface="Poppins"/>
                </a:rPr>
                <a:t>Negosyo Center Monitoring System</a:t>
              </a:r>
              <a:endParaRPr sz="3200" b="1">
                <a:solidFill>
                  <a:schemeClr val="dk1"/>
                </a:solidFill>
                <a:latin typeface="Poppins"/>
                <a:ea typeface="Poppins"/>
                <a:cs typeface="Poppins"/>
                <a:sym typeface="Poppins"/>
              </a:endParaRPr>
            </a:p>
            <a:p>
              <a:pPr marL="457200" lvl="0" indent="-431800" algn="l" rtl="0">
                <a:spcBef>
                  <a:spcPts val="0"/>
                </a:spcBef>
                <a:spcAft>
                  <a:spcPts val="0"/>
                </a:spcAft>
                <a:buClr>
                  <a:schemeClr val="dk1"/>
                </a:buClr>
                <a:buSzPts val="3200"/>
                <a:buFont typeface="Poppins"/>
                <a:buChar char="●"/>
              </a:pPr>
              <a:r>
                <a:rPr lang="en-GB" sz="3200" b="1">
                  <a:solidFill>
                    <a:schemeClr val="dk1"/>
                  </a:solidFill>
                  <a:latin typeface="Poppins"/>
                  <a:ea typeface="Poppins"/>
                  <a:cs typeface="Poppins"/>
                  <a:sym typeface="Poppins"/>
                </a:rPr>
                <a:t>NC Human Resource</a:t>
              </a:r>
              <a:endParaRPr sz="3200" b="1">
                <a:solidFill>
                  <a:schemeClr val="dk1"/>
                </a:solidFill>
                <a:latin typeface="Poppins"/>
                <a:ea typeface="Poppins"/>
                <a:cs typeface="Poppins"/>
                <a:sym typeface="Poppins"/>
              </a:endParaRPr>
            </a:p>
            <a:p>
              <a:pPr marL="457200" lvl="0" indent="-431800" algn="l" rtl="0">
                <a:spcBef>
                  <a:spcPts val="0"/>
                </a:spcBef>
                <a:spcAft>
                  <a:spcPts val="0"/>
                </a:spcAft>
                <a:buClr>
                  <a:schemeClr val="dk1"/>
                </a:buClr>
                <a:buSzPts val="3200"/>
                <a:buFont typeface="Poppins"/>
                <a:buChar char="●"/>
              </a:pPr>
              <a:r>
                <a:rPr lang="en-GB" sz="3200" b="1">
                  <a:solidFill>
                    <a:schemeClr val="dk1"/>
                  </a:solidFill>
                  <a:latin typeface="Poppins"/>
                  <a:ea typeface="Poppins"/>
                  <a:cs typeface="Poppins"/>
                  <a:sym typeface="Poppins"/>
                </a:rPr>
                <a:t>Target and Accomplishment</a:t>
              </a:r>
              <a:endParaRPr sz="3200" b="1">
                <a:solidFill>
                  <a:schemeClr val="dk1"/>
                </a:solidFill>
                <a:latin typeface="Poppins"/>
                <a:ea typeface="Poppins"/>
                <a:cs typeface="Poppins"/>
                <a:sym typeface="Poppins"/>
              </a:endParaRPr>
            </a:p>
            <a:p>
              <a:pPr marL="457200" lvl="0" indent="-431800" algn="l" rtl="0">
                <a:spcBef>
                  <a:spcPts val="0"/>
                </a:spcBef>
                <a:spcAft>
                  <a:spcPts val="0"/>
                </a:spcAft>
                <a:buClr>
                  <a:schemeClr val="dk1"/>
                </a:buClr>
                <a:buSzPts val="3200"/>
                <a:buFont typeface="Poppins"/>
                <a:buChar char="●"/>
              </a:pPr>
              <a:r>
                <a:rPr lang="en-GB" sz="3200" b="1">
                  <a:solidFill>
                    <a:schemeClr val="dk1"/>
                  </a:solidFill>
                  <a:latin typeface="Poppins"/>
                  <a:ea typeface="Poppins"/>
                  <a:cs typeface="Poppins"/>
                  <a:sym typeface="Poppins"/>
                </a:rPr>
                <a:t>Registered BMBEs</a:t>
              </a:r>
              <a:endParaRPr sz="3200" b="1">
                <a:solidFill>
                  <a:schemeClr val="dk1"/>
                </a:solidFill>
                <a:latin typeface="Poppins"/>
                <a:ea typeface="Poppins"/>
                <a:cs typeface="Poppins"/>
                <a:sym typeface="Poppins"/>
              </a:endParaRPr>
            </a:p>
            <a:p>
              <a:pPr marL="457200" lvl="0" indent="-431800" algn="l" rtl="0">
                <a:spcBef>
                  <a:spcPts val="0"/>
                </a:spcBef>
                <a:spcAft>
                  <a:spcPts val="0"/>
                </a:spcAft>
                <a:buClr>
                  <a:schemeClr val="dk1"/>
                </a:buClr>
                <a:buSzPts val="3200"/>
                <a:buFont typeface="Poppins"/>
                <a:buChar char="●"/>
              </a:pPr>
              <a:r>
                <a:rPr lang="en-GB" sz="3200" b="1">
                  <a:solidFill>
                    <a:schemeClr val="dk1"/>
                  </a:solidFill>
                  <a:latin typeface="Poppins"/>
                  <a:ea typeface="Poppins"/>
                  <a:cs typeface="Poppins"/>
                  <a:sym typeface="Poppins"/>
                </a:rPr>
                <a:t>O365 Accounts</a:t>
              </a:r>
              <a:endParaRPr sz="3200" b="1">
                <a:solidFill>
                  <a:schemeClr val="dk1"/>
                </a:solidFill>
                <a:latin typeface="Poppins"/>
                <a:ea typeface="Poppins"/>
                <a:cs typeface="Poppins"/>
                <a:sym typeface="Poppins"/>
              </a:endParaRPr>
            </a:p>
            <a:p>
              <a:pPr marL="457200" lvl="0" indent="-431800" algn="l" rtl="0">
                <a:spcBef>
                  <a:spcPts val="0"/>
                </a:spcBef>
                <a:spcAft>
                  <a:spcPts val="0"/>
                </a:spcAft>
                <a:buClr>
                  <a:schemeClr val="dk1"/>
                </a:buClr>
                <a:buSzPts val="3200"/>
                <a:buFont typeface="Poppins"/>
                <a:buChar char="●"/>
              </a:pPr>
              <a:r>
                <a:rPr lang="en-GB" sz="3200" b="1">
                  <a:solidFill>
                    <a:schemeClr val="dk1"/>
                  </a:solidFill>
                  <a:latin typeface="Poppins"/>
                  <a:ea typeface="Poppins"/>
                  <a:cs typeface="Poppins"/>
                  <a:sym typeface="Poppins"/>
                </a:rPr>
                <a:t>Online Directory </a:t>
              </a:r>
              <a:endParaRPr sz="3200" b="1">
                <a:solidFill>
                  <a:schemeClr val="dk1"/>
                </a:solidFill>
                <a:latin typeface="Poppins"/>
                <a:ea typeface="Poppins"/>
                <a:cs typeface="Poppins"/>
                <a:sym typeface="Poppins"/>
              </a:endParaRPr>
            </a:p>
            <a:p>
              <a:pPr marL="457200" lvl="0" indent="-431800" algn="l" rtl="0">
                <a:spcBef>
                  <a:spcPts val="0"/>
                </a:spcBef>
                <a:spcAft>
                  <a:spcPts val="0"/>
                </a:spcAft>
                <a:buClr>
                  <a:schemeClr val="dk1"/>
                </a:buClr>
                <a:buSzPts val="3200"/>
                <a:buFont typeface="Poppins"/>
                <a:buChar char="●"/>
              </a:pPr>
              <a:r>
                <a:rPr lang="en-GB" sz="3200" b="1">
                  <a:solidFill>
                    <a:schemeClr val="dk1"/>
                  </a:solidFill>
                  <a:latin typeface="Poppins"/>
                  <a:ea typeface="Poppins"/>
                  <a:cs typeface="Poppins"/>
                  <a:sym typeface="Poppins"/>
                </a:rPr>
                <a:t>Social Media Inventory</a:t>
              </a:r>
              <a:endParaRPr sz="3200" b="1">
                <a:solidFill>
                  <a:schemeClr val="dk1"/>
                </a:solidFill>
                <a:latin typeface="Poppins"/>
                <a:ea typeface="Poppins"/>
                <a:cs typeface="Poppins"/>
                <a:sym typeface="Poppins"/>
              </a:endParaRPr>
            </a:p>
          </p:txBody>
        </p:sp>
        <p:sp>
          <p:nvSpPr>
            <p:cNvPr id="725" name="Google Shape;725;p26"/>
            <p:cNvSpPr txBox="1"/>
            <p:nvPr/>
          </p:nvSpPr>
          <p:spPr>
            <a:xfrm>
              <a:off x="457200" y="2628900"/>
              <a:ext cx="2920800" cy="172500"/>
            </a:xfrm>
            <a:prstGeom prst="rect">
              <a:avLst/>
            </a:prstGeom>
            <a:noFill/>
            <a:ln>
              <a:noFill/>
            </a:ln>
          </p:spPr>
          <p:txBody>
            <a:bodyPr spcFirstLastPara="1" wrap="square" lIns="0" tIns="0" rIns="0" bIns="0" anchor="t" anchorCtr="0">
              <a:spAutoFit/>
            </a:bodyPr>
            <a:lstStyle/>
            <a:p>
              <a:pPr marL="0" marR="0" lvl="0" indent="0" algn="ctr" rtl="0">
                <a:lnSpc>
                  <a:spcPct val="93333"/>
                </a:lnSpc>
                <a:spcBef>
                  <a:spcPts val="0"/>
                </a:spcBef>
                <a:spcAft>
                  <a:spcPts val="0"/>
                </a:spcAft>
                <a:buNone/>
              </a:pPr>
              <a:r>
                <a:rPr lang="en-GB" sz="5400" b="1">
                  <a:solidFill>
                    <a:schemeClr val="dk2"/>
                  </a:solidFill>
                  <a:latin typeface="Montserrat"/>
                  <a:ea typeface="Montserrat"/>
                  <a:cs typeface="Montserrat"/>
                  <a:sym typeface="Montserrat"/>
                </a:rPr>
                <a:t>4 </a:t>
              </a:r>
              <a:endParaRPr sz="5400" b="1">
                <a:solidFill>
                  <a:schemeClr val="dk2"/>
                </a:solidFill>
                <a:latin typeface="Montserrat"/>
                <a:ea typeface="Montserrat"/>
                <a:cs typeface="Montserrat"/>
                <a:sym typeface="Montserrat"/>
              </a:endParaRPr>
            </a:p>
          </p:txBody>
        </p:sp>
      </p:gr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Shape 733"/>
        <p:cNvGrpSpPr/>
        <p:nvPr/>
      </p:nvGrpSpPr>
      <p:grpSpPr>
        <a:xfrm>
          <a:off x="0" y="0"/>
          <a:ext cx="0" cy="0"/>
          <a:chOff x="0" y="0"/>
          <a:chExt cx="0" cy="0"/>
        </a:xfrm>
      </p:grpSpPr>
      <p:sp>
        <p:nvSpPr>
          <p:cNvPr id="734" name="Google Shape;734;p27"/>
          <p:cNvSpPr/>
          <p:nvPr/>
        </p:nvSpPr>
        <p:spPr>
          <a:xfrm>
            <a:off x="1028700" y="453061"/>
            <a:ext cx="1553339" cy="1518126"/>
          </a:xfrm>
          <a:custGeom>
            <a:avLst/>
            <a:gdLst/>
            <a:ahLst/>
            <a:cxnLst/>
            <a:rect l="l" t="t" r="r" b="b"/>
            <a:pathLst>
              <a:path w="1553339" h="1518126" extrusionOk="0">
                <a:moveTo>
                  <a:pt x="0" y="0"/>
                </a:moveTo>
                <a:lnTo>
                  <a:pt x="1553339" y="0"/>
                </a:lnTo>
                <a:lnTo>
                  <a:pt x="1553339" y="1518126"/>
                </a:lnTo>
                <a:lnTo>
                  <a:pt x="0" y="1518126"/>
                </a:lnTo>
                <a:lnTo>
                  <a:pt x="0" y="0"/>
                </a:lnTo>
                <a:close/>
              </a:path>
            </a:pathLst>
          </a:custGeom>
          <a:blipFill rotWithShape="1">
            <a:blip r:embed="rId3">
              <a:alphaModFix/>
            </a:blip>
            <a:stretch>
              <a:fillRect l="-31436" t="-10272" r="-26916" b="-57554"/>
            </a:stretch>
          </a:blipFill>
          <a:ln>
            <a:noFill/>
          </a:ln>
        </p:spPr>
      </p:sp>
      <p:cxnSp>
        <p:nvCxnSpPr>
          <p:cNvPr id="735" name="Google Shape;735;p27"/>
          <p:cNvCxnSpPr/>
          <p:nvPr/>
        </p:nvCxnSpPr>
        <p:spPr>
          <a:xfrm>
            <a:off x="2582039" y="1019175"/>
            <a:ext cx="14677261" cy="9525"/>
          </a:xfrm>
          <a:prstGeom prst="straightConnector1">
            <a:avLst/>
          </a:prstGeom>
          <a:noFill/>
          <a:ln w="19050" cap="flat" cmpd="sng">
            <a:solidFill>
              <a:srgbClr val="1C2120"/>
            </a:solidFill>
            <a:prstDash val="solid"/>
            <a:round/>
            <a:headEnd type="none" w="sm" len="sm"/>
            <a:tailEnd type="none" w="sm" len="sm"/>
          </a:ln>
        </p:spPr>
      </p:cxnSp>
      <p:grpSp>
        <p:nvGrpSpPr>
          <p:cNvPr id="736" name="Google Shape;736;p27"/>
          <p:cNvGrpSpPr/>
          <p:nvPr/>
        </p:nvGrpSpPr>
        <p:grpSpPr>
          <a:xfrm>
            <a:off x="1061357" y="9029700"/>
            <a:ext cx="16230606" cy="487347"/>
            <a:chOff x="0" y="0"/>
            <a:chExt cx="21640808" cy="649796"/>
          </a:xfrm>
        </p:grpSpPr>
        <p:sp>
          <p:nvSpPr>
            <p:cNvPr id="737" name="Google Shape;737;p27"/>
            <p:cNvSpPr/>
            <p:nvPr/>
          </p:nvSpPr>
          <p:spPr>
            <a:xfrm>
              <a:off x="0" y="0"/>
              <a:ext cx="21640808" cy="649796"/>
            </a:xfrm>
            <a:prstGeom prst="rect">
              <a:avLst/>
            </a:prstGeom>
            <a:solidFill>
              <a:srgbClr val="1C212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8" name="Google Shape;738;p27"/>
            <p:cNvSpPr txBox="1"/>
            <p:nvPr/>
          </p:nvSpPr>
          <p:spPr>
            <a:xfrm>
              <a:off x="998196" y="104764"/>
              <a:ext cx="19644415" cy="440267"/>
            </a:xfrm>
            <a:prstGeom prst="rect">
              <a:avLst/>
            </a:prstGeom>
            <a:noFill/>
            <a:ln>
              <a:noFill/>
            </a:ln>
          </p:spPr>
          <p:txBody>
            <a:bodyPr spcFirstLastPara="1" wrap="square" lIns="0" tIns="0" rIns="0" bIns="0" anchor="t" anchorCtr="0">
              <a:spAutoFit/>
            </a:bodyPr>
            <a:lstStyle/>
            <a:p>
              <a:pPr marL="0" marR="0" lvl="0" indent="0" algn="just" rtl="0">
                <a:lnSpc>
                  <a:spcPct val="140000"/>
                </a:lnSpc>
                <a:spcBef>
                  <a:spcPts val="0"/>
                </a:spcBef>
                <a:spcAft>
                  <a:spcPts val="0"/>
                </a:spcAft>
                <a:buNone/>
              </a:pPr>
              <a:r>
                <a:rPr lang="en-GB" sz="2000" b="1">
                  <a:solidFill>
                    <a:srgbClr val="FDFDFD"/>
                  </a:solidFill>
                  <a:latin typeface="Montserrat"/>
                  <a:ea typeface="Montserrat"/>
                  <a:cs typeface="Montserrat"/>
                  <a:sym typeface="Montserrat"/>
                </a:rPr>
                <a:t>DTI- SME DEVELOPMENT DIVISION│NC│CARP│TPU│EDU</a:t>
              </a:r>
              <a:endParaRPr/>
            </a:p>
          </p:txBody>
        </p:sp>
      </p:grpSp>
      <p:pic>
        <p:nvPicPr>
          <p:cNvPr id="739" name="Google Shape;739;p27"/>
          <p:cNvPicPr preferRelativeResize="0"/>
          <p:nvPr/>
        </p:nvPicPr>
        <p:blipFill rotWithShape="1">
          <a:blip r:embed="rId4">
            <a:alphaModFix/>
          </a:blip>
          <a:srcRect t="14907" b="15064"/>
          <a:stretch/>
        </p:blipFill>
        <p:spPr>
          <a:xfrm>
            <a:off x="7543800" y="1050852"/>
            <a:ext cx="3709766" cy="1143000"/>
          </a:xfrm>
          <a:prstGeom prst="rect">
            <a:avLst/>
          </a:prstGeom>
          <a:noFill/>
          <a:ln>
            <a:noFill/>
          </a:ln>
        </p:spPr>
      </p:pic>
      <p:grpSp>
        <p:nvGrpSpPr>
          <p:cNvPr id="740" name="Google Shape;740;p27"/>
          <p:cNvGrpSpPr/>
          <p:nvPr/>
        </p:nvGrpSpPr>
        <p:grpSpPr>
          <a:xfrm>
            <a:off x="86708" y="3917645"/>
            <a:ext cx="16093440" cy="744823"/>
            <a:chOff x="457200" y="2525278"/>
            <a:chExt cx="13996289" cy="744823"/>
          </a:xfrm>
        </p:grpSpPr>
        <p:sp>
          <p:nvSpPr>
            <p:cNvPr id="741" name="Google Shape;741;p27"/>
            <p:cNvSpPr/>
            <p:nvPr/>
          </p:nvSpPr>
          <p:spPr>
            <a:xfrm>
              <a:off x="2323450" y="2525278"/>
              <a:ext cx="12130039" cy="744823"/>
            </a:xfrm>
            <a:prstGeom prst="roundRect">
              <a:avLst>
                <a:gd name="adj" fmla="val 16667"/>
              </a:avLst>
            </a:prstGeom>
            <a:solidFill>
              <a:srgbClr val="DAE5F1"/>
            </a:solidFill>
            <a:ln w="25400" cap="flat"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B7CCE4"/>
                </a:solidFill>
                <a:latin typeface="Calibri"/>
                <a:ea typeface="Calibri"/>
                <a:cs typeface="Calibri"/>
                <a:sym typeface="Calibri"/>
              </a:endParaRPr>
            </a:p>
          </p:txBody>
        </p:sp>
        <p:sp>
          <p:nvSpPr>
            <p:cNvPr id="742" name="Google Shape;742;p27"/>
            <p:cNvSpPr txBox="1"/>
            <p:nvPr/>
          </p:nvSpPr>
          <p:spPr>
            <a:xfrm>
              <a:off x="2473623" y="2566564"/>
              <a:ext cx="11052000" cy="5850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3200" b="1">
                  <a:solidFill>
                    <a:schemeClr val="dk1"/>
                  </a:solidFill>
                  <a:latin typeface="Poppins"/>
                  <a:ea typeface="Poppins"/>
                  <a:cs typeface="Poppins"/>
                  <a:sym typeface="Poppins"/>
                </a:rPr>
                <a:t>Data Catalogue </a:t>
              </a:r>
              <a:r>
                <a:rPr lang="en-GB" sz="3200">
                  <a:solidFill>
                    <a:schemeClr val="dk1"/>
                  </a:solidFill>
                  <a:latin typeface="Poppins"/>
                  <a:ea typeface="Poppins"/>
                  <a:cs typeface="Poppins"/>
                  <a:sym typeface="Poppins"/>
                </a:rPr>
                <a:t>(KMIS Knowledge Connect Project)</a:t>
              </a:r>
              <a:endParaRPr sz="3200">
                <a:solidFill>
                  <a:schemeClr val="dk1"/>
                </a:solidFill>
                <a:latin typeface="Poppins"/>
                <a:ea typeface="Poppins"/>
                <a:cs typeface="Poppins"/>
                <a:sym typeface="Poppins"/>
              </a:endParaRPr>
            </a:p>
          </p:txBody>
        </p:sp>
        <p:sp>
          <p:nvSpPr>
            <p:cNvPr id="743" name="Google Shape;743;p27"/>
            <p:cNvSpPr txBox="1"/>
            <p:nvPr/>
          </p:nvSpPr>
          <p:spPr>
            <a:xfrm>
              <a:off x="457200" y="2628900"/>
              <a:ext cx="2920884" cy="641201"/>
            </a:xfrm>
            <a:prstGeom prst="rect">
              <a:avLst/>
            </a:prstGeom>
            <a:noFill/>
            <a:ln>
              <a:noFill/>
            </a:ln>
          </p:spPr>
          <p:txBody>
            <a:bodyPr spcFirstLastPara="1" wrap="square" lIns="0" tIns="0" rIns="0" bIns="0" anchor="t" anchorCtr="0">
              <a:spAutoFit/>
            </a:bodyPr>
            <a:lstStyle/>
            <a:p>
              <a:pPr marL="0" marR="0" lvl="0" indent="0" algn="ctr" rtl="0">
                <a:lnSpc>
                  <a:spcPct val="93333"/>
                </a:lnSpc>
                <a:spcBef>
                  <a:spcPts val="0"/>
                </a:spcBef>
                <a:spcAft>
                  <a:spcPts val="0"/>
                </a:spcAft>
                <a:buNone/>
              </a:pPr>
              <a:r>
                <a:rPr lang="en-GB" sz="5400" b="1">
                  <a:solidFill>
                    <a:schemeClr val="dk2"/>
                  </a:solidFill>
                  <a:latin typeface="Montserrat"/>
                  <a:ea typeface="Montserrat"/>
                  <a:cs typeface="Montserrat"/>
                  <a:sym typeface="Montserrat"/>
                </a:rPr>
                <a:t>2</a:t>
              </a:r>
              <a:endParaRPr sz="5400" b="1">
                <a:solidFill>
                  <a:schemeClr val="dk2"/>
                </a:solidFill>
                <a:latin typeface="Montserrat"/>
                <a:ea typeface="Montserrat"/>
                <a:cs typeface="Montserrat"/>
                <a:sym typeface="Montserrat"/>
              </a:endParaRPr>
            </a:p>
          </p:txBody>
        </p:sp>
      </p:grpSp>
      <p:grpSp>
        <p:nvGrpSpPr>
          <p:cNvPr id="744" name="Google Shape;744;p27"/>
          <p:cNvGrpSpPr/>
          <p:nvPr/>
        </p:nvGrpSpPr>
        <p:grpSpPr>
          <a:xfrm>
            <a:off x="86708" y="2965267"/>
            <a:ext cx="16093440" cy="744823"/>
            <a:chOff x="457200" y="2525278"/>
            <a:chExt cx="13996289" cy="744823"/>
          </a:xfrm>
        </p:grpSpPr>
        <p:sp>
          <p:nvSpPr>
            <p:cNvPr id="745" name="Google Shape;745;p27"/>
            <p:cNvSpPr/>
            <p:nvPr/>
          </p:nvSpPr>
          <p:spPr>
            <a:xfrm>
              <a:off x="2323450" y="2525278"/>
              <a:ext cx="12130039" cy="744823"/>
            </a:xfrm>
            <a:prstGeom prst="roundRect">
              <a:avLst>
                <a:gd name="adj" fmla="val 16667"/>
              </a:avLst>
            </a:prstGeom>
            <a:solidFill>
              <a:srgbClr val="DAE5F1"/>
            </a:solidFill>
            <a:ln w="25400" cap="flat"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B7CCE4"/>
                </a:solidFill>
                <a:latin typeface="Calibri"/>
                <a:ea typeface="Calibri"/>
                <a:cs typeface="Calibri"/>
                <a:sym typeface="Calibri"/>
              </a:endParaRPr>
            </a:p>
          </p:txBody>
        </p:sp>
        <p:sp>
          <p:nvSpPr>
            <p:cNvPr id="746" name="Google Shape;746;p27"/>
            <p:cNvSpPr txBox="1"/>
            <p:nvPr/>
          </p:nvSpPr>
          <p:spPr>
            <a:xfrm>
              <a:off x="2473623" y="2566561"/>
              <a:ext cx="11869200" cy="5850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3200" b="1">
                  <a:solidFill>
                    <a:schemeClr val="dk1"/>
                  </a:solidFill>
                  <a:latin typeface="Poppins"/>
                  <a:ea typeface="Poppins"/>
                  <a:cs typeface="Poppins"/>
                  <a:sym typeface="Poppins"/>
                </a:rPr>
                <a:t>MSME Database </a:t>
              </a:r>
              <a:r>
                <a:rPr lang="en-GB" sz="3200">
                  <a:solidFill>
                    <a:schemeClr val="dk1"/>
                  </a:solidFill>
                  <a:latin typeface="Poppins"/>
                  <a:ea typeface="Poppins"/>
                  <a:cs typeface="Poppins"/>
                  <a:sym typeface="Poppins"/>
                </a:rPr>
                <a:t>(DTI-CARP assisted ARBO's and CARPreneurs)</a:t>
              </a:r>
              <a:endParaRPr sz="3200">
                <a:solidFill>
                  <a:schemeClr val="dk1"/>
                </a:solidFill>
                <a:latin typeface="Poppins"/>
                <a:ea typeface="Poppins"/>
                <a:cs typeface="Poppins"/>
                <a:sym typeface="Poppins"/>
              </a:endParaRPr>
            </a:p>
          </p:txBody>
        </p:sp>
        <p:sp>
          <p:nvSpPr>
            <p:cNvPr id="747" name="Google Shape;747;p27"/>
            <p:cNvSpPr txBox="1"/>
            <p:nvPr/>
          </p:nvSpPr>
          <p:spPr>
            <a:xfrm>
              <a:off x="457200" y="2628900"/>
              <a:ext cx="2920884" cy="641201"/>
            </a:xfrm>
            <a:prstGeom prst="rect">
              <a:avLst/>
            </a:prstGeom>
            <a:noFill/>
            <a:ln>
              <a:noFill/>
            </a:ln>
          </p:spPr>
          <p:txBody>
            <a:bodyPr spcFirstLastPara="1" wrap="square" lIns="0" tIns="0" rIns="0" bIns="0" anchor="t" anchorCtr="0">
              <a:spAutoFit/>
            </a:bodyPr>
            <a:lstStyle/>
            <a:p>
              <a:pPr marL="0" marR="0" lvl="0" indent="0" algn="ctr" rtl="0">
                <a:lnSpc>
                  <a:spcPct val="93333"/>
                </a:lnSpc>
                <a:spcBef>
                  <a:spcPts val="0"/>
                </a:spcBef>
                <a:spcAft>
                  <a:spcPts val="0"/>
                </a:spcAft>
                <a:buNone/>
              </a:pPr>
              <a:r>
                <a:rPr lang="en-GB" sz="5400" b="1">
                  <a:solidFill>
                    <a:schemeClr val="dk2"/>
                  </a:solidFill>
                  <a:latin typeface="Montserrat"/>
                  <a:ea typeface="Montserrat"/>
                  <a:cs typeface="Montserrat"/>
                  <a:sym typeface="Montserrat"/>
                </a:rPr>
                <a:t>1</a:t>
              </a:r>
              <a:endParaRPr/>
            </a:p>
          </p:txBody>
        </p:sp>
      </p:grpSp>
      <p:grpSp>
        <p:nvGrpSpPr>
          <p:cNvPr id="748" name="Google Shape;748;p27"/>
          <p:cNvGrpSpPr/>
          <p:nvPr/>
        </p:nvGrpSpPr>
        <p:grpSpPr>
          <a:xfrm>
            <a:off x="95673" y="4854883"/>
            <a:ext cx="16093440" cy="744823"/>
            <a:chOff x="457200" y="2525278"/>
            <a:chExt cx="13996289" cy="744823"/>
          </a:xfrm>
        </p:grpSpPr>
        <p:sp>
          <p:nvSpPr>
            <p:cNvPr id="749" name="Google Shape;749;p27"/>
            <p:cNvSpPr/>
            <p:nvPr/>
          </p:nvSpPr>
          <p:spPr>
            <a:xfrm>
              <a:off x="2323450" y="2525278"/>
              <a:ext cx="12130039" cy="744823"/>
            </a:xfrm>
            <a:prstGeom prst="roundRect">
              <a:avLst>
                <a:gd name="adj" fmla="val 16667"/>
              </a:avLst>
            </a:prstGeom>
            <a:solidFill>
              <a:srgbClr val="DAE5F1"/>
            </a:solidFill>
            <a:ln w="25400" cap="flat"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B7CCE4"/>
                </a:solidFill>
                <a:latin typeface="Calibri"/>
                <a:ea typeface="Calibri"/>
                <a:cs typeface="Calibri"/>
                <a:sym typeface="Calibri"/>
              </a:endParaRPr>
            </a:p>
          </p:txBody>
        </p:sp>
        <p:sp>
          <p:nvSpPr>
            <p:cNvPr id="750" name="Google Shape;750;p27"/>
            <p:cNvSpPr txBox="1"/>
            <p:nvPr/>
          </p:nvSpPr>
          <p:spPr>
            <a:xfrm>
              <a:off x="2473623" y="2566564"/>
              <a:ext cx="11052082" cy="58477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3200" b="1">
                  <a:solidFill>
                    <a:schemeClr val="dk1"/>
                  </a:solidFill>
                  <a:latin typeface="Poppins"/>
                  <a:ea typeface="Poppins"/>
                  <a:cs typeface="Poppins"/>
                  <a:sym typeface="Poppins"/>
                </a:rPr>
                <a:t>Shared Service Facility in ARC</a:t>
              </a:r>
              <a:endParaRPr sz="3200" b="1">
                <a:solidFill>
                  <a:schemeClr val="dk1"/>
                </a:solidFill>
                <a:latin typeface="Poppins"/>
                <a:ea typeface="Poppins"/>
                <a:cs typeface="Poppins"/>
                <a:sym typeface="Poppins"/>
              </a:endParaRPr>
            </a:p>
          </p:txBody>
        </p:sp>
        <p:sp>
          <p:nvSpPr>
            <p:cNvPr id="751" name="Google Shape;751;p27"/>
            <p:cNvSpPr txBox="1"/>
            <p:nvPr/>
          </p:nvSpPr>
          <p:spPr>
            <a:xfrm>
              <a:off x="457200" y="2628900"/>
              <a:ext cx="2920884" cy="641201"/>
            </a:xfrm>
            <a:prstGeom prst="rect">
              <a:avLst/>
            </a:prstGeom>
            <a:noFill/>
            <a:ln>
              <a:noFill/>
            </a:ln>
          </p:spPr>
          <p:txBody>
            <a:bodyPr spcFirstLastPara="1" wrap="square" lIns="0" tIns="0" rIns="0" bIns="0" anchor="t" anchorCtr="0">
              <a:spAutoFit/>
            </a:bodyPr>
            <a:lstStyle/>
            <a:p>
              <a:pPr marL="0" marR="0" lvl="0" indent="0" algn="ctr" rtl="0">
                <a:lnSpc>
                  <a:spcPct val="93333"/>
                </a:lnSpc>
                <a:spcBef>
                  <a:spcPts val="0"/>
                </a:spcBef>
                <a:spcAft>
                  <a:spcPts val="0"/>
                </a:spcAft>
                <a:buNone/>
              </a:pPr>
              <a:r>
                <a:rPr lang="en-GB" sz="5400" b="1">
                  <a:solidFill>
                    <a:schemeClr val="dk2"/>
                  </a:solidFill>
                  <a:latin typeface="Montserrat"/>
                  <a:ea typeface="Montserrat"/>
                  <a:cs typeface="Montserrat"/>
                  <a:sym typeface="Montserrat"/>
                </a:rPr>
                <a:t>3</a:t>
              </a:r>
              <a:endParaRPr sz="5400" b="1">
                <a:solidFill>
                  <a:schemeClr val="dk2"/>
                </a:solidFill>
                <a:latin typeface="Montserrat"/>
                <a:ea typeface="Montserrat"/>
                <a:cs typeface="Montserrat"/>
                <a:sym typeface="Montserrat"/>
              </a:endParaRPr>
            </a:p>
          </p:txBody>
        </p:sp>
      </p:grpSp>
      <p:grpSp>
        <p:nvGrpSpPr>
          <p:cNvPr id="752" name="Google Shape;752;p27"/>
          <p:cNvGrpSpPr/>
          <p:nvPr/>
        </p:nvGrpSpPr>
        <p:grpSpPr>
          <a:xfrm>
            <a:off x="117467" y="5764820"/>
            <a:ext cx="16093440" cy="744823"/>
            <a:chOff x="457200" y="2525278"/>
            <a:chExt cx="13996289" cy="744823"/>
          </a:xfrm>
        </p:grpSpPr>
        <p:sp>
          <p:nvSpPr>
            <p:cNvPr id="753" name="Google Shape;753;p27"/>
            <p:cNvSpPr/>
            <p:nvPr/>
          </p:nvSpPr>
          <p:spPr>
            <a:xfrm>
              <a:off x="2323450" y="2525278"/>
              <a:ext cx="12130039" cy="744823"/>
            </a:xfrm>
            <a:prstGeom prst="roundRect">
              <a:avLst>
                <a:gd name="adj" fmla="val 16667"/>
              </a:avLst>
            </a:prstGeom>
            <a:solidFill>
              <a:srgbClr val="DAE5F1"/>
            </a:solidFill>
            <a:ln w="25400" cap="flat"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B7CCE4"/>
                </a:solidFill>
                <a:latin typeface="Calibri"/>
                <a:ea typeface="Calibri"/>
                <a:cs typeface="Calibri"/>
                <a:sym typeface="Calibri"/>
              </a:endParaRPr>
            </a:p>
          </p:txBody>
        </p:sp>
        <p:sp>
          <p:nvSpPr>
            <p:cNvPr id="754" name="Google Shape;754;p27"/>
            <p:cNvSpPr txBox="1"/>
            <p:nvPr/>
          </p:nvSpPr>
          <p:spPr>
            <a:xfrm>
              <a:off x="2473623" y="2566564"/>
              <a:ext cx="11052082" cy="58477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3200" b="1">
                  <a:solidFill>
                    <a:schemeClr val="dk1"/>
                  </a:solidFill>
                  <a:latin typeface="Poppins"/>
                  <a:ea typeface="Poppins"/>
                  <a:cs typeface="Poppins"/>
                  <a:sym typeface="Poppins"/>
                </a:rPr>
                <a:t>ARBOs/MSMEs with FDA-LTO and CPR</a:t>
              </a:r>
              <a:endParaRPr sz="3200" b="1">
                <a:solidFill>
                  <a:schemeClr val="dk1"/>
                </a:solidFill>
                <a:latin typeface="Poppins"/>
                <a:ea typeface="Poppins"/>
                <a:cs typeface="Poppins"/>
                <a:sym typeface="Poppins"/>
              </a:endParaRPr>
            </a:p>
          </p:txBody>
        </p:sp>
        <p:sp>
          <p:nvSpPr>
            <p:cNvPr id="755" name="Google Shape;755;p27"/>
            <p:cNvSpPr txBox="1"/>
            <p:nvPr/>
          </p:nvSpPr>
          <p:spPr>
            <a:xfrm>
              <a:off x="457200" y="2628900"/>
              <a:ext cx="2920884" cy="641201"/>
            </a:xfrm>
            <a:prstGeom prst="rect">
              <a:avLst/>
            </a:prstGeom>
            <a:noFill/>
            <a:ln>
              <a:noFill/>
            </a:ln>
          </p:spPr>
          <p:txBody>
            <a:bodyPr spcFirstLastPara="1" wrap="square" lIns="0" tIns="0" rIns="0" bIns="0" anchor="t" anchorCtr="0">
              <a:spAutoFit/>
            </a:bodyPr>
            <a:lstStyle/>
            <a:p>
              <a:pPr marL="0" marR="0" lvl="0" indent="0" algn="ctr" rtl="0">
                <a:lnSpc>
                  <a:spcPct val="93333"/>
                </a:lnSpc>
                <a:spcBef>
                  <a:spcPts val="0"/>
                </a:spcBef>
                <a:spcAft>
                  <a:spcPts val="0"/>
                </a:spcAft>
                <a:buNone/>
              </a:pPr>
              <a:r>
                <a:rPr lang="en-GB" sz="5400" b="1">
                  <a:solidFill>
                    <a:schemeClr val="dk2"/>
                  </a:solidFill>
                  <a:latin typeface="Montserrat"/>
                  <a:ea typeface="Montserrat"/>
                  <a:cs typeface="Montserrat"/>
                  <a:sym typeface="Montserrat"/>
                </a:rPr>
                <a:t>4</a:t>
              </a:r>
              <a:endParaRPr sz="5400" b="1">
                <a:solidFill>
                  <a:schemeClr val="dk2"/>
                </a:solidFill>
                <a:latin typeface="Montserrat"/>
                <a:ea typeface="Montserrat"/>
                <a:cs typeface="Montserrat"/>
                <a:sym typeface="Montserrat"/>
              </a:endParaRPr>
            </a:p>
          </p:txBody>
        </p:sp>
      </p:grpSp>
      <p:grpSp>
        <p:nvGrpSpPr>
          <p:cNvPr id="756" name="Google Shape;756;p27"/>
          <p:cNvGrpSpPr/>
          <p:nvPr/>
        </p:nvGrpSpPr>
        <p:grpSpPr>
          <a:xfrm>
            <a:off x="139879" y="6672688"/>
            <a:ext cx="16093440" cy="744823"/>
            <a:chOff x="457200" y="2525278"/>
            <a:chExt cx="13996289" cy="744823"/>
          </a:xfrm>
        </p:grpSpPr>
        <p:sp>
          <p:nvSpPr>
            <p:cNvPr id="757" name="Google Shape;757;p27"/>
            <p:cNvSpPr/>
            <p:nvPr/>
          </p:nvSpPr>
          <p:spPr>
            <a:xfrm>
              <a:off x="2323450" y="2525278"/>
              <a:ext cx="12130039" cy="744823"/>
            </a:xfrm>
            <a:prstGeom prst="roundRect">
              <a:avLst>
                <a:gd name="adj" fmla="val 16667"/>
              </a:avLst>
            </a:prstGeom>
            <a:solidFill>
              <a:srgbClr val="DAE5F1"/>
            </a:solidFill>
            <a:ln w="25400" cap="flat"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B7CCE4"/>
                </a:solidFill>
                <a:latin typeface="Calibri"/>
                <a:ea typeface="Calibri"/>
                <a:cs typeface="Calibri"/>
                <a:sym typeface="Calibri"/>
              </a:endParaRPr>
            </a:p>
          </p:txBody>
        </p:sp>
        <p:sp>
          <p:nvSpPr>
            <p:cNvPr id="758" name="Google Shape;758;p27"/>
            <p:cNvSpPr txBox="1"/>
            <p:nvPr/>
          </p:nvSpPr>
          <p:spPr>
            <a:xfrm>
              <a:off x="2473623" y="2566564"/>
              <a:ext cx="11052082" cy="58477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3200" b="1">
                  <a:solidFill>
                    <a:schemeClr val="dk1"/>
                  </a:solidFill>
                  <a:latin typeface="Poppins"/>
                  <a:ea typeface="Poppins"/>
                  <a:cs typeface="Poppins"/>
                  <a:sym typeface="Poppins"/>
                </a:rPr>
                <a:t>Assisted PWDs in ARC</a:t>
              </a:r>
              <a:endParaRPr sz="3200" b="1">
                <a:solidFill>
                  <a:schemeClr val="dk1"/>
                </a:solidFill>
                <a:latin typeface="Poppins"/>
                <a:ea typeface="Poppins"/>
                <a:cs typeface="Poppins"/>
                <a:sym typeface="Poppins"/>
              </a:endParaRPr>
            </a:p>
          </p:txBody>
        </p:sp>
        <p:sp>
          <p:nvSpPr>
            <p:cNvPr id="759" name="Google Shape;759;p27"/>
            <p:cNvSpPr txBox="1"/>
            <p:nvPr/>
          </p:nvSpPr>
          <p:spPr>
            <a:xfrm>
              <a:off x="457200" y="2628900"/>
              <a:ext cx="2920884" cy="641201"/>
            </a:xfrm>
            <a:prstGeom prst="rect">
              <a:avLst/>
            </a:prstGeom>
            <a:noFill/>
            <a:ln>
              <a:noFill/>
            </a:ln>
          </p:spPr>
          <p:txBody>
            <a:bodyPr spcFirstLastPara="1" wrap="square" lIns="0" tIns="0" rIns="0" bIns="0" anchor="t" anchorCtr="0">
              <a:spAutoFit/>
            </a:bodyPr>
            <a:lstStyle/>
            <a:p>
              <a:pPr marL="0" marR="0" lvl="0" indent="0" algn="ctr" rtl="0">
                <a:lnSpc>
                  <a:spcPct val="93333"/>
                </a:lnSpc>
                <a:spcBef>
                  <a:spcPts val="0"/>
                </a:spcBef>
                <a:spcAft>
                  <a:spcPts val="0"/>
                </a:spcAft>
                <a:buNone/>
              </a:pPr>
              <a:r>
                <a:rPr lang="en-GB" sz="5400" b="1">
                  <a:solidFill>
                    <a:schemeClr val="dk2"/>
                  </a:solidFill>
                  <a:latin typeface="Montserrat"/>
                  <a:ea typeface="Montserrat"/>
                  <a:cs typeface="Montserrat"/>
                  <a:sym typeface="Montserrat"/>
                </a:rPr>
                <a:t>5</a:t>
              </a:r>
              <a:endParaRPr sz="5400" b="1">
                <a:solidFill>
                  <a:schemeClr val="dk2"/>
                </a:solidFill>
                <a:latin typeface="Montserrat"/>
                <a:ea typeface="Montserrat"/>
                <a:cs typeface="Montserrat"/>
                <a:sym typeface="Montserrat"/>
              </a:endParaRPr>
            </a:p>
          </p:txBody>
        </p:sp>
      </p:grpSp>
      <p:grpSp>
        <p:nvGrpSpPr>
          <p:cNvPr id="760" name="Google Shape;760;p27"/>
          <p:cNvGrpSpPr/>
          <p:nvPr/>
        </p:nvGrpSpPr>
        <p:grpSpPr>
          <a:xfrm>
            <a:off x="139879" y="7630658"/>
            <a:ext cx="16093440" cy="744823"/>
            <a:chOff x="457200" y="2525278"/>
            <a:chExt cx="13996289" cy="744823"/>
          </a:xfrm>
        </p:grpSpPr>
        <p:sp>
          <p:nvSpPr>
            <p:cNvPr id="761" name="Google Shape;761;p27"/>
            <p:cNvSpPr/>
            <p:nvPr/>
          </p:nvSpPr>
          <p:spPr>
            <a:xfrm>
              <a:off x="2323450" y="2525278"/>
              <a:ext cx="12130039" cy="744823"/>
            </a:xfrm>
            <a:prstGeom prst="roundRect">
              <a:avLst>
                <a:gd name="adj" fmla="val 16667"/>
              </a:avLst>
            </a:prstGeom>
            <a:solidFill>
              <a:srgbClr val="DAE5F1"/>
            </a:solidFill>
            <a:ln w="25400" cap="flat"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B7CCE4"/>
                </a:solidFill>
                <a:latin typeface="Calibri"/>
                <a:ea typeface="Calibri"/>
                <a:cs typeface="Calibri"/>
                <a:sym typeface="Calibri"/>
              </a:endParaRPr>
            </a:p>
          </p:txBody>
        </p:sp>
        <p:sp>
          <p:nvSpPr>
            <p:cNvPr id="762" name="Google Shape;762;p27"/>
            <p:cNvSpPr txBox="1"/>
            <p:nvPr/>
          </p:nvSpPr>
          <p:spPr>
            <a:xfrm>
              <a:off x="2473623" y="2566564"/>
              <a:ext cx="11052082" cy="58477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3200" b="1">
                  <a:solidFill>
                    <a:schemeClr val="dk1"/>
                  </a:solidFill>
                  <a:latin typeface="Poppins"/>
                  <a:ea typeface="Poppins"/>
                  <a:cs typeface="Poppins"/>
                  <a:sym typeface="Poppins"/>
                </a:rPr>
                <a:t>ICE-IGP of ARBOs in ARC (Rubber Industry)</a:t>
              </a:r>
              <a:endParaRPr sz="3200" b="1">
                <a:solidFill>
                  <a:schemeClr val="dk1"/>
                </a:solidFill>
                <a:latin typeface="Poppins"/>
                <a:ea typeface="Poppins"/>
                <a:cs typeface="Poppins"/>
                <a:sym typeface="Poppins"/>
              </a:endParaRPr>
            </a:p>
          </p:txBody>
        </p:sp>
        <p:sp>
          <p:nvSpPr>
            <p:cNvPr id="763" name="Google Shape;763;p27"/>
            <p:cNvSpPr txBox="1"/>
            <p:nvPr/>
          </p:nvSpPr>
          <p:spPr>
            <a:xfrm>
              <a:off x="457200" y="2628900"/>
              <a:ext cx="2920884" cy="641201"/>
            </a:xfrm>
            <a:prstGeom prst="rect">
              <a:avLst/>
            </a:prstGeom>
            <a:noFill/>
            <a:ln>
              <a:noFill/>
            </a:ln>
          </p:spPr>
          <p:txBody>
            <a:bodyPr spcFirstLastPara="1" wrap="square" lIns="0" tIns="0" rIns="0" bIns="0" anchor="t" anchorCtr="0">
              <a:spAutoFit/>
            </a:bodyPr>
            <a:lstStyle/>
            <a:p>
              <a:pPr marL="0" marR="0" lvl="0" indent="0" algn="ctr" rtl="0">
                <a:lnSpc>
                  <a:spcPct val="93333"/>
                </a:lnSpc>
                <a:spcBef>
                  <a:spcPts val="0"/>
                </a:spcBef>
                <a:spcAft>
                  <a:spcPts val="0"/>
                </a:spcAft>
                <a:buNone/>
              </a:pPr>
              <a:r>
                <a:rPr lang="en-GB" sz="5400" b="1">
                  <a:solidFill>
                    <a:schemeClr val="dk2"/>
                  </a:solidFill>
                  <a:latin typeface="Montserrat"/>
                  <a:ea typeface="Montserrat"/>
                  <a:cs typeface="Montserrat"/>
                  <a:sym typeface="Montserrat"/>
                </a:rPr>
                <a:t>6</a:t>
              </a:r>
              <a:endParaRPr sz="5400" b="1">
                <a:solidFill>
                  <a:schemeClr val="dk2"/>
                </a:solidFill>
                <a:latin typeface="Montserrat"/>
                <a:ea typeface="Montserrat"/>
                <a:cs typeface="Montserrat"/>
                <a:sym typeface="Montserrat"/>
              </a:endParaRPr>
            </a:p>
          </p:txBody>
        </p:sp>
      </p:gr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Shape 767"/>
        <p:cNvGrpSpPr/>
        <p:nvPr/>
      </p:nvGrpSpPr>
      <p:grpSpPr>
        <a:xfrm>
          <a:off x="0" y="0"/>
          <a:ext cx="0" cy="0"/>
          <a:chOff x="0" y="0"/>
          <a:chExt cx="0" cy="0"/>
        </a:xfrm>
      </p:grpSpPr>
      <p:sp>
        <p:nvSpPr>
          <p:cNvPr id="768" name="Google Shape;768;p28"/>
          <p:cNvSpPr/>
          <p:nvPr/>
        </p:nvSpPr>
        <p:spPr>
          <a:xfrm>
            <a:off x="1028700" y="453061"/>
            <a:ext cx="1553339" cy="1518126"/>
          </a:xfrm>
          <a:custGeom>
            <a:avLst/>
            <a:gdLst/>
            <a:ahLst/>
            <a:cxnLst/>
            <a:rect l="l" t="t" r="r" b="b"/>
            <a:pathLst>
              <a:path w="1553339" h="1518126" extrusionOk="0">
                <a:moveTo>
                  <a:pt x="0" y="0"/>
                </a:moveTo>
                <a:lnTo>
                  <a:pt x="1553339" y="0"/>
                </a:lnTo>
                <a:lnTo>
                  <a:pt x="1553339" y="1518126"/>
                </a:lnTo>
                <a:lnTo>
                  <a:pt x="0" y="1518126"/>
                </a:lnTo>
                <a:lnTo>
                  <a:pt x="0" y="0"/>
                </a:lnTo>
                <a:close/>
              </a:path>
            </a:pathLst>
          </a:custGeom>
          <a:blipFill rotWithShape="1">
            <a:blip r:embed="rId3">
              <a:alphaModFix/>
            </a:blip>
            <a:stretch>
              <a:fillRect l="-31436" t="-10272" r="-26916" b="-57554"/>
            </a:stretch>
          </a:blipFill>
          <a:ln>
            <a:noFill/>
          </a:ln>
        </p:spPr>
      </p:sp>
      <p:cxnSp>
        <p:nvCxnSpPr>
          <p:cNvPr id="769" name="Google Shape;769;p28"/>
          <p:cNvCxnSpPr/>
          <p:nvPr/>
        </p:nvCxnSpPr>
        <p:spPr>
          <a:xfrm>
            <a:off x="2582039" y="1019175"/>
            <a:ext cx="14677261" cy="9525"/>
          </a:xfrm>
          <a:prstGeom prst="straightConnector1">
            <a:avLst/>
          </a:prstGeom>
          <a:noFill/>
          <a:ln w="19050" cap="flat" cmpd="sng">
            <a:solidFill>
              <a:srgbClr val="1C2120"/>
            </a:solidFill>
            <a:prstDash val="solid"/>
            <a:round/>
            <a:headEnd type="none" w="sm" len="sm"/>
            <a:tailEnd type="none" w="sm" len="sm"/>
          </a:ln>
        </p:spPr>
      </p:cxnSp>
      <p:sp>
        <p:nvSpPr>
          <p:cNvPr id="770" name="Google Shape;770;p28"/>
          <p:cNvSpPr txBox="1"/>
          <p:nvPr/>
        </p:nvSpPr>
        <p:spPr>
          <a:xfrm>
            <a:off x="4731446" y="2911966"/>
            <a:ext cx="8825108" cy="1102866"/>
          </a:xfrm>
          <a:prstGeom prst="rect">
            <a:avLst/>
          </a:prstGeom>
          <a:noFill/>
          <a:ln>
            <a:noFill/>
          </a:ln>
        </p:spPr>
        <p:txBody>
          <a:bodyPr spcFirstLastPara="1" wrap="square" lIns="0" tIns="0" rIns="0" bIns="0" anchor="t" anchorCtr="0">
            <a:spAutoFit/>
          </a:bodyPr>
          <a:lstStyle/>
          <a:p>
            <a:pPr marL="0" marR="0" lvl="0" indent="0" algn="ctr" rtl="0">
              <a:lnSpc>
                <a:spcPct val="134000"/>
              </a:lnSpc>
              <a:spcBef>
                <a:spcPts val="0"/>
              </a:spcBef>
              <a:spcAft>
                <a:spcPts val="0"/>
              </a:spcAft>
              <a:buNone/>
            </a:pPr>
            <a:r>
              <a:rPr lang="en-GB" sz="6400" b="1">
                <a:solidFill>
                  <a:srgbClr val="1C2120"/>
                </a:solidFill>
                <a:latin typeface="Montserrat"/>
                <a:ea typeface="Montserrat"/>
                <a:cs typeface="Montserrat"/>
                <a:sym typeface="Montserrat"/>
              </a:rPr>
              <a:t>Issues and Concerns</a:t>
            </a:r>
            <a:endParaRPr sz="6400" b="1">
              <a:solidFill>
                <a:srgbClr val="1C2120"/>
              </a:solidFill>
              <a:latin typeface="Montserrat"/>
              <a:ea typeface="Montserrat"/>
              <a:cs typeface="Montserrat"/>
              <a:sym typeface="Montserrat"/>
            </a:endParaRPr>
          </a:p>
        </p:txBody>
      </p:sp>
      <p:sp>
        <p:nvSpPr>
          <p:cNvPr id="771" name="Google Shape;771;p28"/>
          <p:cNvSpPr/>
          <p:nvPr/>
        </p:nvSpPr>
        <p:spPr>
          <a:xfrm>
            <a:off x="4794226" y="4079118"/>
            <a:ext cx="8762328" cy="91347"/>
          </a:xfrm>
          <a:prstGeom prst="rect">
            <a:avLst/>
          </a:prstGeom>
          <a:solidFill>
            <a:srgbClr val="1C212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772" name="Google Shape;772;p28"/>
          <p:cNvGrpSpPr/>
          <p:nvPr/>
        </p:nvGrpSpPr>
        <p:grpSpPr>
          <a:xfrm>
            <a:off x="1028700" y="8770953"/>
            <a:ext cx="16230606" cy="487347"/>
            <a:chOff x="0" y="0"/>
            <a:chExt cx="21640808" cy="649796"/>
          </a:xfrm>
        </p:grpSpPr>
        <p:sp>
          <p:nvSpPr>
            <p:cNvPr id="773" name="Google Shape;773;p28"/>
            <p:cNvSpPr/>
            <p:nvPr/>
          </p:nvSpPr>
          <p:spPr>
            <a:xfrm>
              <a:off x="0" y="0"/>
              <a:ext cx="21640808" cy="649796"/>
            </a:xfrm>
            <a:prstGeom prst="rect">
              <a:avLst/>
            </a:prstGeom>
            <a:solidFill>
              <a:srgbClr val="1C212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4" name="Google Shape;774;p28"/>
            <p:cNvSpPr txBox="1"/>
            <p:nvPr/>
          </p:nvSpPr>
          <p:spPr>
            <a:xfrm>
              <a:off x="998193" y="85715"/>
              <a:ext cx="19644415" cy="440266"/>
            </a:xfrm>
            <a:prstGeom prst="rect">
              <a:avLst/>
            </a:prstGeom>
            <a:noFill/>
            <a:ln>
              <a:noFill/>
            </a:ln>
          </p:spPr>
          <p:txBody>
            <a:bodyPr spcFirstLastPara="1" wrap="square" lIns="0" tIns="0" rIns="0" bIns="0" anchor="t" anchorCtr="0">
              <a:spAutoFit/>
            </a:bodyPr>
            <a:lstStyle/>
            <a:p>
              <a:pPr marL="0" marR="0" lvl="0" indent="0" algn="just" rtl="0">
                <a:lnSpc>
                  <a:spcPct val="140000"/>
                </a:lnSpc>
                <a:spcBef>
                  <a:spcPts val="0"/>
                </a:spcBef>
                <a:spcAft>
                  <a:spcPts val="0"/>
                </a:spcAft>
                <a:buNone/>
              </a:pPr>
              <a:r>
                <a:rPr lang="en-GB" sz="2000" b="1">
                  <a:solidFill>
                    <a:srgbClr val="FDFDFD"/>
                  </a:solidFill>
                  <a:latin typeface="Montserrat"/>
                  <a:ea typeface="Montserrat"/>
                  <a:cs typeface="Montserrat"/>
                  <a:sym typeface="Montserrat"/>
                </a:rPr>
                <a:t>DTI- SME DEVELOPMENT DIVISION│NC│CARP│TPU│EDU</a:t>
              </a:r>
              <a:endParaRPr/>
            </a:p>
          </p:txBody>
        </p:sp>
      </p:gr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778"/>
        <p:cNvGrpSpPr/>
        <p:nvPr/>
      </p:nvGrpSpPr>
      <p:grpSpPr>
        <a:xfrm>
          <a:off x="0" y="0"/>
          <a:ext cx="0" cy="0"/>
          <a:chOff x="0" y="0"/>
          <a:chExt cx="0" cy="0"/>
        </a:xfrm>
      </p:grpSpPr>
      <p:sp>
        <p:nvSpPr>
          <p:cNvPr id="779" name="Google Shape;779;p29"/>
          <p:cNvSpPr/>
          <p:nvPr/>
        </p:nvSpPr>
        <p:spPr>
          <a:xfrm>
            <a:off x="1028700" y="453061"/>
            <a:ext cx="1553339" cy="1518126"/>
          </a:xfrm>
          <a:custGeom>
            <a:avLst/>
            <a:gdLst/>
            <a:ahLst/>
            <a:cxnLst/>
            <a:rect l="l" t="t" r="r" b="b"/>
            <a:pathLst>
              <a:path w="1553339" h="1518126" extrusionOk="0">
                <a:moveTo>
                  <a:pt x="0" y="0"/>
                </a:moveTo>
                <a:lnTo>
                  <a:pt x="1553339" y="0"/>
                </a:lnTo>
                <a:lnTo>
                  <a:pt x="1553339" y="1518126"/>
                </a:lnTo>
                <a:lnTo>
                  <a:pt x="0" y="1518126"/>
                </a:lnTo>
                <a:lnTo>
                  <a:pt x="0" y="0"/>
                </a:lnTo>
                <a:close/>
              </a:path>
            </a:pathLst>
          </a:custGeom>
          <a:blipFill rotWithShape="1">
            <a:blip r:embed="rId3">
              <a:alphaModFix/>
            </a:blip>
            <a:stretch>
              <a:fillRect l="-31436" t="-10272" r="-26916" b="-57554"/>
            </a:stretch>
          </a:blipFill>
          <a:ln>
            <a:noFill/>
          </a:ln>
        </p:spPr>
      </p:sp>
      <p:cxnSp>
        <p:nvCxnSpPr>
          <p:cNvPr id="780" name="Google Shape;780;p29"/>
          <p:cNvCxnSpPr/>
          <p:nvPr/>
        </p:nvCxnSpPr>
        <p:spPr>
          <a:xfrm>
            <a:off x="2582039" y="1019175"/>
            <a:ext cx="14677261" cy="9525"/>
          </a:xfrm>
          <a:prstGeom prst="straightConnector1">
            <a:avLst/>
          </a:prstGeom>
          <a:noFill/>
          <a:ln w="19050" cap="flat" cmpd="sng">
            <a:solidFill>
              <a:srgbClr val="1C2120"/>
            </a:solidFill>
            <a:prstDash val="solid"/>
            <a:round/>
            <a:headEnd type="none" w="sm" len="sm"/>
            <a:tailEnd type="none" w="sm" len="sm"/>
          </a:ln>
        </p:spPr>
      </p:cxnSp>
      <p:sp>
        <p:nvSpPr>
          <p:cNvPr id="781" name="Google Shape;781;p29"/>
          <p:cNvSpPr/>
          <p:nvPr/>
        </p:nvSpPr>
        <p:spPr>
          <a:xfrm>
            <a:off x="1028700" y="3610676"/>
            <a:ext cx="7860890" cy="2004067"/>
          </a:xfrm>
          <a:prstGeom prst="rect">
            <a:avLst/>
          </a:prstGeom>
          <a:solidFill>
            <a:srgbClr val="1C212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2" name="Google Shape;782;p29"/>
          <p:cNvSpPr/>
          <p:nvPr/>
        </p:nvSpPr>
        <p:spPr>
          <a:xfrm>
            <a:off x="9398410" y="3610676"/>
            <a:ext cx="7860890" cy="2017637"/>
          </a:xfrm>
          <a:prstGeom prst="rect">
            <a:avLst/>
          </a:prstGeom>
          <a:solidFill>
            <a:srgbClr val="1C212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3" name="Google Shape;783;p29"/>
          <p:cNvSpPr txBox="1"/>
          <p:nvPr/>
        </p:nvSpPr>
        <p:spPr>
          <a:xfrm>
            <a:off x="1028700" y="3563177"/>
            <a:ext cx="7860900" cy="2477100"/>
          </a:xfrm>
          <a:prstGeom prst="rect">
            <a:avLst/>
          </a:prstGeom>
          <a:noFill/>
          <a:ln>
            <a:noFill/>
          </a:ln>
        </p:spPr>
        <p:txBody>
          <a:bodyPr spcFirstLastPara="1" wrap="square" lIns="0" tIns="0" rIns="0" bIns="0" anchor="t" anchorCtr="0">
            <a:spAutoFit/>
          </a:bodyPr>
          <a:lstStyle/>
          <a:p>
            <a:pPr marL="496569" marR="0" lvl="1" indent="-229234" algn="l" rtl="0">
              <a:lnSpc>
                <a:spcPct val="140017"/>
              </a:lnSpc>
              <a:spcBef>
                <a:spcPts val="0"/>
              </a:spcBef>
              <a:spcAft>
                <a:spcPts val="0"/>
              </a:spcAft>
              <a:buClr>
                <a:srgbClr val="FFFFFF"/>
              </a:buClr>
              <a:buSzPts val="1999"/>
              <a:buFont typeface="Arial"/>
              <a:buChar char="•"/>
            </a:pPr>
            <a:r>
              <a:rPr lang="en-GB" sz="1999" b="1" i="0" u="none" strike="noStrike" cap="none" dirty="0">
                <a:solidFill>
                  <a:srgbClr val="FFFFFF"/>
                </a:solidFill>
                <a:latin typeface="Montserrat"/>
                <a:ea typeface="Montserrat"/>
                <a:cs typeface="Montserrat"/>
                <a:sym typeface="Montserrat"/>
              </a:rPr>
              <a:t>Discrepancies on NC Accomplishment Reports vs. Planning reports </a:t>
            </a:r>
            <a:endParaRPr sz="1100" dirty="0"/>
          </a:p>
          <a:p>
            <a:pPr marL="496569" marR="0" lvl="1" indent="-229234" algn="l" rtl="0">
              <a:lnSpc>
                <a:spcPct val="140017"/>
              </a:lnSpc>
              <a:spcBef>
                <a:spcPts val="0"/>
              </a:spcBef>
              <a:spcAft>
                <a:spcPts val="0"/>
              </a:spcAft>
              <a:buClr>
                <a:srgbClr val="FFFFFF"/>
              </a:buClr>
              <a:buSzPts val="1999"/>
              <a:buFont typeface="Arial"/>
              <a:buChar char="•"/>
            </a:pPr>
            <a:r>
              <a:rPr lang="en-GB" sz="1999" b="0" i="0" u="none" strike="noStrike" cap="none" dirty="0">
                <a:solidFill>
                  <a:srgbClr val="FFFFFF"/>
                </a:solidFill>
                <a:latin typeface="Montserrat"/>
                <a:ea typeface="Montserrat"/>
                <a:cs typeface="Montserrat"/>
                <a:sym typeface="Montserrat"/>
              </a:rPr>
              <a:t>Improved support services to the implementation of the programs / </a:t>
            </a:r>
            <a:r>
              <a:rPr lang="en-GB" sz="1999" b="1" i="0" u="none" strike="noStrike" cap="none" dirty="0">
                <a:solidFill>
                  <a:srgbClr val="FFFFFF"/>
                </a:solidFill>
                <a:latin typeface="Montserrat"/>
                <a:ea typeface="Montserrat"/>
                <a:cs typeface="Montserrat"/>
                <a:sym typeface="Montserrat"/>
              </a:rPr>
              <a:t>FAD Support (extension of deadline for submission of DVs)</a:t>
            </a:r>
            <a:endParaRPr sz="1100" dirty="0"/>
          </a:p>
          <a:p>
            <a:pPr marL="496569" marR="0" lvl="1" indent="-102297" algn="l" rtl="0">
              <a:lnSpc>
                <a:spcPct val="140017"/>
              </a:lnSpc>
              <a:spcBef>
                <a:spcPts val="0"/>
              </a:spcBef>
              <a:spcAft>
                <a:spcPts val="0"/>
              </a:spcAft>
              <a:buClr>
                <a:schemeClr val="dk1"/>
              </a:buClr>
              <a:buSzPts val="2299"/>
              <a:buFont typeface="Arial"/>
              <a:buNone/>
            </a:pPr>
            <a:endParaRPr sz="2099" b="0" i="0" u="none" strike="noStrike" cap="none" dirty="0">
              <a:solidFill>
                <a:srgbClr val="FFFFFF"/>
              </a:solidFill>
              <a:latin typeface="Montserrat"/>
              <a:ea typeface="Montserrat"/>
              <a:cs typeface="Montserrat"/>
              <a:sym typeface="Montserrat"/>
            </a:endParaRPr>
          </a:p>
        </p:txBody>
      </p:sp>
      <p:sp>
        <p:nvSpPr>
          <p:cNvPr id="784" name="Google Shape;784;p29"/>
          <p:cNvSpPr txBox="1"/>
          <p:nvPr/>
        </p:nvSpPr>
        <p:spPr>
          <a:xfrm>
            <a:off x="9607838" y="3794195"/>
            <a:ext cx="7651462" cy="1231106"/>
          </a:xfrm>
          <a:prstGeom prst="rect">
            <a:avLst/>
          </a:prstGeom>
          <a:noFill/>
          <a:ln>
            <a:noFill/>
          </a:ln>
        </p:spPr>
        <p:txBody>
          <a:bodyPr spcFirstLastPara="1" wrap="square" lIns="0" tIns="0" rIns="0" bIns="0" anchor="t" anchorCtr="0">
            <a:spAutoFit/>
          </a:bodyPr>
          <a:lstStyle/>
          <a:p>
            <a:pPr marL="496569" marR="0" lvl="1" indent="-248284" algn="l" rtl="0">
              <a:lnSpc>
                <a:spcPct val="140017"/>
              </a:lnSpc>
              <a:spcBef>
                <a:spcPts val="0"/>
              </a:spcBef>
              <a:spcAft>
                <a:spcPts val="0"/>
              </a:spcAft>
              <a:buClr>
                <a:srgbClr val="FFFFFF"/>
              </a:buClr>
              <a:buSzPts val="2299"/>
              <a:buFont typeface="Arial"/>
              <a:buChar char="•"/>
            </a:pPr>
            <a:r>
              <a:rPr lang="en-GB" sz="2299" b="1" i="0" u="none" strike="noStrike" cap="none">
                <a:solidFill>
                  <a:srgbClr val="FFFFFF"/>
                </a:solidFill>
                <a:latin typeface="Montserrat"/>
                <a:ea typeface="Montserrat"/>
                <a:cs typeface="Montserrat"/>
                <a:sym typeface="Montserrat"/>
              </a:rPr>
              <a:t>Fund Programming and Management</a:t>
            </a:r>
            <a:endParaRPr/>
          </a:p>
          <a:p>
            <a:pPr marL="496569" marR="0" lvl="1" indent="-248284" algn="l" rtl="0">
              <a:lnSpc>
                <a:spcPct val="140017"/>
              </a:lnSpc>
              <a:spcBef>
                <a:spcPts val="0"/>
              </a:spcBef>
              <a:spcAft>
                <a:spcPts val="0"/>
              </a:spcAft>
              <a:buClr>
                <a:srgbClr val="FFFFFF"/>
              </a:buClr>
              <a:buSzPts val="2299"/>
              <a:buFont typeface="Arial"/>
              <a:buChar char="•"/>
            </a:pPr>
            <a:r>
              <a:rPr lang="en-GB" sz="2299" b="1" i="0" u="none" strike="noStrike" cap="none">
                <a:solidFill>
                  <a:srgbClr val="FFFFFF"/>
                </a:solidFill>
                <a:latin typeface="Montserrat"/>
                <a:ea typeface="Montserrat"/>
                <a:cs typeface="Montserrat"/>
                <a:sym typeface="Montserrat"/>
              </a:rPr>
              <a:t>Implement policies that are also pro-people and not just pro-COA (Una sa Lahat, Tao) </a:t>
            </a:r>
            <a:endParaRPr sz="2299" b="1" i="0" u="none" strike="noStrike" cap="none">
              <a:solidFill>
                <a:srgbClr val="FFFFFF"/>
              </a:solidFill>
              <a:latin typeface="Montserrat"/>
              <a:ea typeface="Montserrat"/>
              <a:cs typeface="Montserrat"/>
              <a:sym typeface="Montserrat"/>
            </a:endParaRPr>
          </a:p>
        </p:txBody>
      </p:sp>
      <p:sp>
        <p:nvSpPr>
          <p:cNvPr id="785" name="Google Shape;785;p29"/>
          <p:cNvSpPr/>
          <p:nvPr/>
        </p:nvSpPr>
        <p:spPr>
          <a:xfrm>
            <a:off x="4746769" y="6201708"/>
            <a:ext cx="8686800" cy="2469200"/>
          </a:xfrm>
          <a:prstGeom prst="rect">
            <a:avLst/>
          </a:prstGeom>
          <a:solidFill>
            <a:srgbClr val="1C212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6" name="Google Shape;786;p29"/>
          <p:cNvSpPr txBox="1"/>
          <p:nvPr/>
        </p:nvSpPr>
        <p:spPr>
          <a:xfrm>
            <a:off x="4842285" y="6354976"/>
            <a:ext cx="8495700" cy="1840200"/>
          </a:xfrm>
          <a:prstGeom prst="rect">
            <a:avLst/>
          </a:prstGeom>
          <a:noFill/>
          <a:ln>
            <a:noFill/>
          </a:ln>
        </p:spPr>
        <p:txBody>
          <a:bodyPr spcFirstLastPara="1" wrap="square" lIns="0" tIns="0" rIns="0" bIns="0" anchor="t" anchorCtr="0">
            <a:spAutoFit/>
          </a:bodyPr>
          <a:lstStyle/>
          <a:p>
            <a:pPr marL="496568" marR="0" lvl="1" indent="-248283" algn="l" rtl="0">
              <a:lnSpc>
                <a:spcPct val="140017"/>
              </a:lnSpc>
              <a:spcBef>
                <a:spcPts val="0"/>
              </a:spcBef>
              <a:spcAft>
                <a:spcPts val="0"/>
              </a:spcAft>
              <a:buClr>
                <a:srgbClr val="FFFFFF"/>
              </a:buClr>
              <a:buSzPts val="2299"/>
              <a:buFont typeface="Arial"/>
              <a:buChar char="•"/>
            </a:pPr>
            <a:r>
              <a:rPr lang="en-GB" sz="2299" b="1">
                <a:solidFill>
                  <a:srgbClr val="FFFFFF"/>
                </a:solidFill>
                <a:latin typeface="Montserrat"/>
                <a:ea typeface="Montserrat"/>
                <a:cs typeface="Montserrat"/>
                <a:sym typeface="Montserrat"/>
              </a:rPr>
              <a:t>Remaining </a:t>
            </a:r>
            <a:r>
              <a:rPr lang="en-GB" sz="2299" b="1" i="0" u="none" strike="noStrike" cap="none">
                <a:solidFill>
                  <a:srgbClr val="FFFFFF"/>
                </a:solidFill>
                <a:latin typeface="Montserrat"/>
                <a:ea typeface="Montserrat"/>
                <a:cs typeface="Montserrat"/>
                <a:sym typeface="Montserrat"/>
              </a:rPr>
              <a:t>unsettled disallowance on the grant of</a:t>
            </a:r>
            <a:r>
              <a:rPr lang="en-GB"/>
              <a:t> </a:t>
            </a:r>
            <a:r>
              <a:rPr lang="en-GB" sz="2299" b="1" i="0" u="none" strike="noStrike" cap="none">
                <a:solidFill>
                  <a:srgbClr val="FFFFFF"/>
                </a:solidFill>
                <a:latin typeface="Montserrat"/>
                <a:ea typeface="Montserrat"/>
                <a:cs typeface="Montserrat"/>
                <a:sym typeface="Montserrat"/>
              </a:rPr>
              <a:t>CNA incentive and premiums for the</a:t>
            </a:r>
            <a:r>
              <a:rPr lang="en-GB"/>
              <a:t> </a:t>
            </a:r>
            <a:r>
              <a:rPr lang="en-GB" sz="2299" b="1" i="0" u="none" strike="noStrike" cap="none">
                <a:solidFill>
                  <a:srgbClr val="FFFFFF"/>
                </a:solidFill>
                <a:latin typeface="Montserrat"/>
                <a:ea typeface="Montserrat"/>
                <a:cs typeface="Montserrat"/>
                <a:sym typeface="Montserrat"/>
              </a:rPr>
              <a:t>Comprehensive Health Program (CHP) for the period 2011-2012</a:t>
            </a:r>
            <a:r>
              <a:rPr lang="en-GB" sz="2299" b="1">
                <a:solidFill>
                  <a:srgbClr val="FFFFFF"/>
                </a:solidFill>
                <a:latin typeface="Montserrat"/>
                <a:ea typeface="Montserrat"/>
                <a:cs typeface="Montserrat"/>
                <a:sym typeface="Montserrat"/>
              </a:rPr>
              <a:t>.  </a:t>
            </a:r>
            <a:r>
              <a:rPr lang="en-GB" sz="2299" b="1" i="0" u="none" strike="noStrike" cap="none">
                <a:solidFill>
                  <a:srgbClr val="FFFFFF"/>
                </a:solidFill>
                <a:latin typeface="Montserrat"/>
                <a:ea typeface="Montserrat"/>
                <a:cs typeface="Montserrat"/>
                <a:sym typeface="Montserrat"/>
              </a:rPr>
              <a:t>(4 unpaid out of 9)</a:t>
            </a:r>
            <a:endParaRPr sz="2299" b="1" i="0" u="none" strike="noStrike" cap="none">
              <a:solidFill>
                <a:srgbClr val="FFFFFF"/>
              </a:solidFill>
              <a:latin typeface="Montserrat"/>
              <a:ea typeface="Montserrat"/>
              <a:cs typeface="Montserrat"/>
              <a:sym typeface="Montserrat"/>
            </a:endParaRPr>
          </a:p>
        </p:txBody>
      </p:sp>
      <p:grpSp>
        <p:nvGrpSpPr>
          <p:cNvPr id="787" name="Google Shape;787;p29"/>
          <p:cNvGrpSpPr/>
          <p:nvPr/>
        </p:nvGrpSpPr>
        <p:grpSpPr>
          <a:xfrm>
            <a:off x="1191940" y="9699226"/>
            <a:ext cx="16230606" cy="487347"/>
            <a:chOff x="14461" y="-294197"/>
            <a:chExt cx="21640808" cy="649796"/>
          </a:xfrm>
        </p:grpSpPr>
        <p:sp>
          <p:nvSpPr>
            <p:cNvPr id="788" name="Google Shape;788;p29"/>
            <p:cNvSpPr/>
            <p:nvPr/>
          </p:nvSpPr>
          <p:spPr>
            <a:xfrm>
              <a:off x="14461" y="-294197"/>
              <a:ext cx="21640808" cy="649796"/>
            </a:xfrm>
            <a:prstGeom prst="rect">
              <a:avLst/>
            </a:prstGeom>
            <a:solidFill>
              <a:srgbClr val="1C212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9" name="Google Shape;789;p29"/>
            <p:cNvSpPr txBox="1"/>
            <p:nvPr/>
          </p:nvSpPr>
          <p:spPr>
            <a:xfrm>
              <a:off x="1270008" y="-189433"/>
              <a:ext cx="19644415" cy="440267"/>
            </a:xfrm>
            <a:prstGeom prst="rect">
              <a:avLst/>
            </a:prstGeom>
            <a:noFill/>
            <a:ln>
              <a:noFill/>
            </a:ln>
          </p:spPr>
          <p:txBody>
            <a:bodyPr spcFirstLastPara="1" wrap="square" lIns="0" tIns="0" rIns="0" bIns="0" anchor="t" anchorCtr="0">
              <a:spAutoFit/>
            </a:bodyPr>
            <a:lstStyle/>
            <a:p>
              <a:pPr marL="0" marR="0" lvl="0" indent="0" algn="just" rtl="0">
                <a:lnSpc>
                  <a:spcPct val="140000"/>
                </a:lnSpc>
                <a:spcBef>
                  <a:spcPts val="0"/>
                </a:spcBef>
                <a:spcAft>
                  <a:spcPts val="0"/>
                </a:spcAft>
                <a:buNone/>
              </a:pPr>
              <a:r>
                <a:rPr lang="en-GB" sz="2000" b="1">
                  <a:solidFill>
                    <a:srgbClr val="FDFDFD"/>
                  </a:solidFill>
                  <a:latin typeface="Montserrat"/>
                  <a:ea typeface="Montserrat"/>
                  <a:cs typeface="Montserrat"/>
                  <a:sym typeface="Montserrat"/>
                </a:rPr>
                <a:t>DTI- SME DEVELOPMENT DIVISION│NC│CARP│TPU│EDU</a:t>
              </a:r>
              <a:endParaRPr/>
            </a:p>
          </p:txBody>
        </p:sp>
      </p:grpSp>
      <p:sp>
        <p:nvSpPr>
          <p:cNvPr id="790" name="Google Shape;790;p29"/>
          <p:cNvSpPr txBox="1"/>
          <p:nvPr/>
        </p:nvSpPr>
        <p:spPr>
          <a:xfrm>
            <a:off x="3352800" y="1083772"/>
            <a:ext cx="12642154" cy="1102866"/>
          </a:xfrm>
          <a:prstGeom prst="rect">
            <a:avLst/>
          </a:prstGeom>
          <a:solidFill>
            <a:srgbClr val="C5D8F1"/>
          </a:solidFill>
          <a:ln>
            <a:noFill/>
          </a:ln>
        </p:spPr>
        <p:txBody>
          <a:bodyPr spcFirstLastPara="1" wrap="square" lIns="0" tIns="0" rIns="0" bIns="0" anchor="t" anchorCtr="0">
            <a:spAutoFit/>
          </a:bodyPr>
          <a:lstStyle/>
          <a:p>
            <a:pPr marL="0" marR="0" lvl="0" indent="0" algn="ctr" rtl="0">
              <a:lnSpc>
                <a:spcPct val="238222"/>
              </a:lnSpc>
              <a:spcBef>
                <a:spcPts val="0"/>
              </a:spcBef>
              <a:spcAft>
                <a:spcPts val="0"/>
              </a:spcAft>
              <a:buNone/>
            </a:pPr>
            <a:r>
              <a:rPr lang="en-GB" sz="3600" b="1">
                <a:solidFill>
                  <a:srgbClr val="1C2120"/>
                </a:solidFill>
                <a:latin typeface="Montserrat"/>
                <a:ea typeface="Montserrat"/>
                <a:cs typeface="Montserrat"/>
                <a:sym typeface="Montserrat"/>
              </a:rPr>
              <a:t>Issues and Concerns for the Huddle Sessions</a:t>
            </a:r>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2115</Words>
  <Application>Microsoft Office PowerPoint</Application>
  <PresentationFormat>Custom</PresentationFormat>
  <Paragraphs>311</Paragraphs>
  <Slides>30</Slides>
  <Notes>30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30</vt:i4>
      </vt:variant>
    </vt:vector>
  </HeadingPairs>
  <TitlesOfParts>
    <vt:vector size="36" baseType="lpstr">
      <vt:lpstr>Arial</vt:lpstr>
      <vt:lpstr>Montserrat</vt:lpstr>
      <vt:lpstr>Poppins</vt:lpstr>
      <vt:lpstr>Calibri</vt:lpstr>
      <vt:lpstr>Century Gothic</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Acer</dc:creator>
  <cp:lastModifiedBy>loida</cp:lastModifiedBy>
  <cp:revision>1</cp:revision>
  <dcterms:created xsi:type="dcterms:W3CDTF">2006-08-16T00:00:00Z</dcterms:created>
  <dcterms:modified xsi:type="dcterms:W3CDTF">2023-12-12T01:55:03Z</dcterms:modified>
</cp:coreProperties>
</file>